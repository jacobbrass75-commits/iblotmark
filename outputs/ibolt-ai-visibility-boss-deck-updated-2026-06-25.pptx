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ebc744a4b54b04" /><Relationship Type="http://schemas.openxmlformats.org/officeDocument/2006/relationships/extended-properties" Target="/docProps/app.xml" Id="Rbb0144f914a54bbc" /><Relationship Type="http://schemas.openxmlformats.org/officeDocument/2006/relationships/officeDocument" Target="/ppt/presentation.xml" Id="R09dd0ae31c704bfa" /></Relationships>
</file>

<file path=ppt/presentation.xml><?xml version="1.0" encoding="utf-8"?>
<p:presentation xmlns:p="http://schemas.openxmlformats.org/presentationml/2006/main">
  <p:sldMasterIdLst>
    <p:sldMasterId xmlns:r="http://schemas.openxmlformats.org/officeDocument/2006/relationships" id="2147483648" r:id="R9e95351ece3a48c6"/>
  </p:sldMasterIdLst>
  <p:notesMasterIdLst>
    <p:notesMasterId xmlns:r="http://schemas.openxmlformats.org/officeDocument/2006/relationships" r:id="Ra30558b33dac4508"/>
  </p:notesMasterIdLst>
  <p:sldIdLst>
    <p:sldId xmlns:r="http://schemas.openxmlformats.org/officeDocument/2006/relationships" id="256" r:id="R3320bcb6fc074755"/>
    <p:sldId xmlns:r="http://schemas.openxmlformats.org/officeDocument/2006/relationships" id="257" r:id="R4e261f68d78b4bcb"/>
    <p:sldId xmlns:r="http://schemas.openxmlformats.org/officeDocument/2006/relationships" id="258" r:id="R7cb657da84864166"/>
    <p:sldId xmlns:r="http://schemas.openxmlformats.org/officeDocument/2006/relationships" id="259" r:id="R42ae0ebe2d82473c"/>
    <p:sldId xmlns:r="http://schemas.openxmlformats.org/officeDocument/2006/relationships" id="260" r:id="Re6302208af0c4d3a"/>
    <p:sldId xmlns:r="http://schemas.openxmlformats.org/officeDocument/2006/relationships" id="261" r:id="R60f9736d65c04c78"/>
    <p:sldId xmlns:r="http://schemas.openxmlformats.org/officeDocument/2006/relationships" id="262" r:id="R8b4aaeeaea564af1"/>
    <p:sldId xmlns:r="http://schemas.openxmlformats.org/officeDocument/2006/relationships" id="263" r:id="R82ce357a7bd6403e"/>
    <p:sldId xmlns:r="http://schemas.openxmlformats.org/officeDocument/2006/relationships" id="264" r:id="Ra550d002ab5a4d8b"/>
    <p:sldId xmlns:r="http://schemas.openxmlformats.org/officeDocument/2006/relationships" id="265" r:id="R87934f0cc2714fe0"/>
    <p:sldId xmlns:r="http://schemas.openxmlformats.org/officeDocument/2006/relationships" id="266" r:id="R641714d7cabb4da0"/>
    <p:sldId xmlns:r="http://schemas.openxmlformats.org/officeDocument/2006/relationships" id="267" r:id="R71b40bbfa684411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4bf49c52ca4b40" /><Relationship Type="http://schemas.openxmlformats.org/officeDocument/2006/relationships/slideMaster" Target="/ppt/slideMasters/slideMaster1.xml" Id="R9e95351ece3a48c6" /><Relationship Type="http://schemas.openxmlformats.org/officeDocument/2006/relationships/notesMaster" Target="/ppt/notesMasters/notesMaster1.xml" Id="Ra30558b33dac4508" /><Relationship Type="http://schemas.openxmlformats.org/officeDocument/2006/relationships/presProps" Target="/ppt/presProps.xml" Id="Ref8157c27c104a63" /><Relationship Type="http://schemas.openxmlformats.org/officeDocument/2006/relationships/tableStyles" Target="/ppt/tableStyles.xml" Id="R1102d35746de4978" /><Relationship Type="http://schemas.openxmlformats.org/officeDocument/2006/relationships/slide" Target="/ppt/slides/slide1.xml" Id="R3320bcb6fc074755" /><Relationship Type="http://schemas.openxmlformats.org/officeDocument/2006/relationships/slide" Target="/ppt/slides/slide2.xml" Id="R4e261f68d78b4bcb" /><Relationship Type="http://schemas.openxmlformats.org/officeDocument/2006/relationships/slide" Target="/ppt/slides/slide3.xml" Id="R7cb657da84864166" /><Relationship Type="http://schemas.openxmlformats.org/officeDocument/2006/relationships/slide" Target="/ppt/slides/slide4.xml" Id="R42ae0ebe2d82473c" /><Relationship Type="http://schemas.openxmlformats.org/officeDocument/2006/relationships/slide" Target="/ppt/slides/slide5.xml" Id="Re6302208af0c4d3a" /><Relationship Type="http://schemas.openxmlformats.org/officeDocument/2006/relationships/slide" Target="/ppt/slides/slide6.xml" Id="R60f9736d65c04c78" /><Relationship Type="http://schemas.openxmlformats.org/officeDocument/2006/relationships/slide" Target="/ppt/slides/slide7.xml" Id="R8b4aaeeaea564af1" /><Relationship Type="http://schemas.openxmlformats.org/officeDocument/2006/relationships/slide" Target="/ppt/slides/slide8.xml" Id="R82ce357a7bd6403e" /><Relationship Type="http://schemas.openxmlformats.org/officeDocument/2006/relationships/slide" Target="/ppt/slides/slide9.xml" Id="Ra550d002ab5a4d8b" /><Relationship Type="http://schemas.openxmlformats.org/officeDocument/2006/relationships/slide" Target="/ppt/slides/slide10.xml" Id="R87934f0cc2714fe0" /><Relationship Type="http://schemas.openxmlformats.org/officeDocument/2006/relationships/slide" Target="/ppt/slides/slide11.xml" Id="R641714d7cabb4da0" /><Relationship Type="http://schemas.openxmlformats.org/officeDocument/2006/relationships/slide" Target="/ppt/slides/slide12.xml" Id="R71b40bbfa68441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6f9d13238f4b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c6bf52af184dc4" /><Relationship Type="http://schemas.openxmlformats.org/officeDocument/2006/relationships/notesMaster" Target="/ppt/notesMasters/notesMaster1.xml" Id="Rd64bddf019fb4e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2c9501ad0a4565" /><Relationship Type="http://schemas.openxmlformats.org/officeDocument/2006/relationships/notesMaster" Target="/ppt/notesMasters/notesMaster1.xml" Id="R95cc45b62dff4d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7ce3861150492e" /><Relationship Type="http://schemas.openxmlformats.org/officeDocument/2006/relationships/notesMaster" Target="/ppt/notesMasters/notesMaster1.xml" Id="R425ad6188a8946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89312e99b04675" /><Relationship Type="http://schemas.openxmlformats.org/officeDocument/2006/relationships/notesMaster" Target="/ppt/notesMasters/notesMaster1.xml" Id="Rc6f01c820ee64f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89fb70b1e14e1d" /><Relationship Type="http://schemas.openxmlformats.org/officeDocument/2006/relationships/notesMaster" Target="/ppt/notesMasters/notesMaster1.xml" Id="R977558b9c7b145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98e079ac71404f" /><Relationship Type="http://schemas.openxmlformats.org/officeDocument/2006/relationships/notesMaster" Target="/ppt/notesMasters/notesMaster1.xml" Id="R8ae83aca321345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3871a7f14d4b61" /><Relationship Type="http://schemas.openxmlformats.org/officeDocument/2006/relationships/notesMaster" Target="/ppt/notesMasters/notesMaster1.xml" Id="Rad105bc80a1c48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f0736bb2264c82" /><Relationship Type="http://schemas.openxmlformats.org/officeDocument/2006/relationships/notesMaster" Target="/ppt/notesMasters/notesMaster1.xml" Id="Rdfe986bfb98a4c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e34d5f8e294810" /><Relationship Type="http://schemas.openxmlformats.org/officeDocument/2006/relationships/notesMaster" Target="/ppt/notesMasters/notesMaster1.xml" Id="R9274b04ef45747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a93d2b39e04225" /><Relationship Type="http://schemas.openxmlformats.org/officeDocument/2006/relationships/notesMaster" Target="/ppt/notesMasters/notesMaster1.xml" Id="Rf222d019b83245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28c6a623644d10" /><Relationship Type="http://schemas.openxmlformats.org/officeDocument/2006/relationships/notesMaster" Target="/ppt/notesMasters/notesMaster1.xml" Id="Rfd0b16bd2fff42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d623c7ff09401e" /><Relationship Type="http://schemas.openxmlformats.org/officeDocument/2006/relationships/notesMaster" Target="/ppt/notesMasters/notesMaster1.xml" Id="Re919bd37e2624c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8218f2761143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4510c58f04431f" /><Relationship Type="http://schemas.openxmlformats.org/officeDocument/2006/relationships/slideLayout" Target="/ppt/slideLayouts/slideLayout1.xml" Id="R0fafddcd545541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fddcd545541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891fc394384eb6" /><Relationship Type="http://schemas.openxmlformats.org/officeDocument/2006/relationships/notesSlide" Target="/ppt/notesSlides/notesSlide1.xml" Id="Rd5df8310acfb40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b4de6db01243da" /><Relationship Type="http://schemas.openxmlformats.org/officeDocument/2006/relationships/notesSlide" Target="/ppt/notesSlides/notesSlide2.xml" Id="R1813ac9ef0fc44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c63f72a9ca4977" /><Relationship Type="http://schemas.openxmlformats.org/officeDocument/2006/relationships/notesSlide" Target="/ppt/notesSlides/notesSlide3.xml" Id="R39f0539184534b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ce67b1ddf449d3" /><Relationship Type="http://schemas.openxmlformats.org/officeDocument/2006/relationships/notesSlide" Target="/ppt/notesSlides/notesSlide4.xml" Id="R887b9e28f5a54f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41b9c429e34bbc" /><Relationship Type="http://schemas.openxmlformats.org/officeDocument/2006/relationships/notesSlide" Target="/ppt/notesSlides/notesSlide5.xml" Id="R647c2241fb6948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1f5110ac70459d" /><Relationship Type="http://schemas.openxmlformats.org/officeDocument/2006/relationships/notesSlide" Target="/ppt/notesSlides/notesSlide6.xml" Id="R3f6d3fe201be40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f43e46755a4b74" /><Relationship Type="http://schemas.openxmlformats.org/officeDocument/2006/relationships/notesSlide" Target="/ppt/notesSlides/notesSlide7.xml" Id="Rcfa7c4f5225c4a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703a455b3d478a" /><Relationship Type="http://schemas.openxmlformats.org/officeDocument/2006/relationships/notesSlide" Target="/ppt/notesSlides/notesSlide8.xml" Id="R8245aa20b3c24e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776057290c4758" /><Relationship Type="http://schemas.openxmlformats.org/officeDocument/2006/relationships/notesSlide" Target="/ppt/notesSlides/notesSlide9.xml" Id="Raf3fd8a581114f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3fbdea2cb5441c" /><Relationship Type="http://schemas.openxmlformats.org/officeDocument/2006/relationships/notesSlide" Target="/ppt/notesSlides/notesSlide10.xml" Id="Rd787b0b9faba41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b43e11555b46b8" /><Relationship Type="http://schemas.openxmlformats.org/officeDocument/2006/relationships/notesSlide" Target="/ppt/notesSlides/notesSlide11.xml" Id="R66b07ace959d47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4dce9aff0246a0" /><Relationship Type="http://schemas.openxmlformats.org/officeDocument/2006/relationships/notesSlide" Target="/ppt/notesSlides/notesSlide12.xml" Id="R55503cf5ebe0410d"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2D2724-8078-4551-82D3-D32681BEFAD4}"/>
              </a:ext>
            </a:extLst>
          </p:cNvPr>
          <p:cNvSpPr>
            <a:spLocks xmlns:a="http://schemas.openxmlformats.org/drawingml/2006/main" noGrp="1"/>
          </p:cNvSpPr>
          <p:nvPr/>
        </p:nvSpPr>
        <p:spPr>
          <a:xfrm xmlns:a="http://schemas.openxmlformats.org/drawingml/2006/main">
            <a:off x="609600" y="533400"/>
            <a:ext cx="609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11827"/>
                </a:solidFill>
              </a:defRPr>
            </a:pPr>
            <a:r>
              <a:rPr sz="3600" b="1">
                <a:solidFill>
                  <a:srgbClr val="111827"/>
                </a:solidFill>
              </a:rPr>
              <a:t>iBOLT AI Visibility</a:t>
            </a:r>
          </a:p>
        </p:txBody>
      </p:sp>
      <p:sp>
        <p:nvSpPr>
          <p:cNvPr id="2" name="">
            <a:extLst xmlns:a="http://schemas.openxmlformats.org/drawingml/2006/main">
              <a:ext uri="{FF2B5EF4-FFF2-40B4-BE49-F238E27FC236}">
                <a16:creationId xmlns:a16="http://schemas.microsoft.com/office/drawing/2014/main" id="{D22E2CE7-EFC3-4C2D-B7D8-7A03FEAC4E7B}"/>
              </a:ext>
            </a:extLst>
          </p:cNvPr>
          <p:cNvSpPr>
            <a:spLocks xmlns:a="http://schemas.openxmlformats.org/drawingml/2006/main" noGrp="1"/>
          </p:cNvSpPr>
          <p:nvPr/>
        </p:nvSpPr>
        <p:spPr>
          <a:xfrm xmlns:a="http://schemas.openxmlformats.org/drawingml/2006/main">
            <a:off x="647700" y="12573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Where we are now, where competitors get cited, and the next refresh/citation sprint.</a:t>
            </a:r>
          </a:p>
        </p:txBody>
      </p:sp>
      <p:sp>
        <p:nvSpPr>
          <p:cNvPr id="3" name="">
            <a:extLst xmlns:a="http://schemas.openxmlformats.org/drawingml/2006/main">
              <a:ext uri="{FF2B5EF4-FFF2-40B4-BE49-F238E27FC236}">
                <a16:creationId xmlns:a16="http://schemas.microsoft.com/office/drawing/2014/main" id="{74E636A6-CAB3-4373-922A-83E99142DD88}"/>
              </a:ext>
            </a:extLst>
          </p:cNvPr>
          <p:cNvSpPr>
            <a:spLocks xmlns:a="http://schemas.openxmlformats.org/drawingml/2006/main" noGrp="1"/>
          </p:cNvSpPr>
          <p:nvPr/>
        </p:nvSpPr>
        <p:spPr>
          <a:xfrm xmlns:a="http://schemas.openxmlformats.org/drawingml/2006/main">
            <a:off x="8096250" y="457200"/>
            <a:ext cx="3143250" cy="1066800"/>
          </a:xfrm>
          <a:prstGeom xmlns:a="http://schemas.openxmlformats.org/drawingml/2006/main" prst="roundRect">
            <a:avLst>
              <a:gd name="adj" fmla="val 7143"/>
            </a:avLst>
          </a:prstGeom>
          <a:solidFill xmlns:a="http://schemas.openxmlformats.org/drawingml/2006/main">
            <a:srgbClr val="0F172A"/>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0F814C8A-2008-4098-94CD-C99CB239378E}"/>
              </a:ext>
            </a:extLst>
          </p:cNvPr>
          <p:cNvSpPr>
            <a:spLocks xmlns:a="http://schemas.openxmlformats.org/drawingml/2006/main" noGrp="1"/>
          </p:cNvSpPr>
          <p:nvPr/>
        </p:nvSpPr>
        <p:spPr>
          <a:xfrm xmlns:a="http://schemas.openxmlformats.org/drawingml/2006/main">
            <a:off x="8362950" y="6858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FFFFF"/>
                </a:solidFill>
              </a:defRPr>
            </a:pPr>
            <a:r>
              <a:rPr sz="1800" b="1">
                <a:solidFill>
                  <a:srgbClr val="FFFFFF"/>
                </a:solidFill>
              </a:rPr>
              <a:t>Boss-ready update</a:t>
            </a:r>
          </a:p>
        </p:txBody>
      </p:sp>
      <p:sp>
        <p:nvSpPr>
          <p:cNvPr id="5" name="">
            <a:extLst xmlns:a="http://schemas.openxmlformats.org/drawingml/2006/main">
              <a:ext uri="{FF2B5EF4-FFF2-40B4-BE49-F238E27FC236}">
                <a16:creationId xmlns:a16="http://schemas.microsoft.com/office/drawing/2014/main" id="{5171C3CE-4A3E-468B-BB27-9443DBDF180C}"/>
              </a:ext>
            </a:extLst>
          </p:cNvPr>
          <p:cNvSpPr>
            <a:spLocks xmlns:a="http://schemas.openxmlformats.org/drawingml/2006/main" noGrp="1"/>
          </p:cNvSpPr>
          <p:nvPr/>
        </p:nvSpPr>
        <p:spPr>
          <a:xfrm xmlns:a="http://schemas.openxmlformats.org/drawingml/2006/main">
            <a:off x="8362950" y="10668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CBD5E1"/>
                </a:solidFill>
              </a:defRPr>
            </a:pPr>
            <a:r>
              <a:rPr sz="900" b="0">
                <a:solidFill>
                  <a:srgbClr val="CBD5E1"/>
                </a:solidFill>
              </a:rPr>
              <a:t>Benchmark + citations + content baseline</a:t>
            </a:r>
          </a:p>
        </p:txBody>
      </p:sp>
      <p:sp>
        <p:nvSpPr>
          <p:cNvPr id="6" name="">
            <a:extLst xmlns:a="http://schemas.openxmlformats.org/drawingml/2006/main">
              <a:ext uri="{FF2B5EF4-FFF2-40B4-BE49-F238E27FC236}">
                <a16:creationId xmlns:a16="http://schemas.microsoft.com/office/drawing/2014/main" id="{0FF9603F-D400-4CF7-9CF3-0ED767AA66EA}"/>
              </a:ext>
            </a:extLst>
          </p:cNvPr>
          <p:cNvSpPr>
            <a:spLocks xmlns:a="http://schemas.openxmlformats.org/drawingml/2006/main" noGrp="1"/>
          </p:cNvSpPr>
          <p:nvPr/>
        </p:nvSpPr>
        <p:spPr>
          <a:xfrm xmlns:a="http://schemas.openxmlformats.org/drawingml/2006/main">
            <a:off x="609600" y="2362200"/>
            <a:ext cx="23812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E6B2846-6AC2-4C08-A407-11825B1AE5E7}"/>
              </a:ext>
            </a:extLst>
          </p:cNvPr>
          <p:cNvSpPr>
            <a:spLocks xmlns:a="http://schemas.openxmlformats.org/drawingml/2006/main" noGrp="1"/>
          </p:cNvSpPr>
          <p:nvPr/>
        </p:nvSpPr>
        <p:spPr>
          <a:xfrm xmlns:a="http://schemas.openxmlformats.org/drawingml/2006/main">
            <a:off x="609600" y="2362200"/>
            <a:ext cx="2381250" cy="57150"/>
          </a:xfrm>
          <a:prstGeom xmlns:a="http://schemas.openxmlformats.org/drawingml/2006/main" prst="rect">
            <a:avLst/>
          </a:prstGeom>
          <a:solidFill xmlns:a="http://schemas.openxmlformats.org/drawingml/2006/main">
            <a:srgbClr val="05966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58CB7A-95F5-4484-995C-C0669A2424BF}"/>
              </a:ext>
            </a:extLst>
          </p:cNvPr>
          <p:cNvSpPr>
            <a:spLocks xmlns:a="http://schemas.openxmlformats.org/drawingml/2006/main" noGrp="1"/>
          </p:cNvSpPr>
          <p:nvPr/>
        </p:nvSpPr>
        <p:spPr>
          <a:xfrm xmlns:a="http://schemas.openxmlformats.org/drawingml/2006/main">
            <a:off x="819150" y="26098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59669"/>
                </a:solidFill>
              </a:defRPr>
            </a:pPr>
            <a:r>
              <a:rPr sz="2550" b="1">
                <a:solidFill>
                  <a:srgbClr val="059669"/>
                </a:solidFill>
              </a:rPr>
              <a:t>40%</a:t>
            </a:r>
          </a:p>
        </p:txBody>
      </p:sp>
      <p:sp>
        <p:nvSpPr>
          <p:cNvPr id="9" name="">
            <a:extLst xmlns:a="http://schemas.openxmlformats.org/drawingml/2006/main">
              <a:ext uri="{FF2B5EF4-FFF2-40B4-BE49-F238E27FC236}">
                <a16:creationId xmlns:a16="http://schemas.microsoft.com/office/drawing/2014/main" id="{B3248B67-FD33-460F-A36B-7A98AC4B8843}"/>
              </a:ext>
            </a:extLst>
          </p:cNvPr>
          <p:cNvSpPr>
            <a:spLocks xmlns:a="http://schemas.openxmlformats.org/drawingml/2006/main" noGrp="1"/>
          </p:cNvSpPr>
          <p:nvPr/>
        </p:nvSpPr>
        <p:spPr>
          <a:xfrm xmlns:a="http://schemas.openxmlformats.org/drawingml/2006/main">
            <a:off x="819150" y="3067050"/>
            <a:ext cx="1962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AI mention rate</a:t>
            </a:r>
          </a:p>
        </p:txBody>
      </p:sp>
      <p:sp>
        <p:nvSpPr>
          <p:cNvPr id="10" name="">
            <a:extLst xmlns:a="http://schemas.openxmlformats.org/drawingml/2006/main">
              <a:ext uri="{FF2B5EF4-FFF2-40B4-BE49-F238E27FC236}">
                <a16:creationId xmlns:a16="http://schemas.microsoft.com/office/drawing/2014/main" id="{B35FE06D-A169-44EF-90EA-A5D5058D08BB}"/>
              </a:ext>
            </a:extLst>
          </p:cNvPr>
          <p:cNvSpPr>
            <a:spLocks xmlns:a="http://schemas.openxmlformats.org/drawingml/2006/main" noGrp="1"/>
          </p:cNvSpPr>
          <p:nvPr/>
        </p:nvSpPr>
        <p:spPr>
          <a:xfrm xmlns:a="http://schemas.openxmlformats.org/drawingml/2006/main">
            <a:off x="819150" y="3295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Expanded benchmark baseline</a:t>
            </a:r>
          </a:p>
        </p:txBody>
      </p:sp>
      <p:sp>
        <p:nvSpPr>
          <p:cNvPr id="11" name="">
            <a:extLst xmlns:a="http://schemas.openxmlformats.org/drawingml/2006/main">
              <a:ext uri="{FF2B5EF4-FFF2-40B4-BE49-F238E27FC236}">
                <a16:creationId xmlns:a16="http://schemas.microsoft.com/office/drawing/2014/main" id="{CCCCB1A0-014B-4E15-AFCA-A181248DA39B}"/>
              </a:ext>
            </a:extLst>
          </p:cNvPr>
          <p:cNvSpPr>
            <a:spLocks xmlns:a="http://schemas.openxmlformats.org/drawingml/2006/main" noGrp="1"/>
          </p:cNvSpPr>
          <p:nvPr/>
        </p:nvSpPr>
        <p:spPr>
          <a:xfrm xmlns:a="http://schemas.openxmlformats.org/drawingml/2006/main">
            <a:off x="3276600" y="2362200"/>
            <a:ext cx="23812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5905DB84-CB3F-4DF4-8ED8-1063C97391D5}"/>
              </a:ext>
            </a:extLst>
          </p:cNvPr>
          <p:cNvSpPr>
            <a:spLocks xmlns:a="http://schemas.openxmlformats.org/drawingml/2006/main" noGrp="1"/>
          </p:cNvSpPr>
          <p:nvPr/>
        </p:nvSpPr>
        <p:spPr>
          <a:xfrm xmlns:a="http://schemas.openxmlformats.org/drawingml/2006/main">
            <a:off x="3276600" y="2362200"/>
            <a:ext cx="2381250"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911F50-715C-436C-A355-25CF860BEBC2}"/>
              </a:ext>
            </a:extLst>
          </p:cNvPr>
          <p:cNvSpPr>
            <a:spLocks xmlns:a="http://schemas.openxmlformats.org/drawingml/2006/main" noGrp="1"/>
          </p:cNvSpPr>
          <p:nvPr/>
        </p:nvSpPr>
        <p:spPr>
          <a:xfrm xmlns:a="http://schemas.openxmlformats.org/drawingml/2006/main">
            <a:off x="3486150" y="26098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2563EB"/>
                </a:solidFill>
              </a:defRPr>
            </a:pPr>
            <a:r>
              <a:rPr sz="2550" b="1">
                <a:solidFill>
                  <a:srgbClr val="2563EB"/>
                </a:solidFill>
              </a:rPr>
              <a:t>29%</a:t>
            </a:r>
          </a:p>
        </p:txBody>
      </p:sp>
      <p:sp>
        <p:nvSpPr>
          <p:cNvPr id="14" name="">
            <a:extLst xmlns:a="http://schemas.openxmlformats.org/drawingml/2006/main">
              <a:ext uri="{FF2B5EF4-FFF2-40B4-BE49-F238E27FC236}">
                <a16:creationId xmlns:a16="http://schemas.microsoft.com/office/drawing/2014/main" id="{A2B569C3-D7FB-4AA4-AC6D-665C595A1829}"/>
              </a:ext>
            </a:extLst>
          </p:cNvPr>
          <p:cNvSpPr>
            <a:spLocks xmlns:a="http://schemas.openxmlformats.org/drawingml/2006/main" noGrp="1"/>
          </p:cNvSpPr>
          <p:nvPr/>
        </p:nvSpPr>
        <p:spPr>
          <a:xfrm xmlns:a="http://schemas.openxmlformats.org/drawingml/2006/main">
            <a:off x="3486150" y="3067050"/>
            <a:ext cx="1962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Top-3 recommendation</a:t>
            </a:r>
          </a:p>
        </p:txBody>
      </p:sp>
      <p:sp>
        <p:nvSpPr>
          <p:cNvPr id="15" name="">
            <a:extLst xmlns:a="http://schemas.openxmlformats.org/drawingml/2006/main">
              <a:ext uri="{FF2B5EF4-FFF2-40B4-BE49-F238E27FC236}">
                <a16:creationId xmlns:a16="http://schemas.microsoft.com/office/drawing/2014/main" id="{E446D5B9-AA41-446F-BA6B-C1DEC348A827}"/>
              </a:ext>
            </a:extLst>
          </p:cNvPr>
          <p:cNvSpPr>
            <a:spLocks xmlns:a="http://schemas.openxmlformats.org/drawingml/2006/main" noGrp="1"/>
          </p:cNvSpPr>
          <p:nvPr/>
        </p:nvSpPr>
        <p:spPr>
          <a:xfrm xmlns:a="http://schemas.openxmlformats.org/drawingml/2006/main">
            <a:off x="3486150" y="3295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Still room to win buyer prompts</a:t>
            </a:r>
          </a:p>
        </p:txBody>
      </p:sp>
      <p:sp>
        <p:nvSpPr>
          <p:cNvPr id="16" name="">
            <a:extLst xmlns:a="http://schemas.openxmlformats.org/drawingml/2006/main">
              <a:ext uri="{FF2B5EF4-FFF2-40B4-BE49-F238E27FC236}">
                <a16:creationId xmlns:a16="http://schemas.microsoft.com/office/drawing/2014/main" id="{1A0543B5-2172-4164-A72B-C1E07D3DE9F1}"/>
              </a:ext>
            </a:extLst>
          </p:cNvPr>
          <p:cNvSpPr>
            <a:spLocks xmlns:a="http://schemas.openxmlformats.org/drawingml/2006/main" noGrp="1"/>
          </p:cNvSpPr>
          <p:nvPr/>
        </p:nvSpPr>
        <p:spPr>
          <a:xfrm xmlns:a="http://schemas.openxmlformats.org/drawingml/2006/main">
            <a:off x="5943600" y="2362200"/>
            <a:ext cx="23812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04E181F-AD02-4D9A-A464-E0E290AF8027}"/>
              </a:ext>
            </a:extLst>
          </p:cNvPr>
          <p:cNvSpPr>
            <a:spLocks xmlns:a="http://schemas.openxmlformats.org/drawingml/2006/main" noGrp="1"/>
          </p:cNvSpPr>
          <p:nvPr/>
        </p:nvSpPr>
        <p:spPr>
          <a:xfrm xmlns:a="http://schemas.openxmlformats.org/drawingml/2006/main">
            <a:off x="5943600" y="2362200"/>
            <a:ext cx="2381250" cy="57150"/>
          </a:xfrm>
          <a:prstGeom xmlns:a="http://schemas.openxmlformats.org/drawingml/2006/main" prst="rect">
            <a:avLst/>
          </a:prstGeom>
          <a:solidFill xmlns:a="http://schemas.openxmlformats.org/drawingml/2006/main">
            <a:srgbClr val="DC262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7A3006F-2A91-4CAF-8290-6A4DD7B754D5}"/>
              </a:ext>
            </a:extLst>
          </p:cNvPr>
          <p:cNvSpPr>
            <a:spLocks xmlns:a="http://schemas.openxmlformats.org/drawingml/2006/main" noGrp="1"/>
          </p:cNvSpPr>
          <p:nvPr/>
        </p:nvSpPr>
        <p:spPr>
          <a:xfrm xmlns:a="http://schemas.openxmlformats.org/drawingml/2006/main">
            <a:off x="6153150" y="26098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DC2626"/>
                </a:solidFill>
              </a:defRPr>
            </a:pPr>
            <a:r>
              <a:rPr sz="2550" b="1">
                <a:solidFill>
                  <a:srgbClr val="DC2626"/>
                </a:solidFill>
              </a:rPr>
              <a:t>0%</a:t>
            </a:r>
          </a:p>
        </p:txBody>
      </p:sp>
      <p:sp>
        <p:nvSpPr>
          <p:cNvPr id="19" name="">
            <a:extLst xmlns:a="http://schemas.openxmlformats.org/drawingml/2006/main">
              <a:ext uri="{FF2B5EF4-FFF2-40B4-BE49-F238E27FC236}">
                <a16:creationId xmlns:a16="http://schemas.microsoft.com/office/drawing/2014/main" id="{2038377E-B466-46EE-91DB-964B381F9378}"/>
              </a:ext>
            </a:extLst>
          </p:cNvPr>
          <p:cNvSpPr>
            <a:spLocks xmlns:a="http://schemas.openxmlformats.org/drawingml/2006/main" noGrp="1"/>
          </p:cNvSpPr>
          <p:nvPr/>
        </p:nvSpPr>
        <p:spPr>
          <a:xfrm xmlns:a="http://schemas.openxmlformats.org/drawingml/2006/main">
            <a:off x="6153150" y="3067050"/>
            <a:ext cx="1962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Citation rate</a:t>
            </a:r>
          </a:p>
        </p:txBody>
      </p:sp>
      <p:sp>
        <p:nvSpPr>
          <p:cNvPr id="20" name="">
            <a:extLst xmlns:a="http://schemas.openxmlformats.org/drawingml/2006/main">
              <a:ext uri="{FF2B5EF4-FFF2-40B4-BE49-F238E27FC236}">
                <a16:creationId xmlns:a16="http://schemas.microsoft.com/office/drawing/2014/main" id="{A2CFFAEB-8662-41B6-9E78-E2394B80455C}"/>
              </a:ext>
            </a:extLst>
          </p:cNvPr>
          <p:cNvSpPr>
            <a:spLocks xmlns:a="http://schemas.openxmlformats.org/drawingml/2006/main" noGrp="1"/>
          </p:cNvSpPr>
          <p:nvPr/>
        </p:nvSpPr>
        <p:spPr>
          <a:xfrm xmlns:a="http://schemas.openxmlformats.org/drawingml/2006/main">
            <a:off x="6153150" y="3295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This is the next unlock</a:t>
            </a:r>
          </a:p>
        </p:txBody>
      </p:sp>
      <p:sp>
        <p:nvSpPr>
          <p:cNvPr id="21" name="">
            <a:extLst xmlns:a="http://schemas.openxmlformats.org/drawingml/2006/main">
              <a:ext uri="{FF2B5EF4-FFF2-40B4-BE49-F238E27FC236}">
                <a16:creationId xmlns:a16="http://schemas.microsoft.com/office/drawing/2014/main" id="{7909393E-0CD1-4810-9474-350294688B03}"/>
              </a:ext>
            </a:extLst>
          </p:cNvPr>
          <p:cNvSpPr>
            <a:spLocks xmlns:a="http://schemas.openxmlformats.org/drawingml/2006/main" noGrp="1"/>
          </p:cNvSpPr>
          <p:nvPr/>
        </p:nvSpPr>
        <p:spPr>
          <a:xfrm xmlns:a="http://schemas.openxmlformats.org/drawingml/2006/main">
            <a:off x="8610600" y="2362200"/>
            <a:ext cx="23812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1595F66-31ED-4061-A178-16427D3DF556}"/>
              </a:ext>
            </a:extLst>
          </p:cNvPr>
          <p:cNvSpPr>
            <a:spLocks xmlns:a="http://schemas.openxmlformats.org/drawingml/2006/main" noGrp="1"/>
          </p:cNvSpPr>
          <p:nvPr/>
        </p:nvSpPr>
        <p:spPr>
          <a:xfrm xmlns:a="http://schemas.openxmlformats.org/drawingml/2006/main">
            <a:off x="8610600" y="2362200"/>
            <a:ext cx="2381250" cy="5715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2A87CF1-AEDD-4E34-A495-7867510E3D9E}"/>
              </a:ext>
            </a:extLst>
          </p:cNvPr>
          <p:cNvSpPr>
            <a:spLocks xmlns:a="http://schemas.openxmlformats.org/drawingml/2006/main" noGrp="1"/>
          </p:cNvSpPr>
          <p:nvPr/>
        </p:nvSpPr>
        <p:spPr>
          <a:xfrm xmlns:a="http://schemas.openxmlformats.org/drawingml/2006/main">
            <a:off x="8820150" y="26098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D97706"/>
                </a:solidFill>
              </a:defRPr>
            </a:pPr>
            <a:r>
              <a:rPr sz="2550" b="1">
                <a:solidFill>
                  <a:srgbClr val="D97706"/>
                </a:solidFill>
              </a:rPr>
              <a:t>211</a:t>
            </a:r>
          </a:p>
        </p:txBody>
      </p:sp>
      <p:sp>
        <p:nvSpPr>
          <p:cNvPr id="24" name="">
            <a:extLst xmlns:a="http://schemas.openxmlformats.org/drawingml/2006/main">
              <a:ext uri="{FF2B5EF4-FFF2-40B4-BE49-F238E27FC236}">
                <a16:creationId xmlns:a16="http://schemas.microsoft.com/office/drawing/2014/main" id="{51847DA7-4654-42A2-A7C3-30757AB9C2E2}"/>
              </a:ext>
            </a:extLst>
          </p:cNvPr>
          <p:cNvSpPr>
            <a:spLocks xmlns:a="http://schemas.openxmlformats.org/drawingml/2006/main" noGrp="1"/>
          </p:cNvSpPr>
          <p:nvPr/>
        </p:nvSpPr>
        <p:spPr>
          <a:xfrm xmlns:a="http://schemas.openxmlformats.org/drawingml/2006/main">
            <a:off x="8820150" y="3067050"/>
            <a:ext cx="1962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Indexed content base</a:t>
            </a:r>
          </a:p>
        </p:txBody>
      </p:sp>
      <p:sp>
        <p:nvSpPr>
          <p:cNvPr id="25" name="">
            <a:extLst xmlns:a="http://schemas.openxmlformats.org/drawingml/2006/main">
              <a:ext uri="{FF2B5EF4-FFF2-40B4-BE49-F238E27FC236}">
                <a16:creationId xmlns:a16="http://schemas.microsoft.com/office/drawing/2014/main" id="{00907226-7B92-44B6-8A6D-E75DEBB3207B}"/>
              </a:ext>
            </a:extLst>
          </p:cNvPr>
          <p:cNvSpPr>
            <a:spLocks xmlns:a="http://schemas.openxmlformats.org/drawingml/2006/main" noGrp="1"/>
          </p:cNvSpPr>
          <p:nvPr/>
        </p:nvSpPr>
        <p:spPr>
          <a:xfrm xmlns:a="http://schemas.openxmlformats.org/drawingml/2006/main">
            <a:off x="8820150" y="3295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Shopify articles in inventory</a:t>
            </a:r>
          </a:p>
        </p:txBody>
      </p:sp>
      <p:sp>
        <p:nvSpPr>
          <p:cNvPr id="26" name="">
            <a:extLst xmlns:a="http://schemas.openxmlformats.org/drawingml/2006/main">
              <a:ext uri="{FF2B5EF4-FFF2-40B4-BE49-F238E27FC236}">
                <a16:creationId xmlns:a16="http://schemas.microsoft.com/office/drawing/2014/main" id="{5D2498C1-3244-4B16-8100-80A243C8F3C3}"/>
              </a:ext>
            </a:extLst>
          </p:cNvPr>
          <p:cNvSpPr>
            <a:spLocks xmlns:a="http://schemas.openxmlformats.org/drawingml/2006/main" noGrp="1"/>
          </p:cNvSpPr>
          <p:nvPr/>
        </p:nvSpPr>
        <p:spPr>
          <a:xfrm xmlns:a="http://schemas.openxmlformats.org/drawingml/2006/main">
            <a:off x="609600" y="4305300"/>
            <a:ext cx="10382250" cy="1123950"/>
          </a:xfrm>
          <a:prstGeom xmlns:a="http://schemas.openxmlformats.org/drawingml/2006/main" prst="roundRect">
            <a:avLst>
              <a:gd name="adj" fmla="val 6780"/>
            </a:avLst>
          </a:prstGeom>
          <a:solidFill xmlns:a="http://schemas.openxmlformats.org/drawingml/2006/main">
            <a:srgbClr val="EFF6FF"/>
          </a:solidFill>
          <a:ln xmlns:a="http://schemas.openxmlformats.org/drawingml/2006/main" w="9525">
            <a:solidFill>
              <a:srgbClr val="BFDBFE"/>
            </a:solidFill>
            <a:prstDash val="solid"/>
          </a:ln>
        </p:spPr>
      </p:sp>
      <p:sp>
        <p:nvSpPr>
          <p:cNvPr id="27" name="">
            <a:extLst xmlns:a="http://schemas.openxmlformats.org/drawingml/2006/main">
              <a:ext uri="{FF2B5EF4-FFF2-40B4-BE49-F238E27FC236}">
                <a16:creationId xmlns:a16="http://schemas.microsoft.com/office/drawing/2014/main" id="{EA72D842-98D4-4705-920B-C7DA6A41B63D}"/>
              </a:ext>
            </a:extLst>
          </p:cNvPr>
          <p:cNvSpPr>
            <a:spLocks xmlns:a="http://schemas.openxmlformats.org/drawingml/2006/main" noGrp="1"/>
          </p:cNvSpPr>
          <p:nvPr/>
        </p:nvSpPr>
        <p:spPr>
          <a:xfrm xmlns:a="http://schemas.openxmlformats.org/drawingml/2006/main">
            <a:off x="87630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The takeaway</a:t>
            </a:r>
          </a:p>
        </p:txBody>
      </p:sp>
      <p:sp>
        <p:nvSpPr>
          <p:cNvPr id="28" name="">
            <a:extLst xmlns:a="http://schemas.openxmlformats.org/drawingml/2006/main">
              <a:ext uri="{FF2B5EF4-FFF2-40B4-BE49-F238E27FC236}">
                <a16:creationId xmlns:a16="http://schemas.microsoft.com/office/drawing/2014/main" id="{67FA30CC-BD39-4469-AED1-3A109E886E4E}"/>
              </a:ext>
            </a:extLst>
          </p:cNvPr>
          <p:cNvSpPr>
            <a:spLocks xmlns:a="http://schemas.openxmlformats.org/drawingml/2006/main" noGrp="1"/>
          </p:cNvSpPr>
          <p:nvPr/>
        </p:nvSpPr>
        <p:spPr>
          <a:xfrm xmlns:a="http://schemas.openxmlformats.org/drawingml/2006/main">
            <a:off x="2476500" y="44958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11827"/>
                </a:solidFill>
              </a:defRPr>
            </a:pPr>
            <a:r>
              <a:rPr sz="1350" b="0">
                <a:solidFill>
                  <a:srgbClr val="111827"/>
                </a:solidFill>
              </a:rPr>
              <a:t>The blog system has moved iBOLT from barely visible to regularly mentioned. The next level is not just more posts. It is source authority: third-party citations, stronger solution hubs, schema, and a recurring unanswered-question scanner.</a:t>
            </a:r>
          </a:p>
        </p:txBody>
      </p:sp>
      <p:sp>
        <p:nvSpPr>
          <p:cNvPr id="29" name="">
            <a:extLst xmlns:a="http://schemas.openxmlformats.org/drawingml/2006/main">
              <a:ext uri="{FF2B5EF4-FFF2-40B4-BE49-F238E27FC236}">
                <a16:creationId xmlns:a16="http://schemas.microsoft.com/office/drawing/2014/main" id="{DFF78A0A-9672-4663-BC97-C100A4C87AA2}"/>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Internal benchmark + Shopify inventory snapshot; analytics metrics pending Shopify report access.</a:t>
            </a:r>
          </a:p>
        </p:txBody>
      </p:sp>
      <p:sp>
        <p:nvSpPr>
          <p:cNvPr id="30" name="">
            <a:extLst xmlns:a="http://schemas.openxmlformats.org/drawingml/2006/main">
              <a:ext uri="{FF2B5EF4-FFF2-40B4-BE49-F238E27FC236}">
                <a16:creationId xmlns:a16="http://schemas.microsoft.com/office/drawing/2014/main" id="{DAF36599-480D-49DB-8315-CF265EE0AB24}"/>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29673419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62CBB5-60DF-4C35-9A23-2D96666211D4}"/>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3ED4D7CE-308F-42CC-A02A-BAAC1794169B}"/>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What changed over time</a:t>
            </a:r>
          </a:p>
        </p:txBody>
      </p:sp>
      <p:sp>
        <p:nvSpPr>
          <p:cNvPr id="3" name="">
            <a:extLst xmlns:a="http://schemas.openxmlformats.org/drawingml/2006/main">
              <a:ext uri="{FF2B5EF4-FFF2-40B4-BE49-F238E27FC236}">
                <a16:creationId xmlns:a16="http://schemas.microsoft.com/office/drawing/2014/main" id="{1C0EC5AB-B140-4E61-B5AB-B3776D9A8818}"/>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F8D276-D63D-4266-8214-F993B89C7181}"/>
              </a:ext>
            </a:extLst>
          </p:cNvPr>
          <p:cNvSpPr>
            <a:spLocks xmlns:a="http://schemas.openxmlformats.org/drawingml/2006/main" noGrp="1"/>
          </p:cNvSpPr>
          <p:nvPr/>
        </p:nvSpPr>
        <p:spPr>
          <a:xfrm xmlns:a="http://schemas.openxmlformats.org/drawingml/2006/main">
            <a:off x="609600" y="15049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Benchmark movement shows that the content engine is working. The weak point is citations, not basic visibility.</a:t>
            </a:r>
          </a:p>
        </p:txBody>
      </p:sp>
      <p:sp>
        <p:nvSpPr>
          <p:cNvPr id="5" name="">
            <a:extLst xmlns:a="http://schemas.openxmlformats.org/drawingml/2006/main">
              <a:ext uri="{FF2B5EF4-FFF2-40B4-BE49-F238E27FC236}">
                <a16:creationId xmlns:a16="http://schemas.microsoft.com/office/drawing/2014/main" id="{4A61E7D7-D0AD-4F44-9871-7916310D54BF}"/>
              </a:ext>
            </a:extLst>
          </p:cNvPr>
          <p:cNvSpPr>
            <a:spLocks xmlns:a="http://schemas.openxmlformats.org/drawingml/2006/main" noGrp="1"/>
          </p:cNvSpPr>
          <p:nvPr/>
        </p:nvSpPr>
        <p:spPr>
          <a:xfrm xmlns:a="http://schemas.openxmlformats.org/drawingml/2006/main">
            <a:off x="876300" y="2266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827"/>
                </a:solidFill>
              </a:defRPr>
            </a:pPr>
            <a:r>
              <a:rPr sz="975" b="1">
                <a:solidFill>
                  <a:srgbClr val="111827"/>
                </a:solidFill>
              </a:rPr>
              <a:t>Mention rate</a:t>
            </a:r>
          </a:p>
        </p:txBody>
      </p:sp>
      <p:sp>
        <p:nvSpPr>
          <p:cNvPr id="6" name="">
            <a:extLst xmlns:a="http://schemas.openxmlformats.org/drawingml/2006/main">
              <a:ext uri="{FF2B5EF4-FFF2-40B4-BE49-F238E27FC236}">
                <a16:creationId xmlns:a16="http://schemas.microsoft.com/office/drawing/2014/main" id="{58CD9A37-F388-4E7E-AF5F-253EE29EFC4B}"/>
              </a:ext>
            </a:extLst>
          </p:cNvPr>
          <p:cNvSpPr>
            <a:spLocks xmlns:a="http://schemas.openxmlformats.org/drawingml/2006/main" noGrp="1"/>
          </p:cNvSpPr>
          <p:nvPr/>
        </p:nvSpPr>
        <p:spPr>
          <a:xfrm xmlns:a="http://schemas.openxmlformats.org/drawingml/2006/main">
            <a:off x="3276600" y="22669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4748B"/>
                </a:solidFill>
              </a:defRPr>
            </a:pPr>
            <a:r>
              <a:rPr sz="900" b="0">
                <a:solidFill>
                  <a:srgbClr val="64748B"/>
                </a:solidFill>
              </a:rPr>
              <a:t>24%</a:t>
            </a:r>
          </a:p>
        </p:txBody>
      </p:sp>
      <p:sp>
        <p:nvSpPr>
          <p:cNvPr id="7" name="">
            <a:extLst xmlns:a="http://schemas.openxmlformats.org/drawingml/2006/main">
              <a:ext uri="{FF2B5EF4-FFF2-40B4-BE49-F238E27FC236}">
                <a16:creationId xmlns:a16="http://schemas.microsoft.com/office/drawing/2014/main" id="{6E6458BE-660D-4B26-9F6F-1424EB11F920}"/>
              </a:ext>
            </a:extLst>
          </p:cNvPr>
          <p:cNvSpPr>
            <a:spLocks xmlns:a="http://schemas.openxmlformats.org/drawingml/2006/main" noGrp="1"/>
          </p:cNvSpPr>
          <p:nvPr/>
        </p:nvSpPr>
        <p:spPr>
          <a:xfrm xmlns:a="http://schemas.openxmlformats.org/drawingml/2006/main">
            <a:off x="3924300" y="230505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674473-7028-4D08-945D-F783A236E2B6}"/>
              </a:ext>
            </a:extLst>
          </p:cNvPr>
          <p:cNvSpPr>
            <a:spLocks xmlns:a="http://schemas.openxmlformats.org/drawingml/2006/main" noGrp="1"/>
          </p:cNvSpPr>
          <p:nvPr/>
        </p:nvSpPr>
        <p:spPr>
          <a:xfrm xmlns:a="http://schemas.openxmlformats.org/drawingml/2006/main">
            <a:off x="3924300" y="2305050"/>
            <a:ext cx="2788920" cy="133350"/>
          </a:xfrm>
          <a:prstGeom xmlns:a="http://schemas.openxmlformats.org/drawingml/2006/main" prst="roundRect">
            <a:avLst>
              <a:gd name="adj" fmla="val 14286"/>
            </a:avLst>
          </a:prstGeom>
          <a:solidFill xmlns:a="http://schemas.openxmlformats.org/drawingml/2006/main">
            <a:srgbClr val="47556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240EF3-9150-4D1F-974F-969958475B2A}"/>
              </a:ext>
            </a:extLst>
          </p:cNvPr>
          <p:cNvSpPr>
            <a:spLocks xmlns:a="http://schemas.openxmlformats.org/drawingml/2006/main" noGrp="1"/>
          </p:cNvSpPr>
          <p:nvPr/>
        </p:nvSpPr>
        <p:spPr>
          <a:xfrm xmlns:a="http://schemas.openxmlformats.org/drawingml/2006/main">
            <a:off x="3276600" y="25527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059669"/>
                </a:solidFill>
              </a:defRPr>
            </a:pPr>
            <a:r>
              <a:rPr sz="900" b="1">
                <a:solidFill>
                  <a:srgbClr val="059669"/>
                </a:solidFill>
              </a:rPr>
              <a:t>40%</a:t>
            </a:r>
          </a:p>
        </p:txBody>
      </p:sp>
      <p:sp>
        <p:nvSpPr>
          <p:cNvPr id="10" name="">
            <a:extLst xmlns:a="http://schemas.openxmlformats.org/drawingml/2006/main">
              <a:ext uri="{FF2B5EF4-FFF2-40B4-BE49-F238E27FC236}">
                <a16:creationId xmlns:a16="http://schemas.microsoft.com/office/drawing/2014/main" id="{60EB7D8E-5FBF-40AF-A426-10C8BDD28D3B}"/>
              </a:ext>
            </a:extLst>
          </p:cNvPr>
          <p:cNvSpPr>
            <a:spLocks xmlns:a="http://schemas.openxmlformats.org/drawingml/2006/main" noGrp="1"/>
          </p:cNvSpPr>
          <p:nvPr/>
        </p:nvSpPr>
        <p:spPr>
          <a:xfrm xmlns:a="http://schemas.openxmlformats.org/drawingml/2006/main">
            <a:off x="3924300" y="259080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F4557F2-A78D-44C3-A920-FF41408A216D}"/>
              </a:ext>
            </a:extLst>
          </p:cNvPr>
          <p:cNvSpPr>
            <a:spLocks xmlns:a="http://schemas.openxmlformats.org/drawingml/2006/main" noGrp="1"/>
          </p:cNvSpPr>
          <p:nvPr/>
        </p:nvSpPr>
        <p:spPr>
          <a:xfrm xmlns:a="http://schemas.openxmlformats.org/drawingml/2006/main">
            <a:off x="3924300" y="2590800"/>
            <a:ext cx="4648200" cy="133350"/>
          </a:xfrm>
          <a:prstGeom xmlns:a="http://schemas.openxmlformats.org/drawingml/2006/main" prst="roundRect">
            <a:avLst>
              <a:gd name="adj" fmla="val 14286"/>
            </a:avLst>
          </a:prstGeom>
          <a:solidFill xmlns:a="http://schemas.openxmlformats.org/drawingml/2006/main">
            <a:srgbClr val="05966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CEED59-75F2-4CE5-BD55-134A79CFE34A}"/>
              </a:ext>
            </a:extLst>
          </p:cNvPr>
          <p:cNvSpPr>
            <a:spLocks xmlns:a="http://schemas.openxmlformats.org/drawingml/2006/main" noGrp="1"/>
          </p:cNvSpPr>
          <p:nvPr/>
        </p:nvSpPr>
        <p:spPr>
          <a:xfrm xmlns:a="http://schemas.openxmlformats.org/drawingml/2006/main">
            <a:off x="876300" y="30670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827"/>
                </a:solidFill>
              </a:defRPr>
            </a:pPr>
            <a:r>
              <a:rPr sz="975" b="1">
                <a:solidFill>
                  <a:srgbClr val="111827"/>
                </a:solidFill>
              </a:rPr>
              <a:t>Top-3 recommendation</a:t>
            </a:r>
          </a:p>
        </p:txBody>
      </p:sp>
      <p:sp>
        <p:nvSpPr>
          <p:cNvPr id="13" name="">
            <a:extLst xmlns:a="http://schemas.openxmlformats.org/drawingml/2006/main">
              <a:ext uri="{FF2B5EF4-FFF2-40B4-BE49-F238E27FC236}">
                <a16:creationId xmlns:a16="http://schemas.microsoft.com/office/drawing/2014/main" id="{7DD2FF79-BE9F-463D-824C-0010BDA7A958}"/>
              </a:ext>
            </a:extLst>
          </p:cNvPr>
          <p:cNvSpPr>
            <a:spLocks xmlns:a="http://schemas.openxmlformats.org/drawingml/2006/main" noGrp="1"/>
          </p:cNvSpPr>
          <p:nvPr/>
        </p:nvSpPr>
        <p:spPr>
          <a:xfrm xmlns:a="http://schemas.openxmlformats.org/drawingml/2006/main">
            <a:off x="3276600" y="3067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4748B"/>
                </a:solidFill>
              </a:defRPr>
            </a:pPr>
            <a:r>
              <a:rPr sz="900" b="0">
                <a:solidFill>
                  <a:srgbClr val="64748B"/>
                </a:solidFill>
              </a:rPr>
              <a:t>16%</a:t>
            </a:r>
          </a:p>
        </p:txBody>
      </p:sp>
      <p:sp>
        <p:nvSpPr>
          <p:cNvPr id="14" name="">
            <a:extLst xmlns:a="http://schemas.openxmlformats.org/drawingml/2006/main">
              <a:ext uri="{FF2B5EF4-FFF2-40B4-BE49-F238E27FC236}">
                <a16:creationId xmlns:a16="http://schemas.microsoft.com/office/drawing/2014/main" id="{0C8B0896-DFE5-4B6C-AA1F-4DC23494C92A}"/>
              </a:ext>
            </a:extLst>
          </p:cNvPr>
          <p:cNvSpPr>
            <a:spLocks xmlns:a="http://schemas.openxmlformats.org/drawingml/2006/main" noGrp="1"/>
          </p:cNvSpPr>
          <p:nvPr/>
        </p:nvSpPr>
        <p:spPr>
          <a:xfrm xmlns:a="http://schemas.openxmlformats.org/drawingml/2006/main">
            <a:off x="3924300" y="310515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A6D1A1-D8B1-4CA3-A89E-ADB67014365A}"/>
              </a:ext>
            </a:extLst>
          </p:cNvPr>
          <p:cNvSpPr>
            <a:spLocks xmlns:a="http://schemas.openxmlformats.org/drawingml/2006/main" noGrp="1"/>
          </p:cNvSpPr>
          <p:nvPr/>
        </p:nvSpPr>
        <p:spPr>
          <a:xfrm xmlns:a="http://schemas.openxmlformats.org/drawingml/2006/main">
            <a:off x="3924300" y="3105150"/>
            <a:ext cx="1859280" cy="133350"/>
          </a:xfrm>
          <a:prstGeom xmlns:a="http://schemas.openxmlformats.org/drawingml/2006/main" prst="roundRect">
            <a:avLst>
              <a:gd name="adj" fmla="val 14286"/>
            </a:avLst>
          </a:prstGeom>
          <a:solidFill xmlns:a="http://schemas.openxmlformats.org/drawingml/2006/main">
            <a:srgbClr val="47556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DE1C22-EBA3-49AB-87A0-DCA581A2A2FC}"/>
              </a:ext>
            </a:extLst>
          </p:cNvPr>
          <p:cNvSpPr>
            <a:spLocks xmlns:a="http://schemas.openxmlformats.org/drawingml/2006/main" noGrp="1"/>
          </p:cNvSpPr>
          <p:nvPr/>
        </p:nvSpPr>
        <p:spPr>
          <a:xfrm xmlns:a="http://schemas.openxmlformats.org/drawingml/2006/main">
            <a:off x="3276600" y="33528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2563EB"/>
                </a:solidFill>
              </a:defRPr>
            </a:pPr>
            <a:r>
              <a:rPr sz="900" b="1">
                <a:solidFill>
                  <a:srgbClr val="2563EB"/>
                </a:solidFill>
              </a:rPr>
              <a:t>29%</a:t>
            </a:r>
          </a:p>
        </p:txBody>
      </p:sp>
      <p:sp>
        <p:nvSpPr>
          <p:cNvPr id="17" name="">
            <a:extLst xmlns:a="http://schemas.openxmlformats.org/drawingml/2006/main">
              <a:ext uri="{FF2B5EF4-FFF2-40B4-BE49-F238E27FC236}">
                <a16:creationId xmlns:a16="http://schemas.microsoft.com/office/drawing/2014/main" id="{6B3FBC2C-F68F-4D17-B9A5-37489388BC8D}"/>
              </a:ext>
            </a:extLst>
          </p:cNvPr>
          <p:cNvSpPr>
            <a:spLocks xmlns:a="http://schemas.openxmlformats.org/drawingml/2006/main" noGrp="1"/>
          </p:cNvSpPr>
          <p:nvPr/>
        </p:nvSpPr>
        <p:spPr>
          <a:xfrm xmlns:a="http://schemas.openxmlformats.org/drawingml/2006/main">
            <a:off x="3924300" y="339090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89107F-0B50-4130-B31B-BC4513AAF941}"/>
              </a:ext>
            </a:extLst>
          </p:cNvPr>
          <p:cNvSpPr>
            <a:spLocks xmlns:a="http://schemas.openxmlformats.org/drawingml/2006/main" noGrp="1"/>
          </p:cNvSpPr>
          <p:nvPr/>
        </p:nvSpPr>
        <p:spPr>
          <a:xfrm xmlns:a="http://schemas.openxmlformats.org/drawingml/2006/main">
            <a:off x="3924300" y="3390900"/>
            <a:ext cx="3369945" cy="133350"/>
          </a:xfrm>
          <a:prstGeom xmlns:a="http://schemas.openxmlformats.org/drawingml/2006/main" prst="roundRect">
            <a:avLst>
              <a:gd name="adj" fmla="val 14286"/>
            </a:avLst>
          </a:prstGeom>
          <a:solidFill xmlns:a="http://schemas.openxmlformats.org/drawingml/2006/main">
            <a:srgbClr val="2563E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C055362-24E7-44E3-945A-9B01E808A042}"/>
              </a:ext>
            </a:extLst>
          </p:cNvPr>
          <p:cNvSpPr>
            <a:spLocks xmlns:a="http://schemas.openxmlformats.org/drawingml/2006/main" noGrp="1"/>
          </p:cNvSpPr>
          <p:nvPr/>
        </p:nvSpPr>
        <p:spPr>
          <a:xfrm xmlns:a="http://schemas.openxmlformats.org/drawingml/2006/main">
            <a:off x="876300" y="3867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827"/>
                </a:solidFill>
              </a:defRPr>
            </a:pPr>
            <a:r>
              <a:rPr sz="975" b="1">
                <a:solidFill>
                  <a:srgbClr val="111827"/>
                </a:solidFill>
              </a:rPr>
              <a:t>Competitor-only answers</a:t>
            </a:r>
          </a:p>
        </p:txBody>
      </p:sp>
      <p:sp>
        <p:nvSpPr>
          <p:cNvPr id="20" name="">
            <a:extLst xmlns:a="http://schemas.openxmlformats.org/drawingml/2006/main">
              <a:ext uri="{FF2B5EF4-FFF2-40B4-BE49-F238E27FC236}">
                <a16:creationId xmlns:a16="http://schemas.microsoft.com/office/drawing/2014/main" id="{7353C45E-0F82-45B8-8B76-1685D4E33AF6}"/>
              </a:ext>
            </a:extLst>
          </p:cNvPr>
          <p:cNvSpPr>
            <a:spLocks xmlns:a="http://schemas.openxmlformats.org/drawingml/2006/main" noGrp="1"/>
          </p:cNvSpPr>
          <p:nvPr/>
        </p:nvSpPr>
        <p:spPr>
          <a:xfrm xmlns:a="http://schemas.openxmlformats.org/drawingml/2006/main">
            <a:off x="3276600" y="38671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4748B"/>
                </a:solidFill>
              </a:defRPr>
            </a:pPr>
            <a:r>
              <a:rPr sz="900" b="0">
                <a:solidFill>
                  <a:srgbClr val="64748B"/>
                </a:solidFill>
              </a:rPr>
              <a:t>73%</a:t>
            </a:r>
          </a:p>
        </p:txBody>
      </p:sp>
      <p:sp>
        <p:nvSpPr>
          <p:cNvPr id="21" name="">
            <a:extLst xmlns:a="http://schemas.openxmlformats.org/drawingml/2006/main">
              <a:ext uri="{FF2B5EF4-FFF2-40B4-BE49-F238E27FC236}">
                <a16:creationId xmlns:a16="http://schemas.microsoft.com/office/drawing/2014/main" id="{365220FE-0506-49FD-82F1-1D7ABED839D7}"/>
              </a:ext>
            </a:extLst>
          </p:cNvPr>
          <p:cNvSpPr>
            <a:spLocks xmlns:a="http://schemas.openxmlformats.org/drawingml/2006/main" noGrp="1"/>
          </p:cNvSpPr>
          <p:nvPr/>
        </p:nvSpPr>
        <p:spPr>
          <a:xfrm xmlns:a="http://schemas.openxmlformats.org/drawingml/2006/main">
            <a:off x="3924300" y="390525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EF12A5-3266-4793-A594-B579C7B8FB2A}"/>
              </a:ext>
            </a:extLst>
          </p:cNvPr>
          <p:cNvSpPr>
            <a:spLocks xmlns:a="http://schemas.openxmlformats.org/drawingml/2006/main" noGrp="1"/>
          </p:cNvSpPr>
          <p:nvPr/>
        </p:nvSpPr>
        <p:spPr>
          <a:xfrm xmlns:a="http://schemas.openxmlformats.org/drawingml/2006/main">
            <a:off x="3924300" y="3905250"/>
            <a:ext cx="5301853" cy="133350"/>
          </a:xfrm>
          <a:prstGeom xmlns:a="http://schemas.openxmlformats.org/drawingml/2006/main" prst="roundRect">
            <a:avLst>
              <a:gd name="adj" fmla="val 14286"/>
            </a:avLst>
          </a:prstGeom>
          <a:solidFill xmlns:a="http://schemas.openxmlformats.org/drawingml/2006/main">
            <a:srgbClr val="47556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91524EB-85BE-4538-9311-31F7431F8FF6}"/>
              </a:ext>
            </a:extLst>
          </p:cNvPr>
          <p:cNvSpPr>
            <a:spLocks xmlns:a="http://schemas.openxmlformats.org/drawingml/2006/main" noGrp="1"/>
          </p:cNvSpPr>
          <p:nvPr/>
        </p:nvSpPr>
        <p:spPr>
          <a:xfrm xmlns:a="http://schemas.openxmlformats.org/drawingml/2006/main">
            <a:off x="3276600" y="4152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D97706"/>
                </a:solidFill>
              </a:defRPr>
            </a:pPr>
            <a:r>
              <a:rPr sz="900" b="1">
                <a:solidFill>
                  <a:srgbClr val="D97706"/>
                </a:solidFill>
              </a:rPr>
              <a:t>57%</a:t>
            </a:r>
          </a:p>
        </p:txBody>
      </p:sp>
      <p:sp>
        <p:nvSpPr>
          <p:cNvPr id="24" name="">
            <a:extLst xmlns:a="http://schemas.openxmlformats.org/drawingml/2006/main">
              <a:ext uri="{FF2B5EF4-FFF2-40B4-BE49-F238E27FC236}">
                <a16:creationId xmlns:a16="http://schemas.microsoft.com/office/drawing/2014/main" id="{31421384-85CE-401A-AD17-D204C501F986}"/>
              </a:ext>
            </a:extLst>
          </p:cNvPr>
          <p:cNvSpPr>
            <a:spLocks xmlns:a="http://schemas.openxmlformats.org/drawingml/2006/main" noGrp="1"/>
          </p:cNvSpPr>
          <p:nvPr/>
        </p:nvSpPr>
        <p:spPr>
          <a:xfrm xmlns:a="http://schemas.openxmlformats.org/drawingml/2006/main">
            <a:off x="3924300" y="419100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84CC9E-DC9C-4109-82EB-167981B492E2}"/>
              </a:ext>
            </a:extLst>
          </p:cNvPr>
          <p:cNvSpPr>
            <a:spLocks xmlns:a="http://schemas.openxmlformats.org/drawingml/2006/main" noGrp="1"/>
          </p:cNvSpPr>
          <p:nvPr/>
        </p:nvSpPr>
        <p:spPr>
          <a:xfrm xmlns:a="http://schemas.openxmlformats.org/drawingml/2006/main">
            <a:off x="3924300" y="4191000"/>
            <a:ext cx="4139803" cy="133350"/>
          </a:xfrm>
          <a:prstGeom xmlns:a="http://schemas.openxmlformats.org/drawingml/2006/main" prst="roundRect">
            <a:avLst>
              <a:gd name="adj" fmla="val 14286"/>
            </a:avLst>
          </a:prstGeom>
          <a:solidFill xmlns:a="http://schemas.openxmlformats.org/drawingml/2006/main">
            <a:srgbClr val="D9770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F1CB3E8-C282-4F9E-AD90-6FEB76503CF3}"/>
              </a:ext>
            </a:extLst>
          </p:cNvPr>
          <p:cNvSpPr>
            <a:spLocks xmlns:a="http://schemas.openxmlformats.org/drawingml/2006/main" noGrp="1"/>
          </p:cNvSpPr>
          <p:nvPr/>
        </p:nvSpPr>
        <p:spPr>
          <a:xfrm xmlns:a="http://schemas.openxmlformats.org/drawingml/2006/main">
            <a:off x="876300" y="46672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827"/>
                </a:solidFill>
              </a:defRPr>
            </a:pPr>
            <a:r>
              <a:rPr sz="975" b="1">
                <a:solidFill>
                  <a:srgbClr val="111827"/>
                </a:solidFill>
              </a:rPr>
              <a:t>Citation rate</a:t>
            </a:r>
          </a:p>
        </p:txBody>
      </p:sp>
      <p:sp>
        <p:nvSpPr>
          <p:cNvPr id="27" name="">
            <a:extLst xmlns:a="http://schemas.openxmlformats.org/drawingml/2006/main">
              <a:ext uri="{FF2B5EF4-FFF2-40B4-BE49-F238E27FC236}">
                <a16:creationId xmlns:a16="http://schemas.microsoft.com/office/drawing/2014/main" id="{E349606B-AF72-4709-A0A8-21695335E023}"/>
              </a:ext>
            </a:extLst>
          </p:cNvPr>
          <p:cNvSpPr>
            <a:spLocks xmlns:a="http://schemas.openxmlformats.org/drawingml/2006/main" noGrp="1"/>
          </p:cNvSpPr>
          <p:nvPr/>
        </p:nvSpPr>
        <p:spPr>
          <a:xfrm xmlns:a="http://schemas.openxmlformats.org/drawingml/2006/main">
            <a:off x="3276600" y="46672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4748B"/>
                </a:solidFill>
              </a:defRPr>
            </a:pPr>
            <a:r>
              <a:rPr sz="900" b="0">
                <a:solidFill>
                  <a:srgbClr val="64748B"/>
                </a:solidFill>
              </a:rPr>
              <a:t>0%</a:t>
            </a:r>
          </a:p>
        </p:txBody>
      </p:sp>
      <p:sp>
        <p:nvSpPr>
          <p:cNvPr id="28" name="">
            <a:extLst xmlns:a="http://schemas.openxmlformats.org/drawingml/2006/main">
              <a:ext uri="{FF2B5EF4-FFF2-40B4-BE49-F238E27FC236}">
                <a16:creationId xmlns:a16="http://schemas.microsoft.com/office/drawing/2014/main" id="{31C4B312-81BF-44FC-9BB6-63F9BD3A8FD9}"/>
              </a:ext>
            </a:extLst>
          </p:cNvPr>
          <p:cNvSpPr>
            <a:spLocks xmlns:a="http://schemas.openxmlformats.org/drawingml/2006/main" noGrp="1"/>
          </p:cNvSpPr>
          <p:nvPr/>
        </p:nvSpPr>
        <p:spPr>
          <a:xfrm xmlns:a="http://schemas.openxmlformats.org/drawingml/2006/main">
            <a:off x="3924300" y="470535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8C1F7F7-8FE2-49E8-BDFB-CE4322AE96C5}"/>
              </a:ext>
            </a:extLst>
          </p:cNvPr>
          <p:cNvSpPr>
            <a:spLocks xmlns:a="http://schemas.openxmlformats.org/drawingml/2006/main" noGrp="1"/>
          </p:cNvSpPr>
          <p:nvPr/>
        </p:nvSpPr>
        <p:spPr>
          <a:xfrm xmlns:a="http://schemas.openxmlformats.org/drawingml/2006/main">
            <a:off x="3924300" y="4705350"/>
            <a:ext cx="19050" cy="133350"/>
          </a:xfrm>
          <a:prstGeom xmlns:a="http://schemas.openxmlformats.org/drawingml/2006/main" prst="roundRect">
            <a:avLst>
              <a:gd name="adj" fmla="val 50000"/>
            </a:avLst>
          </a:prstGeom>
          <a:solidFill xmlns:a="http://schemas.openxmlformats.org/drawingml/2006/main">
            <a:srgbClr val="47556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4F2094A-1EF5-411D-A7FB-C31906868431}"/>
              </a:ext>
            </a:extLst>
          </p:cNvPr>
          <p:cNvSpPr>
            <a:spLocks xmlns:a="http://schemas.openxmlformats.org/drawingml/2006/main" noGrp="1"/>
          </p:cNvSpPr>
          <p:nvPr/>
        </p:nvSpPr>
        <p:spPr>
          <a:xfrm xmlns:a="http://schemas.openxmlformats.org/drawingml/2006/main">
            <a:off x="3276600" y="49530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DC2626"/>
                </a:solidFill>
              </a:defRPr>
            </a:pPr>
            <a:r>
              <a:rPr sz="900" b="1">
                <a:solidFill>
                  <a:srgbClr val="DC2626"/>
                </a:solidFill>
              </a:rPr>
              <a:t>0%</a:t>
            </a:r>
          </a:p>
        </p:txBody>
      </p:sp>
      <p:sp>
        <p:nvSpPr>
          <p:cNvPr id="31" name="">
            <a:extLst xmlns:a="http://schemas.openxmlformats.org/drawingml/2006/main">
              <a:ext uri="{FF2B5EF4-FFF2-40B4-BE49-F238E27FC236}">
                <a16:creationId xmlns:a16="http://schemas.microsoft.com/office/drawing/2014/main" id="{0AF3896B-E17D-42F1-8E0E-514406B0EE49}"/>
              </a:ext>
            </a:extLst>
          </p:cNvPr>
          <p:cNvSpPr>
            <a:spLocks xmlns:a="http://schemas.openxmlformats.org/drawingml/2006/main" noGrp="1"/>
          </p:cNvSpPr>
          <p:nvPr/>
        </p:nvSpPr>
        <p:spPr>
          <a:xfrm xmlns:a="http://schemas.openxmlformats.org/drawingml/2006/main">
            <a:off x="3924300" y="4991100"/>
            <a:ext cx="5810250" cy="133350"/>
          </a:xfrm>
          <a:prstGeom xmlns:a="http://schemas.openxmlformats.org/drawingml/2006/main" prst="roundRect">
            <a:avLst>
              <a:gd name="adj" fmla="val 14286"/>
            </a:avLst>
          </a:prstGeom>
          <a:solidFill xmlns:a="http://schemas.openxmlformats.org/drawingml/2006/main">
            <a:srgbClr val="E5E7E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B400E60-0B30-4948-B292-A0A252897E94}"/>
              </a:ext>
            </a:extLst>
          </p:cNvPr>
          <p:cNvSpPr>
            <a:spLocks xmlns:a="http://schemas.openxmlformats.org/drawingml/2006/main" noGrp="1"/>
          </p:cNvSpPr>
          <p:nvPr/>
        </p:nvSpPr>
        <p:spPr>
          <a:xfrm xmlns:a="http://schemas.openxmlformats.org/drawingml/2006/main">
            <a:off x="3924300" y="4991100"/>
            <a:ext cx="19050" cy="133350"/>
          </a:xfrm>
          <a:prstGeom xmlns:a="http://schemas.openxmlformats.org/drawingml/2006/main" prst="roundRect">
            <a:avLst>
              <a:gd name="adj" fmla="val 50000"/>
            </a:avLst>
          </a:prstGeom>
          <a:solidFill xmlns:a="http://schemas.openxmlformats.org/drawingml/2006/main">
            <a:srgbClr val="DC262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EF84C55-63D6-430D-9995-62319A6DB8BB}"/>
              </a:ext>
            </a:extLst>
          </p:cNvPr>
          <p:cNvSpPr>
            <a:spLocks xmlns:a="http://schemas.openxmlformats.org/drawingml/2006/main" noGrp="1"/>
          </p:cNvSpPr>
          <p:nvPr/>
        </p:nvSpPr>
        <p:spPr>
          <a:xfrm xmlns:a="http://schemas.openxmlformats.org/drawingml/2006/main">
            <a:off x="8096250" y="2247900"/>
            <a:ext cx="314325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
            <a:extLst xmlns:a="http://schemas.openxmlformats.org/drawingml/2006/main">
              <a:ext uri="{FF2B5EF4-FFF2-40B4-BE49-F238E27FC236}">
                <a16:creationId xmlns:a16="http://schemas.microsoft.com/office/drawing/2014/main" id="{91169138-155A-4062-AD5B-CC801601F33E}"/>
              </a:ext>
            </a:extLst>
          </p:cNvPr>
          <p:cNvSpPr>
            <a:spLocks xmlns:a="http://schemas.openxmlformats.org/drawingml/2006/main" noGrp="1"/>
          </p:cNvSpPr>
          <p:nvPr/>
        </p:nvSpPr>
        <p:spPr>
          <a:xfrm xmlns:a="http://schemas.openxmlformats.org/drawingml/2006/main">
            <a:off x="8362950" y="24765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11827"/>
                </a:solidFill>
              </a:defRPr>
            </a:pPr>
            <a:r>
              <a:rPr sz="1650" b="1">
                <a:solidFill>
                  <a:srgbClr val="111827"/>
                </a:solidFill>
              </a:rPr>
              <a:t>Reading the chart</a:t>
            </a:r>
          </a:p>
        </p:txBody>
      </p:sp>
      <p:sp>
        <p:nvSpPr>
          <p:cNvPr id="35" name="">
            <a:extLst xmlns:a="http://schemas.openxmlformats.org/drawingml/2006/main">
              <a:ext uri="{FF2B5EF4-FFF2-40B4-BE49-F238E27FC236}">
                <a16:creationId xmlns:a16="http://schemas.microsoft.com/office/drawing/2014/main" id="{9BB71702-C749-4FD4-81A5-C5AA8E63E9C9}"/>
              </a:ext>
            </a:extLst>
          </p:cNvPr>
          <p:cNvSpPr>
            <a:spLocks xmlns:a="http://schemas.openxmlformats.org/drawingml/2006/main" noGrp="1"/>
          </p:cNvSpPr>
          <p:nvPr/>
        </p:nvSpPr>
        <p:spPr>
          <a:xfrm xmlns:a="http://schemas.openxmlformats.org/drawingml/2006/main">
            <a:off x="8362950" y="2933700"/>
            <a:ext cx="2571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827"/>
                </a:solidFill>
              </a:defRPr>
            </a:pPr>
            <a:r>
              <a:rPr sz="1125" b="0">
                <a:solidFill>
                  <a:srgbClr val="111827"/>
                </a:solidFill>
              </a:rPr>
              <a:t>- More AI answers now know iBOLT.</a:t>
            </a:r>
          </a:p>
          <a:p xmlns:a="http://schemas.openxmlformats.org/drawingml/2006/main">
            <a:pPr algn="l">
              <a:buNone/>
              <a:defRPr sz="1125" b="0">
                <a:solidFill>
                  <a:srgbClr val="111827"/>
                </a:solidFill>
              </a:defRPr>
            </a:pPr>
            <a:r>
              <a:rPr sz="1125" b="0">
                <a:solidFill>
                  <a:srgbClr val="111827"/>
                </a:solidFill>
              </a:rPr>
              <a:t>- More answers place iBOLT in the recommendation set.</a:t>
            </a:r>
          </a:p>
          <a:p xmlns:a="http://schemas.openxmlformats.org/drawingml/2006/main">
            <a:pPr algn="l">
              <a:buNone/>
              <a:defRPr sz="1125" b="0">
                <a:solidFill>
                  <a:srgbClr val="111827"/>
                </a:solidFill>
              </a:defRPr>
            </a:pPr>
            <a:r>
              <a:rPr sz="1125" b="0">
                <a:solidFill>
                  <a:srgbClr val="111827"/>
                </a:solidFill>
              </a:rPr>
              <a:t>- Competitor-only answers are down, but still high.</a:t>
            </a:r>
          </a:p>
          <a:p xmlns:a="http://schemas.openxmlformats.org/drawingml/2006/main">
            <a:pPr algn="l">
              <a:buNone/>
              <a:defRPr sz="1125" b="0">
                <a:solidFill>
                  <a:srgbClr val="111827"/>
                </a:solidFill>
              </a:defRPr>
            </a:pPr>
            <a:r>
              <a:rPr sz="1125" b="0">
                <a:solidFill>
                  <a:srgbClr val="111827"/>
                </a:solidFill>
              </a:rPr>
              <a:t>- Citation remains the measurable gap to attack next.</a:t>
            </a:r>
          </a:p>
        </p:txBody>
      </p:sp>
      <p:sp>
        <p:nvSpPr>
          <p:cNvPr id="36" name="">
            <a:extLst xmlns:a="http://schemas.openxmlformats.org/drawingml/2006/main">
              <a:ext uri="{FF2B5EF4-FFF2-40B4-BE49-F238E27FC236}">
                <a16:creationId xmlns:a16="http://schemas.microsoft.com/office/drawing/2014/main" id="{7815A502-E1E7-4532-9341-06E9E4ABFB97}"/>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Sources: internal OpenRouter benchmark history and expanded benchmark pack.</a:t>
            </a:r>
          </a:p>
        </p:txBody>
      </p:sp>
      <p:sp>
        <p:nvSpPr>
          <p:cNvPr id="37" name="">
            <a:extLst xmlns:a="http://schemas.openxmlformats.org/drawingml/2006/main">
              <a:ext uri="{FF2B5EF4-FFF2-40B4-BE49-F238E27FC236}">
                <a16:creationId xmlns:a16="http://schemas.microsoft.com/office/drawing/2014/main" id="{E7F14F59-116B-4F50-9BF7-F211CF0F6562}"/>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571356845"/>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5C80FD-25EA-4242-8658-0A8865853E4D}"/>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16096ACF-1407-4096-950A-E5648CECE23E}"/>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Why citation rate matters now</a:t>
            </a:r>
          </a:p>
        </p:txBody>
      </p:sp>
      <p:sp>
        <p:nvSpPr>
          <p:cNvPr id="3" name="">
            <a:extLst xmlns:a="http://schemas.openxmlformats.org/drawingml/2006/main">
              <a:ext uri="{FF2B5EF4-FFF2-40B4-BE49-F238E27FC236}">
                <a16:creationId xmlns:a16="http://schemas.microsoft.com/office/drawing/2014/main" id="{587C7BD5-B64C-4BD8-9FA9-C7116DFB7178}"/>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237114-D7FB-4FAC-993C-70137BD14C5A}"/>
              </a:ext>
            </a:extLst>
          </p:cNvPr>
          <p:cNvSpPr>
            <a:spLocks xmlns:a="http://schemas.openxmlformats.org/drawingml/2006/main" noGrp="1"/>
          </p:cNvSpPr>
          <p:nvPr/>
        </p:nvSpPr>
        <p:spPr>
          <a:xfrm xmlns:a="http://schemas.openxmlformats.org/drawingml/2006/main">
            <a:off x="609600" y="15240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Google says normal SEO foundations still matter for AI features: indexed pages, helpful content, internal links, textual content, matching structured data, Merchant Center, and Search Console measurement.</a:t>
            </a:r>
          </a:p>
        </p:txBody>
      </p:sp>
      <p:sp>
        <p:nvSpPr>
          <p:cNvPr id="5" name="">
            <a:extLst xmlns:a="http://schemas.openxmlformats.org/drawingml/2006/main">
              <a:ext uri="{FF2B5EF4-FFF2-40B4-BE49-F238E27FC236}">
                <a16:creationId xmlns:a16="http://schemas.microsoft.com/office/drawing/2014/main" id="{4701DCB1-36BA-4BD8-9DE9-943DE7B84C2A}"/>
              </a:ext>
            </a:extLst>
          </p:cNvPr>
          <p:cNvSpPr>
            <a:spLocks xmlns:a="http://schemas.openxmlformats.org/drawingml/2006/main" noGrp="1"/>
          </p:cNvSpPr>
          <p:nvPr/>
        </p:nvSpPr>
        <p:spPr>
          <a:xfrm xmlns:a="http://schemas.openxmlformats.org/drawingml/2006/main">
            <a:off x="781050" y="2781300"/>
            <a:ext cx="2190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0EF8FE9-F630-48D7-9CD0-A4D9D0F8162B}"/>
              </a:ext>
            </a:extLst>
          </p:cNvPr>
          <p:cNvSpPr>
            <a:spLocks xmlns:a="http://schemas.openxmlformats.org/drawingml/2006/main" noGrp="1"/>
          </p:cNvSpPr>
          <p:nvPr/>
        </p:nvSpPr>
        <p:spPr>
          <a:xfrm xmlns:a="http://schemas.openxmlformats.org/drawingml/2006/main">
            <a:off x="952500" y="2971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59669"/>
                </a:solidFill>
              </a:defRPr>
            </a:pPr>
            <a:r>
              <a:rPr sz="1800" b="1">
                <a:solidFill>
                  <a:srgbClr val="059669"/>
                </a:solidFill>
              </a:rPr>
              <a:t>1</a:t>
            </a:r>
          </a:p>
        </p:txBody>
      </p:sp>
      <p:sp>
        <p:nvSpPr>
          <p:cNvPr id="7" name="">
            <a:extLst xmlns:a="http://schemas.openxmlformats.org/drawingml/2006/main">
              <a:ext uri="{FF2B5EF4-FFF2-40B4-BE49-F238E27FC236}">
                <a16:creationId xmlns:a16="http://schemas.microsoft.com/office/drawing/2014/main" id="{96280CAF-DCF5-455D-A40F-35FE96DBBA8B}"/>
              </a:ext>
            </a:extLst>
          </p:cNvPr>
          <p:cNvSpPr>
            <a:spLocks xmlns:a="http://schemas.openxmlformats.org/drawingml/2006/main" noGrp="1"/>
          </p:cNvSpPr>
          <p:nvPr/>
        </p:nvSpPr>
        <p:spPr>
          <a:xfrm xmlns:a="http://schemas.openxmlformats.org/drawingml/2006/main">
            <a:off x="1333500" y="29908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Indexed content</a:t>
            </a:r>
          </a:p>
        </p:txBody>
      </p:sp>
      <p:sp>
        <p:nvSpPr>
          <p:cNvPr id="8" name="">
            <a:extLst xmlns:a="http://schemas.openxmlformats.org/drawingml/2006/main">
              <a:ext uri="{FF2B5EF4-FFF2-40B4-BE49-F238E27FC236}">
                <a16:creationId xmlns:a16="http://schemas.microsoft.com/office/drawing/2014/main" id="{327E0014-EF90-4335-B9AF-C898111A5F02}"/>
              </a:ext>
            </a:extLst>
          </p:cNvPr>
          <p:cNvSpPr>
            <a:spLocks xmlns:a="http://schemas.openxmlformats.org/drawingml/2006/main" noGrp="1"/>
          </p:cNvSpPr>
          <p:nvPr/>
        </p:nvSpPr>
        <p:spPr>
          <a:xfrm xmlns:a="http://schemas.openxmlformats.org/drawingml/2006/main">
            <a:off x="1009650" y="3486150"/>
            <a:ext cx="1733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475569"/>
                </a:solidFill>
              </a:defRPr>
            </a:pPr>
            <a:r>
              <a:rPr sz="975" b="0">
                <a:solidFill>
                  <a:srgbClr val="475569"/>
                </a:solidFill>
              </a:rPr>
              <a:t>Can be found and crawled</a:t>
            </a:r>
          </a:p>
        </p:txBody>
      </p:sp>
      <p:sp>
        <p:nvSpPr>
          <p:cNvPr id="9" name="">
            <a:extLst xmlns:a="http://schemas.openxmlformats.org/drawingml/2006/main">
              <a:ext uri="{FF2B5EF4-FFF2-40B4-BE49-F238E27FC236}">
                <a16:creationId xmlns:a16="http://schemas.microsoft.com/office/drawing/2014/main" id="{0CE42418-82BD-4F0F-9E97-53A2313A657F}"/>
              </a:ext>
            </a:extLst>
          </p:cNvPr>
          <p:cNvSpPr>
            <a:spLocks xmlns:a="http://schemas.openxmlformats.org/drawingml/2006/main" noGrp="1"/>
          </p:cNvSpPr>
          <p:nvPr/>
        </p:nvSpPr>
        <p:spPr>
          <a:xfrm xmlns:a="http://schemas.openxmlformats.org/drawingml/2006/main">
            <a:off x="3086100" y="3219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64748B"/>
                </a:solidFill>
              </a:defRPr>
            </a:pPr>
            <a:r>
              <a:rPr sz="1950" b="1">
                <a:solidFill>
                  <a:srgbClr val="64748B"/>
                </a:solidFill>
              </a:rPr>
              <a:t>-&gt;</a:t>
            </a:r>
          </a:p>
        </p:txBody>
      </p:sp>
      <p:sp>
        <p:nvSpPr>
          <p:cNvPr id="10" name="">
            <a:extLst xmlns:a="http://schemas.openxmlformats.org/drawingml/2006/main">
              <a:ext uri="{FF2B5EF4-FFF2-40B4-BE49-F238E27FC236}">
                <a16:creationId xmlns:a16="http://schemas.microsoft.com/office/drawing/2014/main" id="{0D477F3F-7456-46F7-A21C-C93EC6B1D552}"/>
              </a:ext>
            </a:extLst>
          </p:cNvPr>
          <p:cNvSpPr>
            <a:spLocks xmlns:a="http://schemas.openxmlformats.org/drawingml/2006/main" noGrp="1"/>
          </p:cNvSpPr>
          <p:nvPr/>
        </p:nvSpPr>
        <p:spPr>
          <a:xfrm xmlns:a="http://schemas.openxmlformats.org/drawingml/2006/main">
            <a:off x="3429000" y="2781300"/>
            <a:ext cx="2190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8B64284-EDE3-49C3-ABFE-C63DD5CC04E3}"/>
              </a:ext>
            </a:extLst>
          </p:cNvPr>
          <p:cNvSpPr>
            <a:spLocks xmlns:a="http://schemas.openxmlformats.org/drawingml/2006/main" noGrp="1"/>
          </p:cNvSpPr>
          <p:nvPr/>
        </p:nvSpPr>
        <p:spPr>
          <a:xfrm xmlns:a="http://schemas.openxmlformats.org/drawingml/2006/main">
            <a:off x="3600450" y="2971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2563EB"/>
                </a:solidFill>
              </a:defRPr>
            </a:pPr>
            <a:r>
              <a:rPr sz="1800" b="1">
                <a:solidFill>
                  <a:srgbClr val="2563EB"/>
                </a:solidFill>
              </a:rPr>
              <a:t>2</a:t>
            </a:r>
          </a:p>
        </p:txBody>
      </p:sp>
      <p:sp>
        <p:nvSpPr>
          <p:cNvPr id="12" name="">
            <a:extLst xmlns:a="http://schemas.openxmlformats.org/drawingml/2006/main">
              <a:ext uri="{FF2B5EF4-FFF2-40B4-BE49-F238E27FC236}">
                <a16:creationId xmlns:a16="http://schemas.microsoft.com/office/drawing/2014/main" id="{D9A3A961-CC24-45B1-B587-61F0FAFA681F}"/>
              </a:ext>
            </a:extLst>
          </p:cNvPr>
          <p:cNvSpPr>
            <a:spLocks xmlns:a="http://schemas.openxmlformats.org/drawingml/2006/main" noGrp="1"/>
          </p:cNvSpPr>
          <p:nvPr/>
        </p:nvSpPr>
        <p:spPr>
          <a:xfrm xmlns:a="http://schemas.openxmlformats.org/drawingml/2006/main">
            <a:off x="3981450" y="29908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Structured product data</a:t>
            </a:r>
          </a:p>
        </p:txBody>
      </p:sp>
      <p:sp>
        <p:nvSpPr>
          <p:cNvPr id="13" name="">
            <a:extLst xmlns:a="http://schemas.openxmlformats.org/drawingml/2006/main">
              <a:ext uri="{FF2B5EF4-FFF2-40B4-BE49-F238E27FC236}">
                <a16:creationId xmlns:a16="http://schemas.microsoft.com/office/drawing/2014/main" id="{FD31D7A2-B18F-4FD1-BC97-56B87BE80085}"/>
              </a:ext>
            </a:extLst>
          </p:cNvPr>
          <p:cNvSpPr>
            <a:spLocks xmlns:a="http://schemas.openxmlformats.org/drawingml/2006/main" noGrp="1"/>
          </p:cNvSpPr>
          <p:nvPr/>
        </p:nvSpPr>
        <p:spPr>
          <a:xfrm xmlns:a="http://schemas.openxmlformats.org/drawingml/2006/main">
            <a:off x="3657600" y="3486150"/>
            <a:ext cx="1733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475569"/>
                </a:solidFill>
              </a:defRPr>
            </a:pPr>
            <a:r>
              <a:rPr sz="975" b="0">
                <a:solidFill>
                  <a:srgbClr val="475569"/>
                </a:solidFill>
              </a:rPr>
              <a:t>Clarifies price, availability, reviews</a:t>
            </a:r>
          </a:p>
        </p:txBody>
      </p:sp>
      <p:sp>
        <p:nvSpPr>
          <p:cNvPr id="14" name="">
            <a:extLst xmlns:a="http://schemas.openxmlformats.org/drawingml/2006/main">
              <a:ext uri="{FF2B5EF4-FFF2-40B4-BE49-F238E27FC236}">
                <a16:creationId xmlns:a16="http://schemas.microsoft.com/office/drawing/2014/main" id="{5B3936C9-C2B7-4E5C-90DB-82FB434B8B1A}"/>
              </a:ext>
            </a:extLst>
          </p:cNvPr>
          <p:cNvSpPr>
            <a:spLocks xmlns:a="http://schemas.openxmlformats.org/drawingml/2006/main" noGrp="1"/>
          </p:cNvSpPr>
          <p:nvPr/>
        </p:nvSpPr>
        <p:spPr>
          <a:xfrm xmlns:a="http://schemas.openxmlformats.org/drawingml/2006/main">
            <a:off x="5734050" y="3219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64748B"/>
                </a:solidFill>
              </a:defRPr>
            </a:pPr>
            <a:r>
              <a:rPr sz="1950" b="1">
                <a:solidFill>
                  <a:srgbClr val="64748B"/>
                </a:solidFill>
              </a:rPr>
              <a:t>-&gt;</a:t>
            </a:r>
          </a:p>
        </p:txBody>
      </p:sp>
      <p:sp>
        <p:nvSpPr>
          <p:cNvPr id="15" name="">
            <a:extLst xmlns:a="http://schemas.openxmlformats.org/drawingml/2006/main">
              <a:ext uri="{FF2B5EF4-FFF2-40B4-BE49-F238E27FC236}">
                <a16:creationId xmlns:a16="http://schemas.microsoft.com/office/drawing/2014/main" id="{E5851C61-5583-464A-9370-0EE77B3A85E4}"/>
              </a:ext>
            </a:extLst>
          </p:cNvPr>
          <p:cNvSpPr>
            <a:spLocks xmlns:a="http://schemas.openxmlformats.org/drawingml/2006/main" noGrp="1"/>
          </p:cNvSpPr>
          <p:nvPr/>
        </p:nvSpPr>
        <p:spPr>
          <a:xfrm xmlns:a="http://schemas.openxmlformats.org/drawingml/2006/main">
            <a:off x="6076950" y="2781300"/>
            <a:ext cx="2190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F52FC748-FCA4-4BBB-B9AB-AABC8D076F81}"/>
              </a:ext>
            </a:extLst>
          </p:cNvPr>
          <p:cNvSpPr>
            <a:spLocks xmlns:a="http://schemas.openxmlformats.org/drawingml/2006/main" noGrp="1"/>
          </p:cNvSpPr>
          <p:nvPr/>
        </p:nvSpPr>
        <p:spPr>
          <a:xfrm xmlns:a="http://schemas.openxmlformats.org/drawingml/2006/main">
            <a:off x="6248400" y="2971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D97706"/>
                </a:solidFill>
              </a:defRPr>
            </a:pPr>
            <a:r>
              <a:rPr sz="1800" b="1">
                <a:solidFill>
                  <a:srgbClr val="D97706"/>
                </a:solidFill>
              </a:rPr>
              <a:t>3</a:t>
            </a:r>
          </a:p>
        </p:txBody>
      </p:sp>
      <p:sp>
        <p:nvSpPr>
          <p:cNvPr id="17" name="">
            <a:extLst xmlns:a="http://schemas.openxmlformats.org/drawingml/2006/main">
              <a:ext uri="{FF2B5EF4-FFF2-40B4-BE49-F238E27FC236}">
                <a16:creationId xmlns:a16="http://schemas.microsoft.com/office/drawing/2014/main" id="{8EC58980-982D-4062-AB39-41DDC579E0E8}"/>
              </a:ext>
            </a:extLst>
          </p:cNvPr>
          <p:cNvSpPr>
            <a:spLocks xmlns:a="http://schemas.openxmlformats.org/drawingml/2006/main" noGrp="1"/>
          </p:cNvSpPr>
          <p:nvPr/>
        </p:nvSpPr>
        <p:spPr>
          <a:xfrm xmlns:a="http://schemas.openxmlformats.org/drawingml/2006/main">
            <a:off x="6629400" y="29908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Third-party mentions</a:t>
            </a:r>
          </a:p>
        </p:txBody>
      </p:sp>
      <p:sp>
        <p:nvSpPr>
          <p:cNvPr id="18" name="">
            <a:extLst xmlns:a="http://schemas.openxmlformats.org/drawingml/2006/main">
              <a:ext uri="{FF2B5EF4-FFF2-40B4-BE49-F238E27FC236}">
                <a16:creationId xmlns:a16="http://schemas.microsoft.com/office/drawing/2014/main" id="{12693EA7-E5C4-402B-AEBB-28835CC5DA4B}"/>
              </a:ext>
            </a:extLst>
          </p:cNvPr>
          <p:cNvSpPr>
            <a:spLocks xmlns:a="http://schemas.openxmlformats.org/drawingml/2006/main" noGrp="1"/>
          </p:cNvSpPr>
          <p:nvPr/>
        </p:nvSpPr>
        <p:spPr>
          <a:xfrm xmlns:a="http://schemas.openxmlformats.org/drawingml/2006/main">
            <a:off x="6305550" y="3486150"/>
            <a:ext cx="1733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475569"/>
                </a:solidFill>
              </a:defRPr>
            </a:pPr>
            <a:r>
              <a:rPr sz="975" b="0">
                <a:solidFill>
                  <a:srgbClr val="475569"/>
                </a:solidFill>
              </a:rPr>
              <a:t>Gives external proof and co-citation</a:t>
            </a:r>
          </a:p>
        </p:txBody>
      </p:sp>
      <p:sp>
        <p:nvSpPr>
          <p:cNvPr id="19" name="">
            <a:extLst xmlns:a="http://schemas.openxmlformats.org/drawingml/2006/main">
              <a:ext uri="{FF2B5EF4-FFF2-40B4-BE49-F238E27FC236}">
                <a16:creationId xmlns:a16="http://schemas.microsoft.com/office/drawing/2014/main" id="{66B5C7FF-3A0E-4BD9-A39E-BA7041B474D9}"/>
              </a:ext>
            </a:extLst>
          </p:cNvPr>
          <p:cNvSpPr>
            <a:spLocks xmlns:a="http://schemas.openxmlformats.org/drawingml/2006/main" noGrp="1"/>
          </p:cNvSpPr>
          <p:nvPr/>
        </p:nvSpPr>
        <p:spPr>
          <a:xfrm xmlns:a="http://schemas.openxmlformats.org/drawingml/2006/main">
            <a:off x="8382000" y="3219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64748B"/>
                </a:solidFill>
              </a:defRPr>
            </a:pPr>
            <a:r>
              <a:rPr sz="1950" b="1">
                <a:solidFill>
                  <a:srgbClr val="64748B"/>
                </a:solidFill>
              </a:rPr>
              <a:t>-&gt;</a:t>
            </a:r>
          </a:p>
        </p:txBody>
      </p:sp>
      <p:sp>
        <p:nvSpPr>
          <p:cNvPr id="20" name="">
            <a:extLst xmlns:a="http://schemas.openxmlformats.org/drawingml/2006/main">
              <a:ext uri="{FF2B5EF4-FFF2-40B4-BE49-F238E27FC236}">
                <a16:creationId xmlns:a16="http://schemas.microsoft.com/office/drawing/2014/main" id="{2A9CCDBD-905B-496A-8C62-8072EE64F6AA}"/>
              </a:ext>
            </a:extLst>
          </p:cNvPr>
          <p:cNvSpPr>
            <a:spLocks xmlns:a="http://schemas.openxmlformats.org/drawingml/2006/main" noGrp="1"/>
          </p:cNvSpPr>
          <p:nvPr/>
        </p:nvSpPr>
        <p:spPr>
          <a:xfrm xmlns:a="http://schemas.openxmlformats.org/drawingml/2006/main">
            <a:off x="8724900" y="2781300"/>
            <a:ext cx="2190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F3441337-3A86-4BDD-B0A8-3ADCD971D5E9}"/>
              </a:ext>
            </a:extLst>
          </p:cNvPr>
          <p:cNvSpPr>
            <a:spLocks xmlns:a="http://schemas.openxmlformats.org/drawingml/2006/main" noGrp="1"/>
          </p:cNvSpPr>
          <p:nvPr/>
        </p:nvSpPr>
        <p:spPr>
          <a:xfrm xmlns:a="http://schemas.openxmlformats.org/drawingml/2006/main">
            <a:off x="8896350" y="2971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DC2626"/>
                </a:solidFill>
              </a:defRPr>
            </a:pPr>
            <a:r>
              <a:rPr sz="1800" b="1">
                <a:solidFill>
                  <a:srgbClr val="DC2626"/>
                </a:solidFill>
              </a:rPr>
              <a:t>4</a:t>
            </a:r>
          </a:p>
        </p:txBody>
      </p:sp>
      <p:sp>
        <p:nvSpPr>
          <p:cNvPr id="22" name="">
            <a:extLst xmlns:a="http://schemas.openxmlformats.org/drawingml/2006/main">
              <a:ext uri="{FF2B5EF4-FFF2-40B4-BE49-F238E27FC236}">
                <a16:creationId xmlns:a16="http://schemas.microsoft.com/office/drawing/2014/main" id="{737A7FB7-DFFD-4C71-A7AE-4402C1E20459}"/>
              </a:ext>
            </a:extLst>
          </p:cNvPr>
          <p:cNvSpPr>
            <a:spLocks xmlns:a="http://schemas.openxmlformats.org/drawingml/2006/main" noGrp="1"/>
          </p:cNvSpPr>
          <p:nvPr/>
        </p:nvSpPr>
        <p:spPr>
          <a:xfrm xmlns:a="http://schemas.openxmlformats.org/drawingml/2006/main">
            <a:off x="9277350" y="29908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AI benchmark retest</a:t>
            </a:r>
          </a:p>
        </p:txBody>
      </p:sp>
      <p:sp>
        <p:nvSpPr>
          <p:cNvPr id="23" name="">
            <a:extLst xmlns:a="http://schemas.openxmlformats.org/drawingml/2006/main">
              <a:ext uri="{FF2B5EF4-FFF2-40B4-BE49-F238E27FC236}">
                <a16:creationId xmlns:a16="http://schemas.microsoft.com/office/drawing/2014/main" id="{D3024916-B13D-47AB-9D88-A3E4E3F06D45}"/>
              </a:ext>
            </a:extLst>
          </p:cNvPr>
          <p:cNvSpPr>
            <a:spLocks xmlns:a="http://schemas.openxmlformats.org/drawingml/2006/main" noGrp="1"/>
          </p:cNvSpPr>
          <p:nvPr/>
        </p:nvSpPr>
        <p:spPr>
          <a:xfrm xmlns:a="http://schemas.openxmlformats.org/drawingml/2006/main">
            <a:off x="8953500" y="3486150"/>
            <a:ext cx="1733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475569"/>
                </a:solidFill>
              </a:defRPr>
            </a:pPr>
            <a:r>
              <a:rPr sz="975" b="0">
                <a:solidFill>
                  <a:srgbClr val="475569"/>
                </a:solidFill>
              </a:rPr>
              <a:t>Measures mention, rank, citation, sales</a:t>
            </a:r>
          </a:p>
        </p:txBody>
      </p:sp>
      <p:sp>
        <p:nvSpPr>
          <p:cNvPr id="24" name="">
            <a:extLst xmlns:a="http://schemas.openxmlformats.org/drawingml/2006/main">
              <a:ext uri="{FF2B5EF4-FFF2-40B4-BE49-F238E27FC236}">
                <a16:creationId xmlns:a16="http://schemas.microsoft.com/office/drawing/2014/main" id="{0D5B365A-5165-44A4-B7AF-C8E396E9657B}"/>
              </a:ext>
            </a:extLst>
          </p:cNvPr>
          <p:cNvSpPr>
            <a:spLocks xmlns:a="http://schemas.openxmlformats.org/drawingml/2006/main" noGrp="1"/>
          </p:cNvSpPr>
          <p:nvPr/>
        </p:nvSpPr>
        <p:spPr>
          <a:xfrm xmlns:a="http://schemas.openxmlformats.org/drawingml/2006/main">
            <a:off x="1028700" y="4762500"/>
            <a:ext cx="9525000" cy="742950"/>
          </a:xfrm>
          <a:prstGeom xmlns:a="http://schemas.openxmlformats.org/drawingml/2006/main" prst="roundRect">
            <a:avLst>
              <a:gd name="adj" fmla="val 10256"/>
            </a:avLst>
          </a:prstGeom>
          <a:solidFill xmlns:a="http://schemas.openxmlformats.org/drawingml/2006/main">
            <a:srgbClr val="FFF7ED"/>
          </a:solidFill>
          <a:ln xmlns:a="http://schemas.openxmlformats.org/drawingml/2006/main" w="9525">
            <a:solidFill>
              <a:srgbClr val="FED7AA"/>
            </a:solidFill>
            <a:prstDash val="solid"/>
          </a:ln>
        </p:spPr>
      </p:sp>
      <p:sp>
        <p:nvSpPr>
          <p:cNvPr id="25" name="">
            <a:extLst xmlns:a="http://schemas.openxmlformats.org/drawingml/2006/main">
              <a:ext uri="{FF2B5EF4-FFF2-40B4-BE49-F238E27FC236}">
                <a16:creationId xmlns:a16="http://schemas.microsoft.com/office/drawing/2014/main" id="{4381E2C8-A9F2-49FA-A65E-AD937D2466BF}"/>
              </a:ext>
            </a:extLst>
          </p:cNvPr>
          <p:cNvSpPr>
            <a:spLocks xmlns:a="http://schemas.openxmlformats.org/drawingml/2006/main" noGrp="1"/>
          </p:cNvSpPr>
          <p:nvPr/>
        </p:nvSpPr>
        <p:spPr>
          <a:xfrm xmlns:a="http://schemas.openxmlformats.org/drawingml/2006/main">
            <a:off x="1276350" y="49720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D97706"/>
                </a:solidFill>
              </a:defRPr>
            </a:pPr>
            <a:r>
              <a:rPr sz="1350" b="1">
                <a:solidFill>
                  <a:srgbClr val="D97706"/>
                </a:solidFill>
              </a:rPr>
              <a:t>Practical meaning</a:t>
            </a:r>
          </a:p>
        </p:txBody>
      </p:sp>
      <p:sp>
        <p:nvSpPr>
          <p:cNvPr id="26" name="">
            <a:extLst xmlns:a="http://schemas.openxmlformats.org/drawingml/2006/main">
              <a:ext uri="{FF2B5EF4-FFF2-40B4-BE49-F238E27FC236}">
                <a16:creationId xmlns:a16="http://schemas.microsoft.com/office/drawing/2014/main" id="{ABE9EF11-5A8D-47C3-9889-74EEEBFF532C}"/>
              </a:ext>
            </a:extLst>
          </p:cNvPr>
          <p:cNvSpPr>
            <a:spLocks xmlns:a="http://schemas.openxmlformats.org/drawingml/2006/main" noGrp="1"/>
          </p:cNvSpPr>
          <p:nvPr/>
        </p:nvSpPr>
        <p:spPr>
          <a:xfrm xmlns:a="http://schemas.openxmlformats.org/drawingml/2006/main">
            <a:off x="3095625" y="490537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We should still publish and improve pages, but the big AEO/GEO test is whether trusted third-party surfaces start citing iBOLT for the same category language our pages use.</a:t>
            </a:r>
          </a:p>
        </p:txBody>
      </p:sp>
      <p:sp>
        <p:nvSpPr>
          <p:cNvPr id="27" name="">
            <a:extLst xmlns:a="http://schemas.openxmlformats.org/drawingml/2006/main">
              <a:ext uri="{FF2B5EF4-FFF2-40B4-BE49-F238E27FC236}">
                <a16:creationId xmlns:a16="http://schemas.microsoft.com/office/drawing/2014/main" id="{E988794A-0D8A-45E0-88F4-A748A1ADCE88}"/>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Sources: Google Search Central AI features guidance, Product structured data docs, Ahrefs AIO citation study.</a:t>
            </a:r>
          </a:p>
        </p:txBody>
      </p:sp>
      <p:sp>
        <p:nvSpPr>
          <p:cNvPr id="28" name="">
            <a:extLst xmlns:a="http://schemas.openxmlformats.org/drawingml/2006/main">
              <a:ext uri="{FF2B5EF4-FFF2-40B4-BE49-F238E27FC236}">
                <a16:creationId xmlns:a16="http://schemas.microsoft.com/office/drawing/2014/main" id="{932771C2-54D3-41EA-8913-99FA6B54B14A}"/>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72715573"/>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9814E4-DC7C-4D81-BC6A-0B0662D209C1}"/>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547D1EDA-8DE3-4139-90CF-CD807EDC256A}"/>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Where competitors currently get trusted/cited</a:t>
            </a:r>
          </a:p>
        </p:txBody>
      </p:sp>
      <p:sp>
        <p:nvSpPr>
          <p:cNvPr id="3" name="">
            <a:extLst xmlns:a="http://schemas.openxmlformats.org/drawingml/2006/main">
              <a:ext uri="{FF2B5EF4-FFF2-40B4-BE49-F238E27FC236}">
                <a16:creationId xmlns:a16="http://schemas.microsoft.com/office/drawing/2014/main" id="{2AFAAB4E-A5B6-4F55-820B-61D9D714B844}"/>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A13BA2-43C1-43CC-8C19-470B3DF461BF}"/>
              </a:ext>
            </a:extLst>
          </p:cNvPr>
          <p:cNvSpPr>
            <a:spLocks xmlns:a="http://schemas.openxmlformats.org/drawingml/2006/main" noGrp="1"/>
          </p:cNvSpPr>
          <p:nvPr/>
        </p:nvSpPr>
        <p:spPr>
          <a:xfrm xmlns:a="http://schemas.openxmlformats.org/drawingml/2006/main">
            <a:off x="609600" y="1600200"/>
            <a:ext cx="1057275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9CA1839-F037-415B-B7EB-243378FEDE8E}"/>
              </a:ext>
            </a:extLst>
          </p:cNvPr>
          <p:cNvSpPr>
            <a:spLocks xmlns:a="http://schemas.openxmlformats.org/drawingml/2006/main" noGrp="1"/>
          </p:cNvSpPr>
          <p:nvPr/>
        </p:nvSpPr>
        <p:spPr>
          <a:xfrm xmlns:a="http://schemas.openxmlformats.org/drawingml/2006/main">
            <a:off x="876300" y="18478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64748B"/>
                </a:solidFill>
              </a:defRPr>
            </a:pPr>
            <a:r>
              <a:rPr sz="975" b="1">
                <a:solidFill>
                  <a:srgbClr val="64748B"/>
                </a:solidFill>
              </a:rPr>
              <a:t>Brand</a:t>
            </a:r>
          </a:p>
        </p:txBody>
      </p:sp>
      <p:sp>
        <p:nvSpPr>
          <p:cNvPr id="6" name="">
            <a:extLst xmlns:a="http://schemas.openxmlformats.org/drawingml/2006/main">
              <a:ext uri="{FF2B5EF4-FFF2-40B4-BE49-F238E27FC236}">
                <a16:creationId xmlns:a16="http://schemas.microsoft.com/office/drawing/2014/main" id="{FDE6B2F6-4093-44F3-934C-1EE32BA98D75}"/>
              </a:ext>
            </a:extLst>
          </p:cNvPr>
          <p:cNvSpPr>
            <a:spLocks xmlns:a="http://schemas.openxmlformats.org/drawingml/2006/main" noGrp="1"/>
          </p:cNvSpPr>
          <p:nvPr/>
        </p:nvSpPr>
        <p:spPr>
          <a:xfrm xmlns:a="http://schemas.openxmlformats.org/drawingml/2006/main">
            <a:off x="2571750" y="1847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64748B"/>
                </a:solidFill>
              </a:defRPr>
            </a:pPr>
            <a:r>
              <a:rPr sz="975" b="1">
                <a:solidFill>
                  <a:srgbClr val="64748B"/>
                </a:solidFill>
              </a:rPr>
              <a:t>Citation/source surfaces</a:t>
            </a:r>
          </a:p>
        </p:txBody>
      </p:sp>
      <p:sp>
        <p:nvSpPr>
          <p:cNvPr id="7" name="">
            <a:extLst xmlns:a="http://schemas.openxmlformats.org/drawingml/2006/main">
              <a:ext uri="{FF2B5EF4-FFF2-40B4-BE49-F238E27FC236}">
                <a16:creationId xmlns:a16="http://schemas.microsoft.com/office/drawing/2014/main" id="{583BDD54-8F0F-4899-9095-B687F42C46A5}"/>
              </a:ext>
            </a:extLst>
          </p:cNvPr>
          <p:cNvSpPr>
            <a:spLocks xmlns:a="http://schemas.openxmlformats.org/drawingml/2006/main" noGrp="1"/>
          </p:cNvSpPr>
          <p:nvPr/>
        </p:nvSpPr>
        <p:spPr>
          <a:xfrm xmlns:a="http://schemas.openxmlformats.org/drawingml/2006/main">
            <a:off x="7096125" y="18478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64748B"/>
                </a:solidFill>
              </a:defRPr>
            </a:pPr>
            <a:r>
              <a:rPr sz="975" b="1">
                <a:solidFill>
                  <a:srgbClr val="64748B"/>
                </a:solidFill>
              </a:rPr>
              <a:t>Why AI can trust it</a:t>
            </a:r>
          </a:p>
        </p:txBody>
      </p:sp>
      <p:sp>
        <p:nvSpPr>
          <p:cNvPr id="8" name="">
            <a:extLst xmlns:a="http://schemas.openxmlformats.org/drawingml/2006/main">
              <a:ext uri="{FF2B5EF4-FFF2-40B4-BE49-F238E27FC236}">
                <a16:creationId xmlns:a16="http://schemas.microsoft.com/office/drawing/2014/main" id="{CE66BA31-E8AA-49BB-AF96-EDE6B5CD2D50}"/>
              </a:ext>
            </a:extLst>
          </p:cNvPr>
          <p:cNvSpPr>
            <a:spLocks xmlns:a="http://schemas.openxmlformats.org/drawingml/2006/main" noGrp="1"/>
          </p:cNvSpPr>
          <p:nvPr/>
        </p:nvSpPr>
        <p:spPr>
          <a:xfrm xmlns:a="http://schemas.openxmlformats.org/drawingml/2006/main">
            <a:off x="876300" y="2133600"/>
            <a:ext cx="9810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4B9939-6C02-4128-96D4-7B6AA56F92CA}"/>
              </a:ext>
            </a:extLst>
          </p:cNvPr>
          <p:cNvSpPr>
            <a:spLocks xmlns:a="http://schemas.openxmlformats.org/drawingml/2006/main" noGrp="1"/>
          </p:cNvSpPr>
          <p:nvPr/>
        </p:nvSpPr>
        <p:spPr>
          <a:xfrm xmlns:a="http://schemas.openxmlformats.org/drawingml/2006/main">
            <a:off x="876300" y="22288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RAM</a:t>
            </a:r>
          </a:p>
        </p:txBody>
      </p:sp>
      <p:sp>
        <p:nvSpPr>
          <p:cNvPr id="10" name="">
            <a:extLst xmlns:a="http://schemas.openxmlformats.org/drawingml/2006/main">
              <a:ext uri="{FF2B5EF4-FFF2-40B4-BE49-F238E27FC236}">
                <a16:creationId xmlns:a16="http://schemas.microsoft.com/office/drawing/2014/main" id="{C6BD3F2B-A783-4314-B346-A233232D774E}"/>
              </a:ext>
            </a:extLst>
          </p:cNvPr>
          <p:cNvSpPr>
            <a:spLocks xmlns:a="http://schemas.openxmlformats.org/drawingml/2006/main" noGrp="1"/>
          </p:cNvSpPr>
          <p:nvPr/>
        </p:nvSpPr>
        <p:spPr>
          <a:xfrm xmlns:a="http://schemas.openxmlformats.org/drawingml/2006/main">
            <a:off x="2571750" y="22288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Industry hubs, ELD, fishfinder, catalogs, case studies</a:t>
            </a:r>
          </a:p>
        </p:txBody>
      </p:sp>
      <p:sp>
        <p:nvSpPr>
          <p:cNvPr id="11" name="">
            <a:extLst xmlns:a="http://schemas.openxmlformats.org/drawingml/2006/main">
              <a:ext uri="{FF2B5EF4-FFF2-40B4-BE49-F238E27FC236}">
                <a16:creationId xmlns:a16="http://schemas.microsoft.com/office/drawing/2014/main" id="{6E7FD09E-6C75-4688-AFDA-212DA06E6073}"/>
              </a:ext>
            </a:extLst>
          </p:cNvPr>
          <p:cNvSpPr>
            <a:spLocks xmlns:a="http://schemas.openxmlformats.org/drawingml/2006/main" noGrp="1"/>
          </p:cNvSpPr>
          <p:nvPr/>
        </p:nvSpPr>
        <p:spPr>
          <a:xfrm xmlns:a="http://schemas.openxmlformats.org/drawingml/2006/main">
            <a:off x="7096125" y="22288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Official taxonomy + compatibility depth</a:t>
            </a:r>
          </a:p>
        </p:txBody>
      </p:sp>
      <p:sp>
        <p:nvSpPr>
          <p:cNvPr id="12" name="">
            <a:extLst xmlns:a="http://schemas.openxmlformats.org/drawingml/2006/main">
              <a:ext uri="{FF2B5EF4-FFF2-40B4-BE49-F238E27FC236}">
                <a16:creationId xmlns:a16="http://schemas.microsoft.com/office/drawing/2014/main" id="{02F23CC8-ADEB-4C71-88EC-CC70BD9A59BB}"/>
              </a:ext>
            </a:extLst>
          </p:cNvPr>
          <p:cNvSpPr>
            <a:spLocks xmlns:a="http://schemas.openxmlformats.org/drawingml/2006/main" noGrp="1"/>
          </p:cNvSpPr>
          <p:nvPr/>
        </p:nvSpPr>
        <p:spPr>
          <a:xfrm xmlns:a="http://schemas.openxmlformats.org/drawingml/2006/main">
            <a:off x="876300" y="2762250"/>
            <a:ext cx="9810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598D3C4-E417-4F27-9FC4-B41F6628FECC}"/>
              </a:ext>
            </a:extLst>
          </p:cNvPr>
          <p:cNvSpPr>
            <a:spLocks xmlns:a="http://schemas.openxmlformats.org/drawingml/2006/main" noGrp="1"/>
          </p:cNvSpPr>
          <p:nvPr/>
        </p:nvSpPr>
        <p:spPr>
          <a:xfrm xmlns:a="http://schemas.openxmlformats.org/drawingml/2006/main">
            <a:off x="876300" y="28575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Arkon</a:t>
            </a:r>
          </a:p>
        </p:txBody>
      </p:sp>
      <p:sp>
        <p:nvSpPr>
          <p:cNvPr id="14" name="">
            <a:extLst xmlns:a="http://schemas.openxmlformats.org/drawingml/2006/main">
              <a:ext uri="{FF2B5EF4-FFF2-40B4-BE49-F238E27FC236}">
                <a16:creationId xmlns:a16="http://schemas.microsoft.com/office/drawing/2014/main" id="{174E487A-3A10-4137-9C06-FF4FB20E6A10}"/>
              </a:ext>
            </a:extLst>
          </p:cNvPr>
          <p:cNvSpPr>
            <a:spLocks xmlns:a="http://schemas.openxmlformats.org/drawingml/2006/main" noGrp="1"/>
          </p:cNvSpPr>
          <p:nvPr/>
        </p:nvSpPr>
        <p:spPr>
          <a:xfrm xmlns:a="http://schemas.openxmlformats.org/drawingml/2006/main">
            <a:off x="2571750" y="28575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AMPS explainer, POS, forklift, creator examples</a:t>
            </a:r>
          </a:p>
        </p:txBody>
      </p:sp>
      <p:sp>
        <p:nvSpPr>
          <p:cNvPr id="15" name="">
            <a:extLst xmlns:a="http://schemas.openxmlformats.org/drawingml/2006/main">
              <a:ext uri="{FF2B5EF4-FFF2-40B4-BE49-F238E27FC236}">
                <a16:creationId xmlns:a16="http://schemas.microsoft.com/office/drawing/2014/main" id="{A4400B89-1F80-4985-9897-A7E2ECDB3805}"/>
              </a:ext>
            </a:extLst>
          </p:cNvPr>
          <p:cNvSpPr>
            <a:spLocks xmlns:a="http://schemas.openxmlformats.org/drawingml/2006/main" noGrp="1"/>
          </p:cNvSpPr>
          <p:nvPr/>
        </p:nvSpPr>
        <p:spPr>
          <a:xfrm xmlns:a="http://schemas.openxmlformats.org/drawingml/2006/main">
            <a:off x="7096125" y="28575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Owns educational AMPS language</a:t>
            </a:r>
          </a:p>
        </p:txBody>
      </p:sp>
      <p:sp>
        <p:nvSpPr>
          <p:cNvPr id="16" name="">
            <a:extLst xmlns:a="http://schemas.openxmlformats.org/drawingml/2006/main">
              <a:ext uri="{FF2B5EF4-FFF2-40B4-BE49-F238E27FC236}">
                <a16:creationId xmlns:a16="http://schemas.microsoft.com/office/drawing/2014/main" id="{B57ED984-144C-4315-BC19-25A5FC0FD8CE}"/>
              </a:ext>
            </a:extLst>
          </p:cNvPr>
          <p:cNvSpPr>
            <a:spLocks xmlns:a="http://schemas.openxmlformats.org/drawingml/2006/main" noGrp="1"/>
          </p:cNvSpPr>
          <p:nvPr/>
        </p:nvSpPr>
        <p:spPr>
          <a:xfrm xmlns:a="http://schemas.openxmlformats.org/drawingml/2006/main">
            <a:off x="876300" y="3390900"/>
            <a:ext cx="9810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01EDE0-EDCE-4D4B-91D6-8F02F9CEB11F}"/>
              </a:ext>
            </a:extLst>
          </p:cNvPr>
          <p:cNvSpPr>
            <a:spLocks xmlns:a="http://schemas.openxmlformats.org/drawingml/2006/main" noGrp="1"/>
          </p:cNvSpPr>
          <p:nvPr/>
        </p:nvSpPr>
        <p:spPr>
          <a:xfrm xmlns:a="http://schemas.openxmlformats.org/drawingml/2006/main">
            <a:off x="876300" y="34861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ProClip/Havis</a:t>
            </a:r>
          </a:p>
        </p:txBody>
      </p:sp>
      <p:sp>
        <p:nvSpPr>
          <p:cNvPr id="18" name="">
            <a:extLst xmlns:a="http://schemas.openxmlformats.org/drawingml/2006/main">
              <a:ext uri="{FF2B5EF4-FFF2-40B4-BE49-F238E27FC236}">
                <a16:creationId xmlns:a16="http://schemas.microsoft.com/office/drawing/2014/main" id="{45D69761-062C-4142-82A3-1E67DC4762E3}"/>
              </a:ext>
            </a:extLst>
          </p:cNvPr>
          <p:cNvSpPr>
            <a:spLocks xmlns:a="http://schemas.openxmlformats.org/drawingml/2006/main" noGrp="1"/>
          </p:cNvSpPr>
          <p:nvPr/>
        </p:nvSpPr>
        <p:spPr>
          <a:xfrm xmlns:a="http://schemas.openxmlformats.org/drawingml/2006/main">
            <a:off x="2571750" y="3486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Fitment, fleet, rugged tablet/docking pages</a:t>
            </a:r>
          </a:p>
        </p:txBody>
      </p:sp>
      <p:sp>
        <p:nvSpPr>
          <p:cNvPr id="19" name="">
            <a:extLst xmlns:a="http://schemas.openxmlformats.org/drawingml/2006/main">
              <a:ext uri="{FF2B5EF4-FFF2-40B4-BE49-F238E27FC236}">
                <a16:creationId xmlns:a16="http://schemas.microsoft.com/office/drawing/2014/main" id="{F4BE4DC8-3FDD-41C1-AA87-7632DD268DE4}"/>
              </a:ext>
            </a:extLst>
          </p:cNvPr>
          <p:cNvSpPr>
            <a:spLocks xmlns:a="http://schemas.openxmlformats.org/drawingml/2006/main" noGrp="1"/>
          </p:cNvSpPr>
          <p:nvPr/>
        </p:nvSpPr>
        <p:spPr>
          <a:xfrm xmlns:a="http://schemas.openxmlformats.org/drawingml/2006/main">
            <a:off x="7096125" y="34861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Commercial specificity and device fit</a:t>
            </a:r>
          </a:p>
        </p:txBody>
      </p:sp>
      <p:sp>
        <p:nvSpPr>
          <p:cNvPr id="20" name="">
            <a:extLst xmlns:a="http://schemas.openxmlformats.org/drawingml/2006/main">
              <a:ext uri="{FF2B5EF4-FFF2-40B4-BE49-F238E27FC236}">
                <a16:creationId xmlns:a16="http://schemas.microsoft.com/office/drawing/2014/main" id="{AF8A9E5B-D68E-4FFA-829E-5ECBF665CF7E}"/>
              </a:ext>
            </a:extLst>
          </p:cNvPr>
          <p:cNvSpPr>
            <a:spLocks xmlns:a="http://schemas.openxmlformats.org/drawingml/2006/main" noGrp="1"/>
          </p:cNvSpPr>
          <p:nvPr/>
        </p:nvSpPr>
        <p:spPr>
          <a:xfrm xmlns:a="http://schemas.openxmlformats.org/drawingml/2006/main">
            <a:off x="876300" y="4019550"/>
            <a:ext cx="9810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F14B0A-9453-4882-9A0B-73F80DEDC5D9}"/>
              </a:ext>
            </a:extLst>
          </p:cNvPr>
          <p:cNvSpPr>
            <a:spLocks xmlns:a="http://schemas.openxmlformats.org/drawingml/2006/main" noGrp="1"/>
          </p:cNvSpPr>
          <p:nvPr/>
        </p:nvSpPr>
        <p:spPr>
          <a:xfrm xmlns:a="http://schemas.openxmlformats.org/drawingml/2006/main">
            <a:off x="876300" y="41148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iOttie</a:t>
            </a:r>
          </a:p>
        </p:txBody>
      </p:sp>
      <p:sp>
        <p:nvSpPr>
          <p:cNvPr id="22" name="">
            <a:extLst xmlns:a="http://schemas.openxmlformats.org/drawingml/2006/main">
              <a:ext uri="{FF2B5EF4-FFF2-40B4-BE49-F238E27FC236}">
                <a16:creationId xmlns:a16="http://schemas.microsoft.com/office/drawing/2014/main" id="{080D0285-BF1D-4AB0-8496-D889670003B1}"/>
              </a:ext>
            </a:extLst>
          </p:cNvPr>
          <p:cNvSpPr>
            <a:spLocks xmlns:a="http://schemas.openxmlformats.org/drawingml/2006/main" noGrp="1"/>
          </p:cNvSpPr>
          <p:nvPr/>
        </p:nvSpPr>
        <p:spPr>
          <a:xfrm xmlns:a="http://schemas.openxmlformats.org/drawingml/2006/main">
            <a:off x="2571750" y="41148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Publisher reviews and best-phone-mount roundups</a:t>
            </a:r>
          </a:p>
        </p:txBody>
      </p:sp>
      <p:sp>
        <p:nvSpPr>
          <p:cNvPr id="23" name="">
            <a:extLst xmlns:a="http://schemas.openxmlformats.org/drawingml/2006/main">
              <a:ext uri="{FF2B5EF4-FFF2-40B4-BE49-F238E27FC236}">
                <a16:creationId xmlns:a16="http://schemas.microsoft.com/office/drawing/2014/main" id="{07F0F7E5-AB8A-49B4-AFCF-19E8D8450078}"/>
              </a:ext>
            </a:extLst>
          </p:cNvPr>
          <p:cNvSpPr>
            <a:spLocks xmlns:a="http://schemas.openxmlformats.org/drawingml/2006/main" noGrp="1"/>
          </p:cNvSpPr>
          <p:nvPr/>
        </p:nvSpPr>
        <p:spPr>
          <a:xfrm xmlns:a="http://schemas.openxmlformats.org/drawingml/2006/main">
            <a:off x="7096125" y="41148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Third-party consumer proof</a:t>
            </a:r>
          </a:p>
        </p:txBody>
      </p:sp>
      <p:sp>
        <p:nvSpPr>
          <p:cNvPr id="24" name="">
            <a:extLst xmlns:a="http://schemas.openxmlformats.org/drawingml/2006/main">
              <a:ext uri="{FF2B5EF4-FFF2-40B4-BE49-F238E27FC236}">
                <a16:creationId xmlns:a16="http://schemas.microsoft.com/office/drawing/2014/main" id="{17DD7BF7-CBB1-4799-BBC7-44DE28E66CFA}"/>
              </a:ext>
            </a:extLst>
          </p:cNvPr>
          <p:cNvSpPr>
            <a:spLocks xmlns:a="http://schemas.openxmlformats.org/drawingml/2006/main" noGrp="1"/>
          </p:cNvSpPr>
          <p:nvPr/>
        </p:nvSpPr>
        <p:spPr>
          <a:xfrm xmlns:a="http://schemas.openxmlformats.org/drawingml/2006/main">
            <a:off x="876300" y="4648200"/>
            <a:ext cx="981075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6F0DE54-8F93-4DF0-9BF1-C1D3FF34DE17}"/>
              </a:ext>
            </a:extLst>
          </p:cNvPr>
          <p:cNvSpPr>
            <a:spLocks xmlns:a="http://schemas.openxmlformats.org/drawingml/2006/main" noGrp="1"/>
          </p:cNvSpPr>
          <p:nvPr/>
        </p:nvSpPr>
        <p:spPr>
          <a:xfrm xmlns:a="http://schemas.openxmlformats.org/drawingml/2006/main">
            <a:off x="876300" y="47434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11827"/>
                </a:solidFill>
              </a:defRPr>
            </a:pPr>
            <a:r>
              <a:rPr sz="1275" b="1">
                <a:solidFill>
                  <a:srgbClr val="111827"/>
                </a:solidFill>
              </a:rPr>
              <a:t>YakAttack/Scotty/Garmin</a:t>
            </a:r>
          </a:p>
        </p:txBody>
      </p:sp>
      <p:sp>
        <p:nvSpPr>
          <p:cNvPr id="26" name="">
            <a:extLst xmlns:a="http://schemas.openxmlformats.org/drawingml/2006/main">
              <a:ext uri="{FF2B5EF4-FFF2-40B4-BE49-F238E27FC236}">
                <a16:creationId xmlns:a16="http://schemas.microsoft.com/office/drawing/2014/main" id="{577136B9-5498-4804-B6C1-3857AF1466E0}"/>
              </a:ext>
            </a:extLst>
          </p:cNvPr>
          <p:cNvSpPr>
            <a:spLocks xmlns:a="http://schemas.openxmlformats.org/drawingml/2006/main" noGrp="1"/>
          </p:cNvSpPr>
          <p:nvPr/>
        </p:nvSpPr>
        <p:spPr>
          <a:xfrm xmlns:a="http://schemas.openxmlformats.org/drawingml/2006/main">
            <a:off x="2571750" y="47434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Marine compatibility, forums, YouTube</a:t>
            </a:r>
          </a:p>
        </p:txBody>
      </p:sp>
      <p:sp>
        <p:nvSpPr>
          <p:cNvPr id="27" name="">
            <a:extLst xmlns:a="http://schemas.openxmlformats.org/drawingml/2006/main">
              <a:ext uri="{FF2B5EF4-FFF2-40B4-BE49-F238E27FC236}">
                <a16:creationId xmlns:a16="http://schemas.microsoft.com/office/drawing/2014/main" id="{67389716-BBF1-4245-BED5-E4107F09562C}"/>
              </a:ext>
            </a:extLst>
          </p:cNvPr>
          <p:cNvSpPr>
            <a:spLocks xmlns:a="http://schemas.openxmlformats.org/drawingml/2006/main" noGrp="1"/>
          </p:cNvSpPr>
          <p:nvPr/>
        </p:nvSpPr>
        <p:spPr>
          <a:xfrm xmlns:a="http://schemas.openxmlformats.org/drawingml/2006/main">
            <a:off x="7096125" y="47434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Fish finder and kayak/pontoon vocabulary</a:t>
            </a:r>
          </a:p>
        </p:txBody>
      </p:sp>
      <p:sp>
        <p:nvSpPr>
          <p:cNvPr id="28" name="">
            <a:extLst xmlns:a="http://schemas.openxmlformats.org/drawingml/2006/main">
              <a:ext uri="{FF2B5EF4-FFF2-40B4-BE49-F238E27FC236}">
                <a16:creationId xmlns:a16="http://schemas.microsoft.com/office/drawing/2014/main" id="{3BA06731-B00F-4F4E-BF00-101DAAA92D84}"/>
              </a:ext>
            </a:extLst>
          </p:cNvPr>
          <p:cNvSpPr>
            <a:spLocks xmlns:a="http://schemas.openxmlformats.org/drawingml/2006/main" noGrp="1"/>
          </p:cNvSpPr>
          <p:nvPr/>
        </p:nvSpPr>
        <p:spPr>
          <a:xfrm xmlns:a="http://schemas.openxmlformats.org/drawingml/2006/main">
            <a:off x="1028700" y="575310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iBOLT play: match the official source coverage, then get external pages to repeat the same entity/category language.</a:t>
            </a:r>
          </a:p>
        </p:txBody>
      </p:sp>
      <p:sp>
        <p:nvSpPr>
          <p:cNvPr id="29" name="">
            <a:extLst xmlns:a="http://schemas.openxmlformats.org/drawingml/2006/main">
              <a:ext uri="{FF2B5EF4-FFF2-40B4-BE49-F238E27FC236}">
                <a16:creationId xmlns:a16="http://schemas.microsoft.com/office/drawing/2014/main" id="{12DF1F4A-633B-4699-A25C-3D96395AEBAF}"/>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Research packet: content-output/competitor-citation-research-2026-06-24/</a:t>
            </a:r>
          </a:p>
        </p:txBody>
      </p:sp>
      <p:sp>
        <p:nvSpPr>
          <p:cNvPr id="30" name="">
            <a:extLst xmlns:a="http://schemas.openxmlformats.org/drawingml/2006/main">
              <a:ext uri="{FF2B5EF4-FFF2-40B4-BE49-F238E27FC236}">
                <a16:creationId xmlns:a16="http://schemas.microsoft.com/office/drawing/2014/main" id="{5D92EC6E-2091-4275-AB6C-150817A9E8AD}"/>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22749574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17A1B8-58A6-4530-95E9-E316967A2B3F}"/>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A9A9041C-F965-454A-81E3-3E41FA009C20}"/>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What competitors have that iBOLT should build next</a:t>
            </a:r>
          </a:p>
        </p:txBody>
      </p:sp>
      <p:sp>
        <p:nvSpPr>
          <p:cNvPr id="3" name="">
            <a:extLst xmlns:a="http://schemas.openxmlformats.org/drawingml/2006/main">
              <a:ext uri="{FF2B5EF4-FFF2-40B4-BE49-F238E27FC236}">
                <a16:creationId xmlns:a16="http://schemas.microsoft.com/office/drawing/2014/main" id="{4D2FDD98-86C7-49D3-8953-74C153FF30A7}"/>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3D7180-81CF-49E1-B614-C5C64AE4C8E1}"/>
              </a:ext>
            </a:extLst>
          </p:cNvPr>
          <p:cNvSpPr>
            <a:spLocks xmlns:a="http://schemas.openxmlformats.org/drawingml/2006/main" noGrp="1"/>
          </p:cNvSpPr>
          <p:nvPr/>
        </p:nvSpPr>
        <p:spPr>
          <a:xfrm xmlns:a="http://schemas.openxmlformats.org/drawingml/2006/main">
            <a:off x="609600" y="1657350"/>
            <a:ext cx="3143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9B74831-50CB-4671-90AC-BB7D2813EDD2}"/>
              </a:ext>
            </a:extLst>
          </p:cNvPr>
          <p:cNvSpPr>
            <a:spLocks xmlns:a="http://schemas.openxmlformats.org/drawingml/2006/main" noGrp="1"/>
          </p:cNvSpPr>
          <p:nvPr/>
        </p:nvSpPr>
        <p:spPr>
          <a:xfrm xmlns:a="http://schemas.openxmlformats.org/drawingml/2006/main">
            <a:off x="819150" y="18669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59669"/>
                </a:solidFill>
              </a:defRPr>
            </a:pPr>
            <a:r>
              <a:rPr sz="1425" b="1">
                <a:solidFill>
                  <a:srgbClr val="059669"/>
                </a:solidFill>
              </a:rPr>
              <a:t>Vertical solution hubs</a:t>
            </a:r>
          </a:p>
        </p:txBody>
      </p:sp>
      <p:sp>
        <p:nvSpPr>
          <p:cNvPr id="6" name="">
            <a:extLst xmlns:a="http://schemas.openxmlformats.org/drawingml/2006/main">
              <a:ext uri="{FF2B5EF4-FFF2-40B4-BE49-F238E27FC236}">
                <a16:creationId xmlns:a16="http://schemas.microsoft.com/office/drawing/2014/main" id="{99FCE503-80BD-4E93-AB13-C15555E82D31}"/>
              </a:ext>
            </a:extLst>
          </p:cNvPr>
          <p:cNvSpPr>
            <a:spLocks xmlns:a="http://schemas.openxmlformats.org/drawingml/2006/main" noGrp="1"/>
          </p:cNvSpPr>
          <p:nvPr/>
        </p:nvSpPr>
        <p:spPr>
          <a:xfrm xmlns:a="http://schemas.openxmlformats.org/drawingml/2006/main">
            <a:off x="819150" y="23241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Restaurant tablets, forklift tablets, ELD/fleet, marine fish finder, live streaming</a:t>
            </a:r>
          </a:p>
        </p:txBody>
      </p:sp>
      <p:sp>
        <p:nvSpPr>
          <p:cNvPr id="7" name="">
            <a:extLst xmlns:a="http://schemas.openxmlformats.org/drawingml/2006/main">
              <a:ext uri="{FF2B5EF4-FFF2-40B4-BE49-F238E27FC236}">
                <a16:creationId xmlns:a16="http://schemas.microsoft.com/office/drawing/2014/main" id="{D535470A-1F80-4C9E-ADD5-EBD95D1481CC}"/>
              </a:ext>
            </a:extLst>
          </p:cNvPr>
          <p:cNvSpPr>
            <a:spLocks xmlns:a="http://schemas.openxmlformats.org/drawingml/2006/main" noGrp="1"/>
          </p:cNvSpPr>
          <p:nvPr/>
        </p:nvSpPr>
        <p:spPr>
          <a:xfrm xmlns:a="http://schemas.openxmlformats.org/drawingml/2006/main">
            <a:off x="4324350" y="1657350"/>
            <a:ext cx="3143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B64839F-2785-4449-9912-CDDF9846D147}"/>
              </a:ext>
            </a:extLst>
          </p:cNvPr>
          <p:cNvSpPr>
            <a:spLocks xmlns:a="http://schemas.openxmlformats.org/drawingml/2006/main" noGrp="1"/>
          </p:cNvSpPr>
          <p:nvPr/>
        </p:nvSpPr>
        <p:spPr>
          <a:xfrm xmlns:a="http://schemas.openxmlformats.org/drawingml/2006/main">
            <a:off x="4533900" y="18669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2563EB"/>
                </a:solidFill>
              </a:defRPr>
            </a:pPr>
            <a:r>
              <a:rPr sz="1425" b="1">
                <a:solidFill>
                  <a:srgbClr val="2563EB"/>
                </a:solidFill>
              </a:rPr>
              <a:t>Compatibility pages</a:t>
            </a:r>
          </a:p>
        </p:txBody>
      </p:sp>
      <p:sp>
        <p:nvSpPr>
          <p:cNvPr id="9" name="">
            <a:extLst xmlns:a="http://schemas.openxmlformats.org/drawingml/2006/main">
              <a:ext uri="{FF2B5EF4-FFF2-40B4-BE49-F238E27FC236}">
                <a16:creationId xmlns:a16="http://schemas.microsoft.com/office/drawing/2014/main" id="{34889F46-6A43-4D92-B1F9-0C62E819D8B2}"/>
              </a:ext>
            </a:extLst>
          </p:cNvPr>
          <p:cNvSpPr>
            <a:spLocks xmlns:a="http://schemas.openxmlformats.org/drawingml/2006/main" noGrp="1"/>
          </p:cNvSpPr>
          <p:nvPr/>
        </p:nvSpPr>
        <p:spPr>
          <a:xfrm xmlns:a="http://schemas.openxmlformats.org/drawingml/2006/main">
            <a:off x="4533900" y="23241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Garmin, Lowrance, Humminbird, Zebra, Samsung Tab Active, iPad, delivery vans</a:t>
            </a:r>
          </a:p>
        </p:txBody>
      </p:sp>
      <p:sp>
        <p:nvSpPr>
          <p:cNvPr id="10" name="">
            <a:extLst xmlns:a="http://schemas.openxmlformats.org/drawingml/2006/main">
              <a:ext uri="{FF2B5EF4-FFF2-40B4-BE49-F238E27FC236}">
                <a16:creationId xmlns:a16="http://schemas.microsoft.com/office/drawing/2014/main" id="{58DC0E69-9795-411A-A1AD-F8FD7F11CD51}"/>
              </a:ext>
            </a:extLst>
          </p:cNvPr>
          <p:cNvSpPr>
            <a:spLocks xmlns:a="http://schemas.openxmlformats.org/drawingml/2006/main" noGrp="1"/>
          </p:cNvSpPr>
          <p:nvPr/>
        </p:nvSpPr>
        <p:spPr>
          <a:xfrm xmlns:a="http://schemas.openxmlformats.org/drawingml/2006/main">
            <a:off x="8039100" y="1657350"/>
            <a:ext cx="3143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A169433-2BF6-4F48-B8A0-F99B7ED10B32}"/>
              </a:ext>
            </a:extLst>
          </p:cNvPr>
          <p:cNvSpPr>
            <a:spLocks xmlns:a="http://schemas.openxmlformats.org/drawingml/2006/main" noGrp="1"/>
          </p:cNvSpPr>
          <p:nvPr/>
        </p:nvSpPr>
        <p:spPr>
          <a:xfrm xmlns:a="http://schemas.openxmlformats.org/drawingml/2006/main">
            <a:off x="2247900" y="5429250"/>
            <a:ext cx="7696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FFFFFF"/>
                </a:solidFill>
              </a:defRPr>
            </a:pPr>
            <a:r>
              <a:rPr sz="975" b="1">
                <a:solidFill>
                  <a:srgbClr val="FFFFFF"/>
                </a:solidFill>
              </a:rPr>
              <a:t>Shared KPI: more mentions and citations, fewer competitor-only answers, more assisted checkouts.</a:t>
            </a:r>
          </a:p>
        </p:txBody>
      </p:sp>
      <p:sp>
        <p:nvSpPr>
          <p:cNvPr id="12" name="">
            <a:extLst xmlns:a="http://schemas.openxmlformats.org/drawingml/2006/main">
              <a:ext uri="{FF2B5EF4-FFF2-40B4-BE49-F238E27FC236}">
                <a16:creationId xmlns:a16="http://schemas.microsoft.com/office/drawing/2014/main" id="{178CDC4E-49E2-4F22-BFE6-DA50271AF258}"/>
              </a:ext>
            </a:extLst>
          </p:cNvPr>
          <p:cNvSpPr>
            <a:spLocks xmlns:a="http://schemas.openxmlformats.org/drawingml/2006/main" noGrp="1"/>
          </p:cNvSpPr>
          <p:nvPr/>
        </p:nvSpPr>
        <p:spPr>
          <a:xfrm xmlns:a="http://schemas.openxmlformats.org/drawingml/2006/main">
            <a:off x="8248650" y="23241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Product, Offer, FAQ, Article, HowTo, Organization, Breadcrumb where appropriate</a:t>
            </a:r>
          </a:p>
        </p:txBody>
      </p:sp>
      <p:sp>
        <p:nvSpPr>
          <p:cNvPr id="13" name="">
            <a:extLst xmlns:a="http://schemas.openxmlformats.org/drawingml/2006/main">
              <a:ext uri="{FF2B5EF4-FFF2-40B4-BE49-F238E27FC236}">
                <a16:creationId xmlns:a16="http://schemas.microsoft.com/office/drawing/2014/main" id="{D3820660-0101-4EFA-99EE-E596D106AECF}"/>
              </a:ext>
            </a:extLst>
          </p:cNvPr>
          <p:cNvSpPr>
            <a:spLocks xmlns:a="http://schemas.openxmlformats.org/drawingml/2006/main" noGrp="1"/>
          </p:cNvSpPr>
          <p:nvPr/>
        </p:nvSpPr>
        <p:spPr>
          <a:xfrm xmlns:a="http://schemas.openxmlformats.org/drawingml/2006/main">
            <a:off x="609600" y="3676650"/>
            <a:ext cx="3143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F10BA1F-5434-4E91-A029-9845778C062B}"/>
              </a:ext>
            </a:extLst>
          </p:cNvPr>
          <p:cNvSpPr>
            <a:spLocks xmlns:a="http://schemas.openxmlformats.org/drawingml/2006/main" noGrp="1"/>
          </p:cNvSpPr>
          <p:nvPr/>
        </p:nvSpPr>
        <p:spPr>
          <a:xfrm xmlns:a="http://schemas.openxmlformats.org/drawingml/2006/main">
            <a:off x="819150" y="38862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DC2626"/>
                </a:solidFill>
              </a:defRPr>
            </a:pPr>
            <a:r>
              <a:rPr sz="1425" b="1">
                <a:solidFill>
                  <a:srgbClr val="DC2626"/>
                </a:solidFill>
              </a:rPr>
              <a:t>External proof</a:t>
            </a:r>
          </a:p>
        </p:txBody>
      </p:sp>
      <p:sp>
        <p:nvSpPr>
          <p:cNvPr id="15" name="">
            <a:extLst xmlns:a="http://schemas.openxmlformats.org/drawingml/2006/main">
              <a:ext uri="{FF2B5EF4-FFF2-40B4-BE49-F238E27FC236}">
                <a16:creationId xmlns:a16="http://schemas.microsoft.com/office/drawing/2014/main" id="{87F2B249-540E-43AB-98E6-4BDEFA343734}"/>
              </a:ext>
            </a:extLst>
          </p:cNvPr>
          <p:cNvSpPr>
            <a:spLocks xmlns:a="http://schemas.openxmlformats.org/drawingml/2006/main" noGrp="1"/>
          </p:cNvSpPr>
          <p:nvPr/>
        </p:nvSpPr>
        <p:spPr>
          <a:xfrm xmlns:a="http://schemas.openxmlformats.org/drawingml/2006/main">
            <a:off x="819150" y="43434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Review roundups, trade publications, partner listings, reseller pages, marketplace content</a:t>
            </a:r>
          </a:p>
        </p:txBody>
      </p:sp>
      <p:sp>
        <p:nvSpPr>
          <p:cNvPr id="16" name="">
            <a:extLst xmlns:a="http://schemas.openxmlformats.org/drawingml/2006/main">
              <a:ext uri="{FF2B5EF4-FFF2-40B4-BE49-F238E27FC236}">
                <a16:creationId xmlns:a16="http://schemas.microsoft.com/office/drawing/2014/main" id="{88D5E101-A0B7-4D07-AC13-AEDAEE3C9C4C}"/>
              </a:ext>
            </a:extLst>
          </p:cNvPr>
          <p:cNvSpPr>
            <a:spLocks xmlns:a="http://schemas.openxmlformats.org/drawingml/2006/main" noGrp="1"/>
          </p:cNvSpPr>
          <p:nvPr/>
        </p:nvSpPr>
        <p:spPr>
          <a:xfrm xmlns:a="http://schemas.openxmlformats.org/drawingml/2006/main">
            <a:off x="4324350" y="3676650"/>
            <a:ext cx="3143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3CA45C4B-2F31-4567-B2E1-1EFD7D8680E1}"/>
              </a:ext>
            </a:extLst>
          </p:cNvPr>
          <p:cNvSpPr>
            <a:spLocks xmlns:a="http://schemas.openxmlformats.org/drawingml/2006/main" noGrp="1"/>
          </p:cNvSpPr>
          <p:nvPr/>
        </p:nvSpPr>
        <p:spPr>
          <a:xfrm xmlns:a="http://schemas.openxmlformats.org/drawingml/2006/main">
            <a:off x="4533900" y="38862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891B2"/>
                </a:solidFill>
              </a:defRPr>
            </a:pPr>
            <a:r>
              <a:rPr sz="1425" b="1">
                <a:solidFill>
                  <a:srgbClr val="0891B2"/>
                </a:solidFill>
              </a:rPr>
              <a:t>Video transcripts</a:t>
            </a:r>
          </a:p>
        </p:txBody>
      </p:sp>
      <p:sp>
        <p:nvSpPr>
          <p:cNvPr id="18" name="">
            <a:extLst xmlns:a="http://schemas.openxmlformats.org/drawingml/2006/main">
              <a:ext uri="{FF2B5EF4-FFF2-40B4-BE49-F238E27FC236}">
                <a16:creationId xmlns:a16="http://schemas.microsoft.com/office/drawing/2014/main" id="{A3364383-C685-4B73-935D-25EE8F110C8D}"/>
              </a:ext>
            </a:extLst>
          </p:cNvPr>
          <p:cNvSpPr>
            <a:spLocks xmlns:a="http://schemas.openxmlformats.org/drawingml/2006/main" noGrp="1"/>
          </p:cNvSpPr>
          <p:nvPr/>
        </p:nvSpPr>
        <p:spPr>
          <a:xfrm xmlns:a="http://schemas.openxmlformats.org/drawingml/2006/main">
            <a:off x="4533900" y="43434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Install demos, comparison demos, real use-case walkthroughs with searchable text</a:t>
            </a:r>
          </a:p>
        </p:txBody>
      </p:sp>
      <p:sp>
        <p:nvSpPr>
          <p:cNvPr id="19" name="">
            <a:extLst xmlns:a="http://schemas.openxmlformats.org/drawingml/2006/main">
              <a:ext uri="{FF2B5EF4-FFF2-40B4-BE49-F238E27FC236}">
                <a16:creationId xmlns:a16="http://schemas.microsoft.com/office/drawing/2014/main" id="{C8B505AA-B5EB-4DEE-A574-AD13A86E2B6E}"/>
              </a:ext>
            </a:extLst>
          </p:cNvPr>
          <p:cNvSpPr>
            <a:spLocks xmlns:a="http://schemas.openxmlformats.org/drawingml/2006/main" noGrp="1"/>
          </p:cNvSpPr>
          <p:nvPr/>
        </p:nvSpPr>
        <p:spPr>
          <a:xfrm xmlns:a="http://schemas.openxmlformats.org/drawingml/2006/main">
            <a:off x="8039100" y="3676650"/>
            <a:ext cx="314325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FBC4717E-DA15-4BD9-BBDA-677E8CCDB6FF}"/>
              </a:ext>
            </a:extLst>
          </p:cNvPr>
          <p:cNvSpPr>
            <a:spLocks xmlns:a="http://schemas.openxmlformats.org/drawingml/2006/main" noGrp="1"/>
          </p:cNvSpPr>
          <p:nvPr/>
        </p:nvSpPr>
        <p:spPr>
          <a:xfrm xmlns:a="http://schemas.openxmlformats.org/drawingml/2006/main">
            <a:off x="8248650" y="38862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475569"/>
                </a:solidFill>
              </a:defRPr>
            </a:pPr>
            <a:r>
              <a:rPr sz="1425" b="1">
                <a:solidFill>
                  <a:srgbClr val="475569"/>
                </a:solidFill>
              </a:rPr>
              <a:t>Benchmark feedback loop</a:t>
            </a:r>
          </a:p>
        </p:txBody>
      </p:sp>
      <p:sp>
        <p:nvSpPr>
          <p:cNvPr id="21" name="">
            <a:extLst xmlns:a="http://schemas.openxmlformats.org/drawingml/2006/main">
              <a:ext uri="{FF2B5EF4-FFF2-40B4-BE49-F238E27FC236}">
                <a16:creationId xmlns:a16="http://schemas.microsoft.com/office/drawing/2014/main" id="{A9CA4612-09CB-4948-88B9-560C74383ED0}"/>
              </a:ext>
            </a:extLst>
          </p:cNvPr>
          <p:cNvSpPr>
            <a:spLocks xmlns:a="http://schemas.openxmlformats.org/drawingml/2006/main" noGrp="1"/>
          </p:cNvSpPr>
          <p:nvPr/>
        </p:nvSpPr>
        <p:spPr>
          <a:xfrm xmlns:a="http://schemas.openxmlformats.org/drawingml/2006/main">
            <a:off x="8248650" y="43434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Every miss becomes a page refresh, new guide, or citation outreach target</a:t>
            </a:r>
          </a:p>
        </p:txBody>
      </p:sp>
      <p:sp>
        <p:nvSpPr>
          <p:cNvPr id="22" name="">
            <a:extLst xmlns:a="http://schemas.openxmlformats.org/drawingml/2006/main">
              <a:ext uri="{FF2B5EF4-FFF2-40B4-BE49-F238E27FC236}">
                <a16:creationId xmlns:a16="http://schemas.microsoft.com/office/drawing/2014/main" id="{BB1EF5B8-D27D-4EE2-95FC-0146D6262F58}"/>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Source pattern inferred from competitor official pages, marketplaces, review sites, forums, and video surfaces.</a:t>
            </a:r>
          </a:p>
        </p:txBody>
      </p:sp>
      <p:sp>
        <p:nvSpPr>
          <p:cNvPr id="23" name="">
            <a:extLst xmlns:a="http://schemas.openxmlformats.org/drawingml/2006/main">
              <a:ext uri="{FF2B5EF4-FFF2-40B4-BE49-F238E27FC236}">
                <a16:creationId xmlns:a16="http://schemas.microsoft.com/office/drawing/2014/main" id="{2E3330A3-113E-4296-B11F-AEC2D1745D9B}"/>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841369692"/>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E04C32-1B70-419E-BB29-E39EC2F50C54}"/>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7A415E66-F10F-4856-A7CF-0BC268F5C52C}"/>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Current content baseline is now captured</a:t>
            </a:r>
          </a:p>
        </p:txBody>
      </p:sp>
      <p:sp>
        <p:nvSpPr>
          <p:cNvPr id="3" name="">
            <a:extLst xmlns:a="http://schemas.openxmlformats.org/drawingml/2006/main">
              <a:ext uri="{FF2B5EF4-FFF2-40B4-BE49-F238E27FC236}">
                <a16:creationId xmlns:a16="http://schemas.microsoft.com/office/drawing/2014/main" id="{31462099-2208-4731-A259-75BAE8686A1D}"/>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FFB294-AB1D-472E-A708-0F9B83B7CFFF}"/>
              </a:ext>
            </a:extLst>
          </p:cNvPr>
          <p:cNvSpPr>
            <a:spLocks xmlns:a="http://schemas.openxmlformats.org/drawingml/2006/main" noGrp="1"/>
          </p:cNvSpPr>
          <p:nvPr/>
        </p:nvSpPr>
        <p:spPr>
          <a:xfrm xmlns:a="http://schemas.openxmlformats.org/drawingml/2006/main">
            <a:off x="609600" y="1695450"/>
            <a:ext cx="2190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DD4E1C5-9234-4E68-8516-80786D59B4BC}"/>
              </a:ext>
            </a:extLst>
          </p:cNvPr>
          <p:cNvSpPr>
            <a:spLocks xmlns:a="http://schemas.openxmlformats.org/drawingml/2006/main" noGrp="1"/>
          </p:cNvSpPr>
          <p:nvPr/>
        </p:nvSpPr>
        <p:spPr>
          <a:xfrm xmlns:a="http://schemas.openxmlformats.org/drawingml/2006/main">
            <a:off x="609600" y="1695450"/>
            <a:ext cx="2190750"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C0256A-62EC-45A5-A0B5-CA077245461E}"/>
              </a:ext>
            </a:extLst>
          </p:cNvPr>
          <p:cNvSpPr>
            <a:spLocks xmlns:a="http://schemas.openxmlformats.org/drawingml/2006/main" noGrp="1"/>
          </p:cNvSpPr>
          <p:nvPr/>
        </p:nvSpPr>
        <p:spPr>
          <a:xfrm xmlns:a="http://schemas.openxmlformats.org/drawingml/2006/main">
            <a:off x="819150" y="1943100"/>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2563EB"/>
                </a:solidFill>
              </a:defRPr>
            </a:pPr>
            <a:r>
              <a:rPr sz="2550" b="1">
                <a:solidFill>
                  <a:srgbClr val="2563EB"/>
                </a:solidFill>
              </a:rPr>
              <a:t>211</a:t>
            </a:r>
          </a:p>
        </p:txBody>
      </p:sp>
      <p:sp>
        <p:nvSpPr>
          <p:cNvPr id="7" name="">
            <a:extLst xmlns:a="http://schemas.openxmlformats.org/drawingml/2006/main">
              <a:ext uri="{FF2B5EF4-FFF2-40B4-BE49-F238E27FC236}">
                <a16:creationId xmlns:a16="http://schemas.microsoft.com/office/drawing/2014/main" id="{093304EA-7258-419C-B8B9-334C3FBAE77D}"/>
              </a:ext>
            </a:extLst>
          </p:cNvPr>
          <p:cNvSpPr>
            <a:spLocks xmlns:a="http://schemas.openxmlformats.org/drawingml/2006/main" noGrp="1"/>
          </p:cNvSpPr>
          <p:nvPr/>
        </p:nvSpPr>
        <p:spPr>
          <a:xfrm xmlns:a="http://schemas.openxmlformats.org/drawingml/2006/main">
            <a:off x="819150" y="240030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Shopify articles</a:t>
            </a:r>
          </a:p>
        </p:txBody>
      </p:sp>
      <p:sp>
        <p:nvSpPr>
          <p:cNvPr id="8" name="">
            <a:extLst xmlns:a="http://schemas.openxmlformats.org/drawingml/2006/main">
              <a:ext uri="{FF2B5EF4-FFF2-40B4-BE49-F238E27FC236}">
                <a16:creationId xmlns:a16="http://schemas.microsoft.com/office/drawing/2014/main" id="{42295231-6A78-43FE-B181-FB8183FBA5D0}"/>
              </a:ext>
            </a:extLst>
          </p:cNvPr>
          <p:cNvSpPr>
            <a:spLocks xmlns:a="http://schemas.openxmlformats.org/drawingml/2006/main" noGrp="1"/>
          </p:cNvSpPr>
          <p:nvPr/>
        </p:nvSpPr>
        <p:spPr>
          <a:xfrm xmlns:a="http://schemas.openxmlformats.org/drawingml/2006/main">
            <a:off x="819150" y="26289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Inventory snapshot</a:t>
            </a:r>
          </a:p>
        </p:txBody>
      </p:sp>
      <p:sp>
        <p:nvSpPr>
          <p:cNvPr id="9" name="">
            <a:extLst xmlns:a="http://schemas.openxmlformats.org/drawingml/2006/main">
              <a:ext uri="{FF2B5EF4-FFF2-40B4-BE49-F238E27FC236}">
                <a16:creationId xmlns:a16="http://schemas.microsoft.com/office/drawing/2014/main" id="{448B5ED1-A115-4942-ABF6-0BE26C974A26}"/>
              </a:ext>
            </a:extLst>
          </p:cNvPr>
          <p:cNvSpPr>
            <a:spLocks xmlns:a="http://schemas.openxmlformats.org/drawingml/2006/main" noGrp="1"/>
          </p:cNvSpPr>
          <p:nvPr/>
        </p:nvSpPr>
        <p:spPr>
          <a:xfrm xmlns:a="http://schemas.openxmlformats.org/drawingml/2006/main">
            <a:off x="3067050" y="1695450"/>
            <a:ext cx="2190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11D11E3-C7D8-4CCF-902D-3A825E2D4D6C}"/>
              </a:ext>
            </a:extLst>
          </p:cNvPr>
          <p:cNvSpPr>
            <a:spLocks xmlns:a="http://schemas.openxmlformats.org/drawingml/2006/main" noGrp="1"/>
          </p:cNvSpPr>
          <p:nvPr/>
        </p:nvSpPr>
        <p:spPr>
          <a:xfrm xmlns:a="http://schemas.openxmlformats.org/drawingml/2006/main">
            <a:off x="3067050" y="1695450"/>
            <a:ext cx="2190750" cy="57150"/>
          </a:xfrm>
          <a:prstGeom xmlns:a="http://schemas.openxmlformats.org/drawingml/2006/main" prst="rect">
            <a:avLst/>
          </a:prstGeom>
          <a:solidFill xmlns:a="http://schemas.openxmlformats.org/drawingml/2006/main">
            <a:srgbClr val="05966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EDC3692-D950-41F8-8587-A92472BE1B79}"/>
              </a:ext>
            </a:extLst>
          </p:cNvPr>
          <p:cNvSpPr>
            <a:spLocks xmlns:a="http://schemas.openxmlformats.org/drawingml/2006/main" noGrp="1"/>
          </p:cNvSpPr>
          <p:nvPr/>
        </p:nvSpPr>
        <p:spPr>
          <a:xfrm xmlns:a="http://schemas.openxmlformats.org/drawingml/2006/main">
            <a:off x="3276600" y="1943100"/>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59669"/>
                </a:solidFill>
              </a:defRPr>
            </a:pPr>
            <a:r>
              <a:rPr sz="2550" b="1">
                <a:solidFill>
                  <a:srgbClr val="059669"/>
                </a:solidFill>
              </a:rPr>
              <a:t>142</a:t>
            </a:r>
          </a:p>
        </p:txBody>
      </p:sp>
      <p:sp>
        <p:nvSpPr>
          <p:cNvPr id="12" name="">
            <a:extLst xmlns:a="http://schemas.openxmlformats.org/drawingml/2006/main">
              <a:ext uri="{FF2B5EF4-FFF2-40B4-BE49-F238E27FC236}">
                <a16:creationId xmlns:a16="http://schemas.microsoft.com/office/drawing/2014/main" id="{12E3198D-0C77-41E6-ACB2-89863CB8FE71}"/>
              </a:ext>
            </a:extLst>
          </p:cNvPr>
          <p:cNvSpPr>
            <a:spLocks xmlns:a="http://schemas.openxmlformats.org/drawingml/2006/main" noGrp="1"/>
          </p:cNvSpPr>
          <p:nvPr/>
        </p:nvSpPr>
        <p:spPr>
          <a:xfrm xmlns:a="http://schemas.openxmlformats.org/drawingml/2006/main">
            <a:off x="3276600" y="240030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Action rows</a:t>
            </a:r>
          </a:p>
        </p:txBody>
      </p:sp>
      <p:sp>
        <p:nvSpPr>
          <p:cNvPr id="13" name="">
            <a:extLst xmlns:a="http://schemas.openxmlformats.org/drawingml/2006/main">
              <a:ext uri="{FF2B5EF4-FFF2-40B4-BE49-F238E27FC236}">
                <a16:creationId xmlns:a16="http://schemas.microsoft.com/office/drawing/2014/main" id="{52CB1403-5C10-4015-AC0B-C5447A64537A}"/>
              </a:ext>
            </a:extLst>
          </p:cNvPr>
          <p:cNvSpPr>
            <a:spLocks xmlns:a="http://schemas.openxmlformats.org/drawingml/2006/main" noGrp="1"/>
          </p:cNvSpPr>
          <p:nvPr/>
        </p:nvSpPr>
        <p:spPr>
          <a:xfrm xmlns:a="http://schemas.openxmlformats.org/drawingml/2006/main">
            <a:off x="3276600" y="26289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Pages in control sheet</a:t>
            </a:r>
          </a:p>
        </p:txBody>
      </p:sp>
      <p:sp>
        <p:nvSpPr>
          <p:cNvPr id="14" name="">
            <a:extLst xmlns:a="http://schemas.openxmlformats.org/drawingml/2006/main">
              <a:ext uri="{FF2B5EF4-FFF2-40B4-BE49-F238E27FC236}">
                <a16:creationId xmlns:a16="http://schemas.microsoft.com/office/drawing/2014/main" id="{1C43E112-03F5-415C-8FF9-5DA73BC1A775}"/>
              </a:ext>
            </a:extLst>
          </p:cNvPr>
          <p:cNvSpPr>
            <a:spLocks xmlns:a="http://schemas.openxmlformats.org/drawingml/2006/main" noGrp="1"/>
          </p:cNvSpPr>
          <p:nvPr/>
        </p:nvSpPr>
        <p:spPr>
          <a:xfrm xmlns:a="http://schemas.openxmlformats.org/drawingml/2006/main">
            <a:off x="5524500" y="1695450"/>
            <a:ext cx="2190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C3916B3C-074D-43BB-9347-D85863AE3767}"/>
              </a:ext>
            </a:extLst>
          </p:cNvPr>
          <p:cNvSpPr>
            <a:spLocks xmlns:a="http://schemas.openxmlformats.org/drawingml/2006/main" noGrp="1"/>
          </p:cNvSpPr>
          <p:nvPr/>
        </p:nvSpPr>
        <p:spPr>
          <a:xfrm xmlns:a="http://schemas.openxmlformats.org/drawingml/2006/main">
            <a:off x="5524500" y="1695450"/>
            <a:ext cx="2190750" cy="5715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ED724B-DF69-40D7-A492-3F928549C561}"/>
              </a:ext>
            </a:extLst>
          </p:cNvPr>
          <p:cNvSpPr>
            <a:spLocks xmlns:a="http://schemas.openxmlformats.org/drawingml/2006/main" noGrp="1"/>
          </p:cNvSpPr>
          <p:nvPr/>
        </p:nvSpPr>
        <p:spPr>
          <a:xfrm xmlns:a="http://schemas.openxmlformats.org/drawingml/2006/main">
            <a:off x="5734050" y="1943100"/>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D97706"/>
                </a:solidFill>
              </a:defRPr>
            </a:pPr>
            <a:r>
              <a:rPr sz="2550" b="1">
                <a:solidFill>
                  <a:srgbClr val="D97706"/>
                </a:solidFill>
              </a:rPr>
              <a:t>517</a:t>
            </a:r>
          </a:p>
        </p:txBody>
      </p:sp>
      <p:sp>
        <p:nvSpPr>
          <p:cNvPr id="17" name="">
            <a:extLst xmlns:a="http://schemas.openxmlformats.org/drawingml/2006/main">
              <a:ext uri="{FF2B5EF4-FFF2-40B4-BE49-F238E27FC236}">
                <a16:creationId xmlns:a16="http://schemas.microsoft.com/office/drawing/2014/main" id="{451E01FD-AAF7-4869-865B-EEBE2A6BF465}"/>
              </a:ext>
            </a:extLst>
          </p:cNvPr>
          <p:cNvSpPr>
            <a:spLocks xmlns:a="http://schemas.openxmlformats.org/drawingml/2006/main" noGrp="1"/>
          </p:cNvSpPr>
          <p:nvPr/>
        </p:nvSpPr>
        <p:spPr>
          <a:xfrm xmlns:a="http://schemas.openxmlformats.org/drawingml/2006/main">
            <a:off x="5734050" y="240030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Weak questions</a:t>
            </a:r>
          </a:p>
        </p:txBody>
      </p:sp>
      <p:sp>
        <p:nvSpPr>
          <p:cNvPr id="18" name="">
            <a:extLst xmlns:a="http://schemas.openxmlformats.org/drawingml/2006/main">
              <a:ext uri="{FF2B5EF4-FFF2-40B4-BE49-F238E27FC236}">
                <a16:creationId xmlns:a16="http://schemas.microsoft.com/office/drawing/2014/main" id="{97CDFD51-B809-4357-B8AB-4FE7E70ADAA1}"/>
              </a:ext>
            </a:extLst>
          </p:cNvPr>
          <p:cNvSpPr>
            <a:spLocks xmlns:a="http://schemas.openxmlformats.org/drawingml/2006/main" noGrp="1"/>
          </p:cNvSpPr>
          <p:nvPr/>
        </p:nvSpPr>
        <p:spPr>
          <a:xfrm xmlns:a="http://schemas.openxmlformats.org/drawingml/2006/main">
            <a:off x="5734050" y="26289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Scanner candidates</a:t>
            </a:r>
          </a:p>
        </p:txBody>
      </p:sp>
      <p:sp>
        <p:nvSpPr>
          <p:cNvPr id="19" name="">
            <a:extLst xmlns:a="http://schemas.openxmlformats.org/drawingml/2006/main">
              <a:ext uri="{FF2B5EF4-FFF2-40B4-BE49-F238E27FC236}">
                <a16:creationId xmlns:a16="http://schemas.microsoft.com/office/drawing/2014/main" id="{54D69175-C4E6-42CF-B82A-3FD1F17B03BF}"/>
              </a:ext>
            </a:extLst>
          </p:cNvPr>
          <p:cNvSpPr>
            <a:spLocks xmlns:a="http://schemas.openxmlformats.org/drawingml/2006/main" noGrp="1"/>
          </p:cNvSpPr>
          <p:nvPr/>
        </p:nvSpPr>
        <p:spPr>
          <a:xfrm xmlns:a="http://schemas.openxmlformats.org/drawingml/2006/main">
            <a:off x="7981950" y="1695450"/>
            <a:ext cx="2190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8716D285-9F41-4B8C-A9A9-1FA760D78969}"/>
              </a:ext>
            </a:extLst>
          </p:cNvPr>
          <p:cNvSpPr>
            <a:spLocks xmlns:a="http://schemas.openxmlformats.org/drawingml/2006/main" noGrp="1"/>
          </p:cNvSpPr>
          <p:nvPr/>
        </p:nvSpPr>
        <p:spPr>
          <a:xfrm xmlns:a="http://schemas.openxmlformats.org/drawingml/2006/main">
            <a:off x="7981950" y="1695450"/>
            <a:ext cx="2190750" cy="57150"/>
          </a:xfrm>
          <a:prstGeom xmlns:a="http://schemas.openxmlformats.org/drawingml/2006/main" prst="rect">
            <a:avLst/>
          </a:prstGeom>
          <a:solidFill xmlns:a="http://schemas.openxmlformats.org/drawingml/2006/main">
            <a:srgbClr val="0891B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4EBC10F-8A92-499C-A7BA-201B44AF34EA}"/>
              </a:ext>
            </a:extLst>
          </p:cNvPr>
          <p:cNvSpPr>
            <a:spLocks xmlns:a="http://schemas.openxmlformats.org/drawingml/2006/main" noGrp="1"/>
          </p:cNvSpPr>
          <p:nvPr/>
        </p:nvSpPr>
        <p:spPr>
          <a:xfrm xmlns:a="http://schemas.openxmlformats.org/drawingml/2006/main">
            <a:off x="8191500" y="1943100"/>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891B2"/>
                </a:solidFill>
              </a:defRPr>
            </a:pPr>
            <a:r>
              <a:rPr sz="2550" b="1">
                <a:solidFill>
                  <a:srgbClr val="0891B2"/>
                </a:solidFill>
              </a:rPr>
              <a:t>21</a:t>
            </a:r>
          </a:p>
        </p:txBody>
      </p:sp>
      <p:sp>
        <p:nvSpPr>
          <p:cNvPr id="22" name="">
            <a:extLst xmlns:a="http://schemas.openxmlformats.org/drawingml/2006/main">
              <a:ext uri="{FF2B5EF4-FFF2-40B4-BE49-F238E27FC236}">
                <a16:creationId xmlns:a16="http://schemas.microsoft.com/office/drawing/2014/main" id="{90695103-22D5-430A-8065-1CD3804C739D}"/>
              </a:ext>
            </a:extLst>
          </p:cNvPr>
          <p:cNvSpPr>
            <a:spLocks xmlns:a="http://schemas.openxmlformats.org/drawingml/2006/main" noGrp="1"/>
          </p:cNvSpPr>
          <p:nvPr/>
        </p:nvSpPr>
        <p:spPr>
          <a:xfrm xmlns:a="http://schemas.openxmlformats.org/drawingml/2006/main">
            <a:off x="8191500" y="240030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111827"/>
                </a:solidFill>
              </a:defRPr>
            </a:pPr>
            <a:r>
              <a:rPr sz="1125" b="1">
                <a:solidFill>
                  <a:srgbClr val="111827"/>
                </a:solidFill>
              </a:rPr>
              <a:t>Vertical groups</a:t>
            </a:r>
          </a:p>
        </p:txBody>
      </p:sp>
      <p:sp>
        <p:nvSpPr>
          <p:cNvPr id="23" name="">
            <a:extLst xmlns:a="http://schemas.openxmlformats.org/drawingml/2006/main">
              <a:ext uri="{FF2B5EF4-FFF2-40B4-BE49-F238E27FC236}">
                <a16:creationId xmlns:a16="http://schemas.microsoft.com/office/drawing/2014/main" id="{6FA081CB-7FAF-4921-821A-2494A773099A}"/>
              </a:ext>
            </a:extLst>
          </p:cNvPr>
          <p:cNvSpPr>
            <a:spLocks xmlns:a="http://schemas.openxmlformats.org/drawingml/2006/main" noGrp="1"/>
          </p:cNvSpPr>
          <p:nvPr/>
        </p:nvSpPr>
        <p:spPr>
          <a:xfrm xmlns:a="http://schemas.openxmlformats.org/drawingml/2006/main">
            <a:off x="8191500" y="26289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4748B"/>
                </a:solidFill>
              </a:defRPr>
            </a:pPr>
            <a:r>
              <a:rPr sz="750" b="0">
                <a:solidFill>
                  <a:srgbClr val="64748B"/>
                </a:solidFill>
              </a:rPr>
              <a:t>Subject coverage rows</a:t>
            </a:r>
          </a:p>
        </p:txBody>
      </p:sp>
      <p:sp>
        <p:nvSpPr>
          <p:cNvPr id="24" name="">
            <a:extLst xmlns:a="http://schemas.openxmlformats.org/drawingml/2006/main">
              <a:ext uri="{FF2B5EF4-FFF2-40B4-BE49-F238E27FC236}">
                <a16:creationId xmlns:a16="http://schemas.microsoft.com/office/drawing/2014/main" id="{EB8C3942-5ED7-4D45-990C-D153A15E8E54}"/>
              </a:ext>
            </a:extLst>
          </p:cNvPr>
          <p:cNvSpPr>
            <a:spLocks xmlns:a="http://schemas.openxmlformats.org/drawingml/2006/main" noGrp="1"/>
          </p:cNvSpPr>
          <p:nvPr/>
        </p:nvSpPr>
        <p:spPr>
          <a:xfrm xmlns:a="http://schemas.openxmlformats.org/drawingml/2006/main">
            <a:off x="609600" y="3543300"/>
            <a:ext cx="48768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A7B9F475-D319-4131-95C8-29E58BEA2936}"/>
              </a:ext>
            </a:extLst>
          </p:cNvPr>
          <p:cNvSpPr>
            <a:spLocks xmlns:a="http://schemas.openxmlformats.org/drawingml/2006/main" noGrp="1"/>
          </p:cNvSpPr>
          <p:nvPr/>
        </p:nvSpPr>
        <p:spPr>
          <a:xfrm xmlns:a="http://schemas.openxmlformats.org/drawingml/2006/main">
            <a:off x="876300" y="37719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11827"/>
                </a:solidFill>
              </a:defRPr>
            </a:pPr>
            <a:r>
              <a:rPr sz="1650" b="1">
                <a:solidFill>
                  <a:srgbClr val="111827"/>
                </a:solidFill>
              </a:rPr>
              <a:t>Baseline file saved</a:t>
            </a:r>
          </a:p>
        </p:txBody>
      </p:sp>
      <p:sp>
        <p:nvSpPr>
          <p:cNvPr id="26" name="">
            <a:extLst xmlns:a="http://schemas.openxmlformats.org/drawingml/2006/main">
              <a:ext uri="{FF2B5EF4-FFF2-40B4-BE49-F238E27FC236}">
                <a16:creationId xmlns:a16="http://schemas.microsoft.com/office/drawing/2014/main" id="{6BDE8166-8912-4DEB-AA30-C5D995D555FB}"/>
              </a:ext>
            </a:extLst>
          </p:cNvPr>
          <p:cNvSpPr>
            <a:spLocks xmlns:a="http://schemas.openxmlformats.org/drawingml/2006/main" noGrp="1"/>
          </p:cNvSpPr>
          <p:nvPr/>
        </p:nvSpPr>
        <p:spPr>
          <a:xfrm xmlns:a="http://schemas.openxmlformats.org/drawingml/2006/main">
            <a:off x="876300" y="421005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827"/>
                </a:solidFill>
              </a:defRPr>
            </a:pPr>
            <a:r>
              <a:rPr sz="1125" b="0">
                <a:solidFill>
                  <a:srgbClr val="111827"/>
                </a:solidFill>
              </a:rPr>
              <a:t>- Article IDs and URLs</a:t>
            </a:r>
          </a:p>
          <a:p xmlns:a="http://schemas.openxmlformats.org/drawingml/2006/main">
            <a:pPr algn="l">
              <a:buNone/>
              <a:defRPr sz="1125" b="0">
                <a:solidFill>
                  <a:srgbClr val="111827"/>
                </a:solidFill>
              </a:defRPr>
            </a:pPr>
            <a:r>
              <a:rPr sz="1125" b="0">
                <a:solidFill>
                  <a:srgbClr val="111827"/>
                </a:solidFill>
              </a:rPr>
              <a:t>- Product-link and add-to-cart counts</a:t>
            </a:r>
          </a:p>
          <a:p xmlns:a="http://schemas.openxmlformats.org/drawingml/2006/main">
            <a:pPr algn="l">
              <a:buNone/>
              <a:defRPr sz="1125" b="0">
                <a:solidFill>
                  <a:srgbClr val="111827"/>
                </a:solidFill>
              </a:defRPr>
            </a:pPr>
            <a:r>
              <a:rPr sz="1125" b="0">
                <a:solidFill>
                  <a:srgbClr val="111827"/>
                </a:solidFill>
              </a:rPr>
              <a:t>- Image counts and body size</a:t>
            </a:r>
          </a:p>
          <a:p xmlns:a="http://schemas.openxmlformats.org/drawingml/2006/main">
            <a:pPr algn="l">
              <a:buNone/>
              <a:defRPr sz="1125" b="0">
                <a:solidFill>
                  <a:srgbClr val="111827"/>
                </a:solidFill>
              </a:defRPr>
            </a:pPr>
            <a:r>
              <a:rPr sz="1125" b="0">
                <a:solidFill>
                  <a:srgbClr val="111827"/>
                </a:solidFill>
              </a:rPr>
              <a:t>- Known benchmark gaps and refresh priority</a:t>
            </a:r>
          </a:p>
        </p:txBody>
      </p:sp>
      <p:sp>
        <p:nvSpPr>
          <p:cNvPr id="27" name="">
            <a:extLst xmlns:a="http://schemas.openxmlformats.org/drawingml/2006/main">
              <a:ext uri="{FF2B5EF4-FFF2-40B4-BE49-F238E27FC236}">
                <a16:creationId xmlns:a16="http://schemas.microsoft.com/office/drawing/2014/main" id="{503E835D-3D19-4461-B6EA-999A6021D86E}"/>
              </a:ext>
            </a:extLst>
          </p:cNvPr>
          <p:cNvSpPr>
            <a:spLocks xmlns:a="http://schemas.openxmlformats.org/drawingml/2006/main" noGrp="1"/>
          </p:cNvSpPr>
          <p:nvPr/>
        </p:nvSpPr>
        <p:spPr>
          <a:xfrm xmlns:a="http://schemas.openxmlformats.org/drawingml/2006/main">
            <a:off x="6019800" y="3543300"/>
            <a:ext cx="4876800" cy="1695450"/>
          </a:xfrm>
          <a:prstGeom xmlns:a="http://schemas.openxmlformats.org/drawingml/2006/main" prst="roundRect">
            <a:avLst>
              <a:gd name="adj" fmla="val 4494"/>
            </a:avLst>
          </a:prstGeom>
          <a:solidFill xmlns:a="http://schemas.openxmlformats.org/drawingml/2006/main">
            <a:srgbClr val="FEF2F2"/>
          </a:solidFill>
          <a:ln xmlns:a="http://schemas.openxmlformats.org/drawingml/2006/main" w="9525">
            <a:solidFill>
              <a:srgbClr val="FECACA"/>
            </a:solidFill>
            <a:prstDash val="solid"/>
          </a:ln>
        </p:spPr>
      </p:sp>
      <p:sp>
        <p:nvSpPr>
          <p:cNvPr id="28" name="">
            <a:extLst xmlns:a="http://schemas.openxmlformats.org/drawingml/2006/main">
              <a:ext uri="{FF2B5EF4-FFF2-40B4-BE49-F238E27FC236}">
                <a16:creationId xmlns:a16="http://schemas.microsoft.com/office/drawing/2014/main" id="{0724B268-9D13-40B3-A67B-76F89D9C99FA}"/>
              </a:ext>
            </a:extLst>
          </p:cNvPr>
          <p:cNvSpPr>
            <a:spLocks xmlns:a="http://schemas.openxmlformats.org/drawingml/2006/main" noGrp="1"/>
          </p:cNvSpPr>
          <p:nvPr/>
        </p:nvSpPr>
        <p:spPr>
          <a:xfrm xmlns:a="http://schemas.openxmlformats.org/drawingml/2006/main">
            <a:off x="6286500" y="3771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DC2626"/>
                </a:solidFill>
              </a:defRPr>
            </a:pPr>
            <a:r>
              <a:rPr sz="1650" b="1">
                <a:solidFill>
                  <a:srgbClr val="DC2626"/>
                </a:solidFill>
              </a:rPr>
              <a:t>Shopify analytics status</a:t>
            </a:r>
          </a:p>
        </p:txBody>
      </p:sp>
      <p:sp>
        <p:nvSpPr>
          <p:cNvPr id="29" name="">
            <a:extLst xmlns:a="http://schemas.openxmlformats.org/drawingml/2006/main">
              <a:ext uri="{FF2B5EF4-FFF2-40B4-BE49-F238E27FC236}">
                <a16:creationId xmlns:a16="http://schemas.microsoft.com/office/drawing/2014/main" id="{1F3F1C4B-15C4-4DDD-B656-8B3067D0F305}"/>
              </a:ext>
            </a:extLst>
          </p:cNvPr>
          <p:cNvSpPr>
            <a:spLocks xmlns:a="http://schemas.openxmlformats.org/drawingml/2006/main" noGrp="1"/>
          </p:cNvSpPr>
          <p:nvPr/>
        </p:nvSpPr>
        <p:spPr>
          <a:xfrm xmlns:a="http://schemas.openxmlformats.org/drawingml/2006/main">
            <a:off x="6286500" y="421005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111827"/>
                </a:solidFill>
              </a:defRPr>
            </a:pPr>
            <a:r>
              <a:rPr sz="1050" b="0">
                <a:solidFill>
                  <a:srgbClr val="111827"/>
                </a:solidFill>
              </a:rPr>
              <a:t>The in-app browser reached Shopify login, and the current API token does not expose read_reports. We can fill sessions, add-to-cart, checkout, and revenue once logged in or with a Shopify/GA4/GSC export.</a:t>
            </a:r>
          </a:p>
        </p:txBody>
      </p:sp>
      <p:sp>
        <p:nvSpPr>
          <p:cNvPr id="30" name="">
            <a:extLst xmlns:a="http://schemas.openxmlformats.org/drawingml/2006/main">
              <a:ext uri="{FF2B5EF4-FFF2-40B4-BE49-F238E27FC236}">
                <a16:creationId xmlns:a16="http://schemas.microsoft.com/office/drawing/2014/main" id="{7228B1C5-2DE3-49B4-B4B4-32FB5914CC88}"/>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Baseline: content-output/unanswered-question-scanner-2026-06-24/baseline-performance-snapshot.csv</a:t>
            </a:r>
          </a:p>
        </p:txBody>
      </p:sp>
      <p:sp>
        <p:nvSpPr>
          <p:cNvPr id="31" name="">
            <a:extLst xmlns:a="http://schemas.openxmlformats.org/drawingml/2006/main">
              <a:ext uri="{FF2B5EF4-FFF2-40B4-BE49-F238E27FC236}">
                <a16:creationId xmlns:a16="http://schemas.microsoft.com/office/drawing/2014/main" id="{2153D87D-9864-438A-925E-5711EA780994}"/>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317415531"/>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66D7C3-CBF2-4A35-BF90-FF720FBCFAD1}"/>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BDC68FA1-4436-4FFF-B7B7-51181A2E758A}"/>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Top 10 pages to refresh first</a:t>
            </a:r>
          </a:p>
        </p:txBody>
      </p:sp>
      <p:sp>
        <p:nvSpPr>
          <p:cNvPr id="3" name="">
            <a:extLst xmlns:a="http://schemas.openxmlformats.org/drawingml/2006/main">
              <a:ext uri="{FF2B5EF4-FFF2-40B4-BE49-F238E27FC236}">
                <a16:creationId xmlns:a16="http://schemas.microsoft.com/office/drawing/2014/main" id="{D0CB5A3E-85F0-4E10-AB70-B5C8392F3CEC}"/>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D81C35-A1FF-40E8-8774-145D1F7F3834}"/>
              </a:ext>
            </a:extLst>
          </p:cNvPr>
          <p:cNvSpPr>
            <a:spLocks xmlns:a="http://schemas.openxmlformats.org/drawingml/2006/main" noGrp="1"/>
          </p:cNvSpPr>
          <p:nvPr/>
        </p:nvSpPr>
        <p:spPr>
          <a:xfrm xmlns:a="http://schemas.openxmlformats.org/drawingml/2006/main">
            <a:off x="609600" y="1619250"/>
            <a:ext cx="51816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040AB9A-58DB-47FB-8F18-EDDEBE80A8AC}"/>
              </a:ext>
            </a:extLst>
          </p:cNvPr>
          <p:cNvSpPr>
            <a:spLocks xmlns:a="http://schemas.openxmlformats.org/drawingml/2006/main" noGrp="1"/>
          </p:cNvSpPr>
          <p:nvPr/>
        </p:nvSpPr>
        <p:spPr>
          <a:xfrm xmlns:a="http://schemas.openxmlformats.org/drawingml/2006/main">
            <a:off x="6400800" y="1619250"/>
            <a:ext cx="51816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8DEF658-153D-4E5A-8C4D-B9C25E752DE9}"/>
              </a:ext>
            </a:extLst>
          </p:cNvPr>
          <p:cNvSpPr>
            <a:spLocks xmlns:a="http://schemas.openxmlformats.org/drawingml/2006/main" noGrp="1"/>
          </p:cNvSpPr>
          <p:nvPr/>
        </p:nvSpPr>
        <p:spPr>
          <a:xfrm xmlns:a="http://schemas.openxmlformats.org/drawingml/2006/main">
            <a:off x="876300" y="1885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2563EB"/>
                </a:solidFill>
              </a:defRPr>
            </a:pPr>
            <a:r>
              <a:rPr sz="1650" b="1">
                <a:solidFill>
                  <a:srgbClr val="2563EB"/>
                </a:solidFill>
              </a:rPr>
              <a:t>Highest current priority</a:t>
            </a:r>
          </a:p>
        </p:txBody>
      </p:sp>
      <p:sp>
        <p:nvSpPr>
          <p:cNvPr id="7" name="">
            <a:extLst xmlns:a="http://schemas.openxmlformats.org/drawingml/2006/main">
              <a:ext uri="{FF2B5EF4-FFF2-40B4-BE49-F238E27FC236}">
                <a16:creationId xmlns:a16="http://schemas.microsoft.com/office/drawing/2014/main" id="{F5923EF9-0CD0-4895-B5BB-947B90CA0FE6}"/>
              </a:ext>
            </a:extLst>
          </p:cNvPr>
          <p:cNvSpPr>
            <a:spLocks xmlns:a="http://schemas.openxmlformats.org/drawingml/2006/main" noGrp="1"/>
          </p:cNvSpPr>
          <p:nvPr/>
        </p:nvSpPr>
        <p:spPr>
          <a:xfrm xmlns:a="http://schemas.openxmlformats.org/drawingml/2006/main">
            <a:off x="876300" y="2343150"/>
            <a:ext cx="44196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- 1. Restaurant Tablet Mount 2026</a:t>
            </a:r>
          </a:p>
          <a:p xmlns:a="http://schemas.openxmlformats.org/drawingml/2006/main">
            <a:pPr algn="l">
              <a:buNone/>
              <a:defRPr sz="1200" b="0">
                <a:solidFill>
                  <a:srgbClr val="111827"/>
                </a:solidFill>
              </a:defRPr>
            </a:pPr>
            <a:r>
              <a:rPr sz="1200" b="0">
                <a:solidFill>
                  <a:srgbClr val="111827"/>
                </a:solidFill>
              </a:rPr>
              <a:t>- 2. Construction Vehicles and Work Trucks</a:t>
            </a:r>
          </a:p>
          <a:p xmlns:a="http://schemas.openxmlformats.org/drawingml/2006/main">
            <a:pPr algn="l">
              <a:buNone/>
              <a:defRPr sz="1200" b="0">
                <a:solidFill>
                  <a:srgbClr val="111827"/>
                </a:solidFill>
              </a:defRPr>
            </a:pPr>
            <a:r>
              <a:rPr sz="1200" b="0">
                <a:solidFill>
                  <a:srgbClr val="111827"/>
                </a:solidFill>
              </a:rPr>
              <a:t>- 3. Garmin Fish Finder Mount</a:t>
            </a:r>
          </a:p>
          <a:p xmlns:a="http://schemas.openxmlformats.org/drawingml/2006/main">
            <a:pPr algn="l">
              <a:buNone/>
              <a:defRPr sz="1200" b="0">
                <a:solidFill>
                  <a:srgbClr val="111827"/>
                </a:solidFill>
              </a:defRPr>
            </a:pPr>
            <a:r>
              <a:rPr sz="1200" b="0">
                <a:solidFill>
                  <a:srgbClr val="111827"/>
                </a:solidFill>
              </a:rPr>
              <a:t>- 4. Tablet Mount for Restaurant POS</a:t>
            </a:r>
          </a:p>
          <a:p xmlns:a="http://schemas.openxmlformats.org/drawingml/2006/main">
            <a:pPr algn="l">
              <a:buNone/>
              <a:defRPr sz="1200" b="0">
                <a:solidFill>
                  <a:srgbClr val="111827"/>
                </a:solidFill>
              </a:defRPr>
            </a:pPr>
            <a:r>
              <a:rPr sz="1200" b="0">
                <a:solidFill>
                  <a:srgbClr val="111827"/>
                </a:solidFill>
              </a:rPr>
              <a:t>- 5. Locking Tablet Stand for Food Trucks</a:t>
            </a:r>
          </a:p>
        </p:txBody>
      </p:sp>
      <p:sp>
        <p:nvSpPr>
          <p:cNvPr id="8" name="">
            <a:extLst xmlns:a="http://schemas.openxmlformats.org/drawingml/2006/main">
              <a:ext uri="{FF2B5EF4-FFF2-40B4-BE49-F238E27FC236}">
                <a16:creationId xmlns:a16="http://schemas.microsoft.com/office/drawing/2014/main" id="{17870E65-971D-4C6D-8DA3-9408C13288B5}"/>
              </a:ext>
            </a:extLst>
          </p:cNvPr>
          <p:cNvSpPr>
            <a:spLocks xmlns:a="http://schemas.openxmlformats.org/drawingml/2006/main" noGrp="1"/>
          </p:cNvSpPr>
          <p:nvPr/>
        </p:nvSpPr>
        <p:spPr>
          <a:xfrm xmlns:a="http://schemas.openxmlformats.org/drawingml/2006/main">
            <a:off x="6667500" y="1885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59669"/>
                </a:solidFill>
              </a:defRPr>
            </a:pPr>
            <a:r>
              <a:rPr sz="1650" b="1">
                <a:solidFill>
                  <a:srgbClr val="059669"/>
                </a:solidFill>
              </a:rPr>
              <a:t>Next priority</a:t>
            </a:r>
          </a:p>
        </p:txBody>
      </p:sp>
      <p:sp>
        <p:nvSpPr>
          <p:cNvPr id="9" name="">
            <a:extLst xmlns:a="http://schemas.openxmlformats.org/drawingml/2006/main">
              <a:ext uri="{FF2B5EF4-FFF2-40B4-BE49-F238E27FC236}">
                <a16:creationId xmlns:a16="http://schemas.microsoft.com/office/drawing/2014/main" id="{0AA0F280-0108-446C-A76A-371386CDDDE5}"/>
              </a:ext>
            </a:extLst>
          </p:cNvPr>
          <p:cNvSpPr>
            <a:spLocks xmlns:a="http://schemas.openxmlformats.org/drawingml/2006/main" noGrp="1"/>
          </p:cNvSpPr>
          <p:nvPr/>
        </p:nvSpPr>
        <p:spPr>
          <a:xfrm xmlns:a="http://schemas.openxmlformats.org/drawingml/2006/main">
            <a:off x="6667500" y="2343150"/>
            <a:ext cx="44196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- 6. Amazon Flex and Delivery Vans</a:t>
            </a:r>
          </a:p>
          <a:p xmlns:a="http://schemas.openxmlformats.org/drawingml/2006/main">
            <a:pPr algn="l">
              <a:buNone/>
              <a:defRPr sz="1200" b="0">
                <a:solidFill>
                  <a:srgbClr val="111827"/>
                </a:solidFill>
              </a:defRPr>
            </a:pPr>
            <a:r>
              <a:rPr sz="1200" b="0">
                <a:solidFill>
                  <a:srgbClr val="111827"/>
                </a:solidFill>
              </a:rPr>
              <a:t>- 7. Commercial-Grade Delivery Mounts</a:t>
            </a:r>
          </a:p>
          <a:p xmlns:a="http://schemas.openxmlformats.org/drawingml/2006/main">
            <a:pPr algn="l">
              <a:buNone/>
              <a:defRPr sz="1200" b="0">
                <a:solidFill>
                  <a:srgbClr val="111827"/>
                </a:solidFill>
              </a:defRPr>
            </a:pPr>
            <a:r>
              <a:rPr sz="1200" b="0">
                <a:solidFill>
                  <a:srgbClr val="111827"/>
                </a:solidFill>
              </a:rPr>
              <a:t>- 8. Locking Phone Mount for Shared Vehicles</a:t>
            </a:r>
          </a:p>
          <a:p xmlns:a="http://schemas.openxmlformats.org/drawingml/2006/main">
            <a:pPr algn="l">
              <a:buNone/>
              <a:defRPr sz="1200" b="0">
                <a:solidFill>
                  <a:srgbClr val="111827"/>
                </a:solidFill>
              </a:defRPr>
            </a:pPr>
            <a:r>
              <a:rPr sz="1200" b="0">
                <a:solidFill>
                  <a:srgbClr val="111827"/>
                </a:solidFill>
              </a:rPr>
              <a:t>- 9. Instacart and Grocery Delivery Drivers</a:t>
            </a:r>
          </a:p>
          <a:p xmlns:a="http://schemas.openxmlformats.org/drawingml/2006/main">
            <a:pPr algn="l">
              <a:buNone/>
              <a:defRPr sz="1200" b="0">
                <a:solidFill>
                  <a:srgbClr val="111827"/>
                </a:solidFill>
              </a:defRPr>
            </a:pPr>
            <a:r>
              <a:rPr sz="1200" b="0">
                <a:solidFill>
                  <a:srgbClr val="111827"/>
                </a:solidFill>
              </a:rPr>
              <a:t>- 10. Fish Finder Mount for Pontoon Rails</a:t>
            </a:r>
          </a:p>
        </p:txBody>
      </p:sp>
      <p:sp>
        <p:nvSpPr>
          <p:cNvPr id="10" name="">
            <a:extLst xmlns:a="http://schemas.openxmlformats.org/drawingml/2006/main">
              <a:ext uri="{FF2B5EF4-FFF2-40B4-BE49-F238E27FC236}">
                <a16:creationId xmlns:a16="http://schemas.microsoft.com/office/drawing/2014/main" id="{5B870424-83D4-4D2C-B875-F69A9BC32D8B}"/>
              </a:ext>
            </a:extLst>
          </p:cNvPr>
          <p:cNvSpPr>
            <a:spLocks xmlns:a="http://schemas.openxmlformats.org/drawingml/2006/main" noGrp="1"/>
          </p:cNvSpPr>
          <p:nvPr/>
        </p:nvSpPr>
        <p:spPr>
          <a:xfrm xmlns:a="http://schemas.openxmlformats.org/drawingml/2006/main">
            <a:off x="609600" y="5105400"/>
            <a:ext cx="10972800" cy="66675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BBF7D0"/>
            </a:solidFill>
            <a:prstDash val="solid"/>
          </a:ln>
        </p:spPr>
      </p:sp>
      <p:sp>
        <p:nvSpPr>
          <p:cNvPr id="11" name="">
            <a:extLst xmlns:a="http://schemas.openxmlformats.org/drawingml/2006/main">
              <a:ext uri="{FF2B5EF4-FFF2-40B4-BE49-F238E27FC236}">
                <a16:creationId xmlns:a16="http://schemas.microsoft.com/office/drawing/2014/main" id="{511F6F14-1F06-4EB8-B96A-D4904513F414}"/>
              </a:ext>
            </a:extLst>
          </p:cNvPr>
          <p:cNvSpPr>
            <a:spLocks xmlns:a="http://schemas.openxmlformats.org/drawingml/2006/main" noGrp="1"/>
          </p:cNvSpPr>
          <p:nvPr/>
        </p:nvSpPr>
        <p:spPr>
          <a:xfrm xmlns:a="http://schemas.openxmlformats.org/drawingml/2006/main">
            <a:off x="876300" y="53149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59669"/>
                </a:solidFill>
              </a:defRPr>
            </a:pPr>
            <a:r>
              <a:rPr sz="1275" b="1">
                <a:solidFill>
                  <a:srgbClr val="059669"/>
                </a:solidFill>
              </a:rPr>
              <a:t>Refresh recipe: quick-answer block near the top, comparison table, product fit table, FAQ schema, cleaner CTA density, internal links, and one citation/outreach target per page.</a:t>
            </a:r>
          </a:p>
        </p:txBody>
      </p:sp>
      <p:sp>
        <p:nvSpPr>
          <p:cNvPr id="12" name="">
            <a:extLst xmlns:a="http://schemas.openxmlformats.org/drawingml/2006/main">
              <a:ext uri="{FF2B5EF4-FFF2-40B4-BE49-F238E27FC236}">
                <a16:creationId xmlns:a16="http://schemas.microsoft.com/office/drawing/2014/main" id="{E03ECDE5-10AE-487C-9A6C-E6C56CF5FECC}"/>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Top 10 from unanswered-question scanner and blog action control sheet.</a:t>
            </a:r>
          </a:p>
        </p:txBody>
      </p:sp>
      <p:sp>
        <p:nvSpPr>
          <p:cNvPr id="13" name="">
            <a:extLst xmlns:a="http://schemas.openxmlformats.org/drawingml/2006/main">
              <a:ext uri="{FF2B5EF4-FFF2-40B4-BE49-F238E27FC236}">
                <a16:creationId xmlns:a16="http://schemas.microsoft.com/office/drawing/2014/main" id="{C695856D-7816-449D-A5EF-4EEB098A8863}"/>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2024543246"/>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E929BC-CD41-4528-A04B-93A00891476C}"/>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6126A5CB-BE20-444D-97F1-BF5A5FC6CB85}"/>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Unanswered-question scanner is now built</a:t>
            </a:r>
          </a:p>
        </p:txBody>
      </p:sp>
      <p:sp>
        <p:nvSpPr>
          <p:cNvPr id="3" name="">
            <a:extLst xmlns:a="http://schemas.openxmlformats.org/drawingml/2006/main">
              <a:ext uri="{FF2B5EF4-FFF2-40B4-BE49-F238E27FC236}">
                <a16:creationId xmlns:a16="http://schemas.microsoft.com/office/drawing/2014/main" id="{37B578EA-0827-4DC1-9F20-3EC7A146FF0A}"/>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CF5581-86F0-48F8-B911-4558B38DEF39}"/>
              </a:ext>
            </a:extLst>
          </p:cNvPr>
          <p:cNvSpPr>
            <a:spLocks xmlns:a="http://schemas.openxmlformats.org/drawingml/2006/main" noGrp="1"/>
          </p:cNvSpPr>
          <p:nvPr/>
        </p:nvSpPr>
        <p:spPr>
          <a:xfrm xmlns:a="http://schemas.openxmlformats.org/drawingml/2006/main">
            <a:off x="685800" y="1866900"/>
            <a:ext cx="1905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94BF64E-FD3F-4566-BCA0-6892D2C5EB5F}"/>
              </a:ext>
            </a:extLst>
          </p:cNvPr>
          <p:cNvSpPr>
            <a:spLocks xmlns:a="http://schemas.openxmlformats.org/drawingml/2006/main" noGrp="1"/>
          </p:cNvSpPr>
          <p:nvPr/>
        </p:nvSpPr>
        <p:spPr>
          <a:xfrm xmlns:a="http://schemas.openxmlformats.org/drawingml/2006/main">
            <a:off x="857250" y="20574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DC2626"/>
                </a:solidFill>
              </a:defRPr>
            </a:pPr>
            <a:r>
              <a:rPr sz="1200" b="1">
                <a:solidFill>
                  <a:srgbClr val="DC2626"/>
                </a:solidFill>
              </a:rPr>
              <a:t>Benchmark misses</a:t>
            </a:r>
          </a:p>
        </p:txBody>
      </p:sp>
      <p:sp>
        <p:nvSpPr>
          <p:cNvPr id="6" name="">
            <a:extLst xmlns:a="http://schemas.openxmlformats.org/drawingml/2006/main">
              <a:ext uri="{FF2B5EF4-FFF2-40B4-BE49-F238E27FC236}">
                <a16:creationId xmlns:a16="http://schemas.microsoft.com/office/drawing/2014/main" id="{03EC8158-CFA3-4C1C-BE89-20F02C369257}"/>
              </a:ext>
            </a:extLst>
          </p:cNvPr>
          <p:cNvSpPr>
            <a:spLocks xmlns:a="http://schemas.openxmlformats.org/drawingml/2006/main" noGrp="1"/>
          </p:cNvSpPr>
          <p:nvPr/>
        </p:nvSpPr>
        <p:spPr>
          <a:xfrm xmlns:a="http://schemas.openxmlformats.org/drawingml/2006/main">
            <a:off x="857250" y="25146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475569"/>
                </a:solidFill>
              </a:defRPr>
            </a:pPr>
            <a:r>
              <a:rPr sz="900" b="0">
                <a:solidFill>
                  <a:srgbClr val="475569"/>
                </a:solidFill>
              </a:rPr>
              <a:t>Prompts where iBOLT is absent, weak, or uncited</a:t>
            </a:r>
          </a:p>
        </p:txBody>
      </p:sp>
      <p:sp>
        <p:nvSpPr>
          <p:cNvPr id="7" name="">
            <a:extLst xmlns:a="http://schemas.openxmlformats.org/drawingml/2006/main">
              <a:ext uri="{FF2B5EF4-FFF2-40B4-BE49-F238E27FC236}">
                <a16:creationId xmlns:a16="http://schemas.microsoft.com/office/drawing/2014/main" id="{5F802352-ADCB-4C71-95DA-D564CC0728F1}"/>
              </a:ext>
            </a:extLst>
          </p:cNvPr>
          <p:cNvSpPr>
            <a:spLocks xmlns:a="http://schemas.openxmlformats.org/drawingml/2006/main" noGrp="1"/>
          </p:cNvSpPr>
          <p:nvPr/>
        </p:nvSpPr>
        <p:spPr>
          <a:xfrm xmlns:a="http://schemas.openxmlformats.org/drawingml/2006/main">
            <a:off x="2667000" y="23050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64748B"/>
                </a:solidFill>
              </a:defRPr>
            </a:pPr>
            <a:r>
              <a:rPr sz="1650" b="1">
                <a:solidFill>
                  <a:srgbClr val="64748B"/>
                </a:solidFill>
              </a:rPr>
              <a:t>-&gt;</a:t>
            </a:r>
          </a:p>
        </p:txBody>
      </p:sp>
      <p:sp>
        <p:nvSpPr>
          <p:cNvPr id="8" name="">
            <a:extLst xmlns:a="http://schemas.openxmlformats.org/drawingml/2006/main">
              <a:ext uri="{FF2B5EF4-FFF2-40B4-BE49-F238E27FC236}">
                <a16:creationId xmlns:a16="http://schemas.microsoft.com/office/drawing/2014/main" id="{C3319A6B-DD14-4238-8F51-8AA8ADDCF688}"/>
              </a:ext>
            </a:extLst>
          </p:cNvPr>
          <p:cNvSpPr>
            <a:spLocks xmlns:a="http://schemas.openxmlformats.org/drawingml/2006/main" noGrp="1"/>
          </p:cNvSpPr>
          <p:nvPr/>
        </p:nvSpPr>
        <p:spPr>
          <a:xfrm xmlns:a="http://schemas.openxmlformats.org/drawingml/2006/main">
            <a:off x="2876550" y="1866900"/>
            <a:ext cx="1905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14AA81B-105E-42E2-894D-7A7070E84632}"/>
              </a:ext>
            </a:extLst>
          </p:cNvPr>
          <p:cNvSpPr>
            <a:spLocks xmlns:a="http://schemas.openxmlformats.org/drawingml/2006/main" noGrp="1"/>
          </p:cNvSpPr>
          <p:nvPr/>
        </p:nvSpPr>
        <p:spPr>
          <a:xfrm xmlns:a="http://schemas.openxmlformats.org/drawingml/2006/main">
            <a:off x="3048000" y="20574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D97706"/>
                </a:solidFill>
              </a:defRPr>
            </a:pPr>
            <a:r>
              <a:rPr sz="1200" b="1">
                <a:solidFill>
                  <a:srgbClr val="D97706"/>
                </a:solidFill>
              </a:rPr>
              <a:t>Buyer language</a:t>
            </a:r>
          </a:p>
        </p:txBody>
      </p:sp>
      <p:sp>
        <p:nvSpPr>
          <p:cNvPr id="10" name="">
            <a:extLst xmlns:a="http://schemas.openxmlformats.org/drawingml/2006/main">
              <a:ext uri="{FF2B5EF4-FFF2-40B4-BE49-F238E27FC236}">
                <a16:creationId xmlns:a16="http://schemas.microsoft.com/office/drawing/2014/main" id="{D5562E00-78AC-488E-8468-8AB8056130D2}"/>
              </a:ext>
            </a:extLst>
          </p:cNvPr>
          <p:cNvSpPr>
            <a:spLocks xmlns:a="http://schemas.openxmlformats.org/drawingml/2006/main" noGrp="1"/>
          </p:cNvSpPr>
          <p:nvPr/>
        </p:nvSpPr>
        <p:spPr>
          <a:xfrm xmlns:a="http://schemas.openxmlformats.org/drawingml/2006/main">
            <a:off x="3048000" y="25146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475569"/>
                </a:solidFill>
              </a:defRPr>
            </a:pPr>
            <a:r>
              <a:rPr sz="900" b="0">
                <a:solidFill>
                  <a:srgbClr val="475569"/>
                </a:solidFill>
              </a:rPr>
              <a:t>New enriched questions and product wording</a:t>
            </a:r>
          </a:p>
        </p:txBody>
      </p:sp>
      <p:sp>
        <p:nvSpPr>
          <p:cNvPr id="11" name="">
            <a:extLst xmlns:a="http://schemas.openxmlformats.org/drawingml/2006/main">
              <a:ext uri="{FF2B5EF4-FFF2-40B4-BE49-F238E27FC236}">
                <a16:creationId xmlns:a16="http://schemas.microsoft.com/office/drawing/2014/main" id="{2DE30AB3-6F97-40C7-88B7-1586F88F331E}"/>
              </a:ext>
            </a:extLst>
          </p:cNvPr>
          <p:cNvSpPr>
            <a:spLocks xmlns:a="http://schemas.openxmlformats.org/drawingml/2006/main" noGrp="1"/>
          </p:cNvSpPr>
          <p:nvPr/>
        </p:nvSpPr>
        <p:spPr>
          <a:xfrm xmlns:a="http://schemas.openxmlformats.org/drawingml/2006/main">
            <a:off x="4857750" y="23050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64748B"/>
                </a:solidFill>
              </a:defRPr>
            </a:pPr>
            <a:r>
              <a:rPr sz="1650" b="1">
                <a:solidFill>
                  <a:srgbClr val="64748B"/>
                </a:solidFill>
              </a:rPr>
              <a:t>-&gt;</a:t>
            </a:r>
          </a:p>
        </p:txBody>
      </p:sp>
      <p:sp>
        <p:nvSpPr>
          <p:cNvPr id="12" name="">
            <a:extLst xmlns:a="http://schemas.openxmlformats.org/drawingml/2006/main">
              <a:ext uri="{FF2B5EF4-FFF2-40B4-BE49-F238E27FC236}">
                <a16:creationId xmlns:a16="http://schemas.microsoft.com/office/drawing/2014/main" id="{DEF6CC73-9235-4B1C-9331-7720ACEEF92C}"/>
              </a:ext>
            </a:extLst>
          </p:cNvPr>
          <p:cNvSpPr>
            <a:spLocks xmlns:a="http://schemas.openxmlformats.org/drawingml/2006/main" noGrp="1"/>
          </p:cNvSpPr>
          <p:nvPr/>
        </p:nvSpPr>
        <p:spPr>
          <a:xfrm xmlns:a="http://schemas.openxmlformats.org/drawingml/2006/main">
            <a:off x="5067300" y="1866900"/>
            <a:ext cx="1905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2121EE52-97EA-41C6-AFAF-944D1DACC40A}"/>
              </a:ext>
            </a:extLst>
          </p:cNvPr>
          <p:cNvSpPr>
            <a:spLocks xmlns:a="http://schemas.openxmlformats.org/drawingml/2006/main" noGrp="1"/>
          </p:cNvSpPr>
          <p:nvPr/>
        </p:nvSpPr>
        <p:spPr>
          <a:xfrm xmlns:a="http://schemas.openxmlformats.org/drawingml/2006/main">
            <a:off x="5238750" y="20574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Inventory state</a:t>
            </a:r>
          </a:p>
        </p:txBody>
      </p:sp>
      <p:sp>
        <p:nvSpPr>
          <p:cNvPr id="14" name="">
            <a:extLst xmlns:a="http://schemas.openxmlformats.org/drawingml/2006/main">
              <a:ext uri="{FF2B5EF4-FFF2-40B4-BE49-F238E27FC236}">
                <a16:creationId xmlns:a16="http://schemas.microsoft.com/office/drawing/2014/main" id="{1993AC76-4DE8-4A9D-A534-EA8E8B69AAF9}"/>
              </a:ext>
            </a:extLst>
          </p:cNvPr>
          <p:cNvSpPr>
            <a:spLocks xmlns:a="http://schemas.openxmlformats.org/drawingml/2006/main" noGrp="1"/>
          </p:cNvSpPr>
          <p:nvPr/>
        </p:nvSpPr>
        <p:spPr>
          <a:xfrm xmlns:a="http://schemas.openxmlformats.org/drawingml/2006/main">
            <a:off x="5238750" y="25146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475569"/>
                </a:solidFill>
              </a:defRPr>
            </a:pPr>
            <a:r>
              <a:rPr sz="900" b="0">
                <a:solidFill>
                  <a:srgbClr val="475569"/>
                </a:solidFill>
              </a:rPr>
              <a:t>Published article IDs, URLs, link counts</a:t>
            </a:r>
          </a:p>
        </p:txBody>
      </p:sp>
      <p:sp>
        <p:nvSpPr>
          <p:cNvPr id="15" name="">
            <a:extLst xmlns:a="http://schemas.openxmlformats.org/drawingml/2006/main">
              <a:ext uri="{FF2B5EF4-FFF2-40B4-BE49-F238E27FC236}">
                <a16:creationId xmlns:a16="http://schemas.microsoft.com/office/drawing/2014/main" id="{FD9DB8D0-6F3C-4F7C-907D-C07576E0DB3F}"/>
              </a:ext>
            </a:extLst>
          </p:cNvPr>
          <p:cNvSpPr>
            <a:spLocks xmlns:a="http://schemas.openxmlformats.org/drawingml/2006/main" noGrp="1"/>
          </p:cNvSpPr>
          <p:nvPr/>
        </p:nvSpPr>
        <p:spPr>
          <a:xfrm xmlns:a="http://schemas.openxmlformats.org/drawingml/2006/main">
            <a:off x="7048500" y="23050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64748B"/>
                </a:solidFill>
              </a:defRPr>
            </a:pPr>
            <a:r>
              <a:rPr sz="1650" b="1">
                <a:solidFill>
                  <a:srgbClr val="64748B"/>
                </a:solidFill>
              </a:rPr>
              <a:t>-&gt;</a:t>
            </a:r>
          </a:p>
        </p:txBody>
      </p:sp>
      <p:sp>
        <p:nvSpPr>
          <p:cNvPr id="16" name="">
            <a:extLst xmlns:a="http://schemas.openxmlformats.org/drawingml/2006/main">
              <a:ext uri="{FF2B5EF4-FFF2-40B4-BE49-F238E27FC236}">
                <a16:creationId xmlns:a16="http://schemas.microsoft.com/office/drawing/2014/main" id="{CCB8725A-F4E4-4974-9C0B-AC655A31C1C8}"/>
              </a:ext>
            </a:extLst>
          </p:cNvPr>
          <p:cNvSpPr>
            <a:spLocks xmlns:a="http://schemas.openxmlformats.org/drawingml/2006/main" noGrp="1"/>
          </p:cNvSpPr>
          <p:nvPr/>
        </p:nvSpPr>
        <p:spPr>
          <a:xfrm xmlns:a="http://schemas.openxmlformats.org/drawingml/2006/main">
            <a:off x="7258050" y="1866900"/>
            <a:ext cx="1905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FF41324-DA0E-4B40-8C8E-653103CDF959}"/>
              </a:ext>
            </a:extLst>
          </p:cNvPr>
          <p:cNvSpPr>
            <a:spLocks xmlns:a="http://schemas.openxmlformats.org/drawingml/2006/main" noGrp="1"/>
          </p:cNvSpPr>
          <p:nvPr/>
        </p:nvSpPr>
        <p:spPr>
          <a:xfrm xmlns:a="http://schemas.openxmlformats.org/drawingml/2006/main">
            <a:off x="7429500" y="20574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59669"/>
                </a:solidFill>
              </a:defRPr>
            </a:pPr>
            <a:r>
              <a:rPr sz="1200" b="1">
                <a:solidFill>
                  <a:srgbClr val="059669"/>
                </a:solidFill>
              </a:rPr>
              <a:t>Scored backlog</a:t>
            </a:r>
          </a:p>
        </p:txBody>
      </p:sp>
      <p:sp>
        <p:nvSpPr>
          <p:cNvPr id="18" name="">
            <a:extLst xmlns:a="http://schemas.openxmlformats.org/drawingml/2006/main">
              <a:ext uri="{FF2B5EF4-FFF2-40B4-BE49-F238E27FC236}">
                <a16:creationId xmlns:a16="http://schemas.microsoft.com/office/drawing/2014/main" id="{D2CBCE1F-973B-4714-8609-BF0A37F53AC5}"/>
              </a:ext>
            </a:extLst>
          </p:cNvPr>
          <p:cNvSpPr>
            <a:spLocks xmlns:a="http://schemas.openxmlformats.org/drawingml/2006/main" noGrp="1"/>
          </p:cNvSpPr>
          <p:nvPr/>
        </p:nvSpPr>
        <p:spPr>
          <a:xfrm xmlns:a="http://schemas.openxmlformats.org/drawingml/2006/main">
            <a:off x="7429500" y="25146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475569"/>
                </a:solidFill>
              </a:defRPr>
            </a:pPr>
            <a:r>
              <a:rPr sz="900" b="0">
                <a:solidFill>
                  <a:srgbClr val="475569"/>
                </a:solidFill>
              </a:rPr>
              <a:t>Refresh, create, compare, or outreach action</a:t>
            </a:r>
          </a:p>
        </p:txBody>
      </p:sp>
      <p:sp>
        <p:nvSpPr>
          <p:cNvPr id="19" name="">
            <a:extLst xmlns:a="http://schemas.openxmlformats.org/drawingml/2006/main">
              <a:ext uri="{FF2B5EF4-FFF2-40B4-BE49-F238E27FC236}">
                <a16:creationId xmlns:a16="http://schemas.microsoft.com/office/drawing/2014/main" id="{573CE0A4-5F6E-4173-BA36-FC81FF069642}"/>
              </a:ext>
            </a:extLst>
          </p:cNvPr>
          <p:cNvSpPr>
            <a:spLocks xmlns:a="http://schemas.openxmlformats.org/drawingml/2006/main" noGrp="1"/>
          </p:cNvSpPr>
          <p:nvPr/>
        </p:nvSpPr>
        <p:spPr>
          <a:xfrm xmlns:a="http://schemas.openxmlformats.org/drawingml/2006/main">
            <a:off x="9239250" y="23050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64748B"/>
                </a:solidFill>
              </a:defRPr>
            </a:pPr>
            <a:r>
              <a:rPr sz="1650" b="1">
                <a:solidFill>
                  <a:srgbClr val="64748B"/>
                </a:solidFill>
              </a:rPr>
              <a:t>-&gt;</a:t>
            </a:r>
          </a:p>
        </p:txBody>
      </p:sp>
      <p:sp>
        <p:nvSpPr>
          <p:cNvPr id="20" name="">
            <a:extLst xmlns:a="http://schemas.openxmlformats.org/drawingml/2006/main">
              <a:ext uri="{FF2B5EF4-FFF2-40B4-BE49-F238E27FC236}">
                <a16:creationId xmlns:a16="http://schemas.microsoft.com/office/drawing/2014/main" id="{3FA24E60-A4E5-422E-9DF1-0FA46D314674}"/>
              </a:ext>
            </a:extLst>
          </p:cNvPr>
          <p:cNvSpPr>
            <a:spLocks xmlns:a="http://schemas.openxmlformats.org/drawingml/2006/main" noGrp="1"/>
          </p:cNvSpPr>
          <p:nvPr/>
        </p:nvSpPr>
        <p:spPr>
          <a:xfrm xmlns:a="http://schemas.openxmlformats.org/drawingml/2006/main">
            <a:off x="9448800" y="1866900"/>
            <a:ext cx="1905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F5BFCCBE-4763-4D2E-BF14-ABC5435AE939}"/>
              </a:ext>
            </a:extLst>
          </p:cNvPr>
          <p:cNvSpPr>
            <a:spLocks xmlns:a="http://schemas.openxmlformats.org/drawingml/2006/main" noGrp="1"/>
          </p:cNvSpPr>
          <p:nvPr/>
        </p:nvSpPr>
        <p:spPr>
          <a:xfrm xmlns:a="http://schemas.openxmlformats.org/drawingml/2006/main">
            <a:off x="9620250" y="20574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891B2"/>
                </a:solidFill>
              </a:defRPr>
            </a:pPr>
            <a:r>
              <a:rPr sz="1200" b="1">
                <a:solidFill>
                  <a:srgbClr val="0891B2"/>
                </a:solidFill>
              </a:rPr>
              <a:t>Baseline file</a:t>
            </a:r>
          </a:p>
        </p:txBody>
      </p:sp>
      <p:sp>
        <p:nvSpPr>
          <p:cNvPr id="22" name="">
            <a:extLst xmlns:a="http://schemas.openxmlformats.org/drawingml/2006/main">
              <a:ext uri="{FF2B5EF4-FFF2-40B4-BE49-F238E27FC236}">
                <a16:creationId xmlns:a16="http://schemas.microsoft.com/office/drawing/2014/main" id="{79495857-CD17-4594-AAB5-33C18F1DBE84}"/>
              </a:ext>
            </a:extLst>
          </p:cNvPr>
          <p:cNvSpPr>
            <a:spLocks xmlns:a="http://schemas.openxmlformats.org/drawingml/2006/main" noGrp="1"/>
          </p:cNvSpPr>
          <p:nvPr/>
        </p:nvSpPr>
        <p:spPr>
          <a:xfrm xmlns:a="http://schemas.openxmlformats.org/drawingml/2006/main">
            <a:off x="9620250" y="25146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475569"/>
                </a:solidFill>
              </a:defRPr>
            </a:pPr>
            <a:r>
              <a:rPr sz="900" b="0">
                <a:solidFill>
                  <a:srgbClr val="475569"/>
                </a:solidFill>
              </a:rPr>
              <a:t>A/B comparison before and after edits</a:t>
            </a:r>
          </a:p>
        </p:txBody>
      </p:sp>
      <p:sp>
        <p:nvSpPr>
          <p:cNvPr id="23" name="">
            <a:extLst xmlns:a="http://schemas.openxmlformats.org/drawingml/2006/main">
              <a:ext uri="{FF2B5EF4-FFF2-40B4-BE49-F238E27FC236}">
                <a16:creationId xmlns:a16="http://schemas.microsoft.com/office/drawing/2014/main" id="{B3FD961E-E7E6-4357-B1AC-ECC137AC5F04}"/>
              </a:ext>
            </a:extLst>
          </p:cNvPr>
          <p:cNvSpPr>
            <a:spLocks xmlns:a="http://schemas.openxmlformats.org/drawingml/2006/main" noGrp="1"/>
          </p:cNvSpPr>
          <p:nvPr/>
        </p:nvSpPr>
        <p:spPr>
          <a:xfrm xmlns:a="http://schemas.openxmlformats.org/drawingml/2006/main">
            <a:off x="1123950" y="4000500"/>
            <a:ext cx="4381500" cy="1066800"/>
          </a:xfrm>
          <a:prstGeom xmlns:a="http://schemas.openxmlformats.org/drawingml/2006/main" prst="roundRect">
            <a:avLst>
              <a:gd name="adj" fmla="val 7143"/>
            </a:avLst>
          </a:prstGeom>
          <a:solidFill xmlns:a="http://schemas.openxmlformats.org/drawingml/2006/main">
            <a:srgbClr val="EFF6FF"/>
          </a:solidFill>
          <a:ln xmlns:a="http://schemas.openxmlformats.org/drawingml/2006/main" w="9525">
            <a:solidFill>
              <a:srgbClr val="BFDBFE"/>
            </a:solidFill>
            <a:prstDash val="solid"/>
          </a:ln>
        </p:spPr>
      </p:sp>
      <p:sp>
        <p:nvSpPr>
          <p:cNvPr id="24" name="">
            <a:extLst xmlns:a="http://schemas.openxmlformats.org/drawingml/2006/main">
              <a:ext uri="{FF2B5EF4-FFF2-40B4-BE49-F238E27FC236}">
                <a16:creationId xmlns:a16="http://schemas.microsoft.com/office/drawing/2014/main" id="{19078E0A-FDDB-475C-91B4-4A1855163706}"/>
              </a:ext>
            </a:extLst>
          </p:cNvPr>
          <p:cNvSpPr>
            <a:spLocks xmlns:a="http://schemas.openxmlformats.org/drawingml/2006/main" noGrp="1"/>
          </p:cNvSpPr>
          <p:nvPr/>
        </p:nvSpPr>
        <p:spPr>
          <a:xfrm xmlns:a="http://schemas.openxmlformats.org/drawingml/2006/main">
            <a:off x="1409700" y="4248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Repeatable command</a:t>
            </a:r>
          </a:p>
        </p:txBody>
      </p:sp>
      <p:sp>
        <p:nvSpPr>
          <p:cNvPr id="25" name="">
            <a:extLst xmlns:a="http://schemas.openxmlformats.org/drawingml/2006/main">
              <a:ext uri="{FF2B5EF4-FFF2-40B4-BE49-F238E27FC236}">
                <a16:creationId xmlns:a16="http://schemas.microsoft.com/office/drawing/2014/main" id="{43A415EA-5868-4875-AC2F-DC242E947E33}"/>
              </a:ext>
            </a:extLst>
          </p:cNvPr>
          <p:cNvSpPr>
            <a:spLocks xmlns:a="http://schemas.openxmlformats.org/drawingml/2006/main" noGrp="1"/>
          </p:cNvSpPr>
          <p:nvPr/>
        </p:nvSpPr>
        <p:spPr>
          <a:xfrm xmlns:a="http://schemas.openxmlformats.org/drawingml/2006/main">
            <a:off x="1409700" y="45910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11827"/>
                </a:solidFill>
              </a:defRPr>
            </a:pPr>
            <a:r>
              <a:rPr sz="1350" b="1">
                <a:solidFill>
                  <a:srgbClr val="111827"/>
                </a:solidFill>
              </a:rPr>
              <a:t>npm run scan:unanswered-questions</a:t>
            </a:r>
          </a:p>
        </p:txBody>
      </p:sp>
      <p:sp>
        <p:nvSpPr>
          <p:cNvPr id="26" name="">
            <a:extLst xmlns:a="http://schemas.openxmlformats.org/drawingml/2006/main">
              <a:ext uri="{FF2B5EF4-FFF2-40B4-BE49-F238E27FC236}">
                <a16:creationId xmlns:a16="http://schemas.microsoft.com/office/drawing/2014/main" id="{09B7962E-E0E5-42B2-AE35-E99A764D093E}"/>
              </a:ext>
            </a:extLst>
          </p:cNvPr>
          <p:cNvSpPr>
            <a:spLocks xmlns:a="http://schemas.openxmlformats.org/drawingml/2006/main" noGrp="1"/>
          </p:cNvSpPr>
          <p:nvPr/>
        </p:nvSpPr>
        <p:spPr>
          <a:xfrm xmlns:a="http://schemas.openxmlformats.org/drawingml/2006/main">
            <a:off x="6134100" y="4000500"/>
            <a:ext cx="4381500" cy="1066800"/>
          </a:xfrm>
          <a:prstGeom xmlns:a="http://schemas.openxmlformats.org/drawingml/2006/main" prst="roundRect">
            <a:avLst>
              <a:gd name="adj" fmla="val 7143"/>
            </a:avLst>
          </a:prstGeom>
          <a:solidFill xmlns:a="http://schemas.openxmlformats.org/drawingml/2006/main">
            <a:srgbClr val="FFFBEB"/>
          </a:solidFill>
          <a:ln xmlns:a="http://schemas.openxmlformats.org/drawingml/2006/main" w="9525">
            <a:solidFill>
              <a:srgbClr val="FDE68A"/>
            </a:solidFill>
            <a:prstDash val="solid"/>
          </a:ln>
        </p:spPr>
      </p:sp>
      <p:sp>
        <p:nvSpPr>
          <p:cNvPr id="27" name="">
            <a:extLst xmlns:a="http://schemas.openxmlformats.org/drawingml/2006/main">
              <a:ext uri="{FF2B5EF4-FFF2-40B4-BE49-F238E27FC236}">
                <a16:creationId xmlns:a16="http://schemas.microsoft.com/office/drawing/2014/main" id="{3435D465-0A49-49F3-B394-485923C44C57}"/>
              </a:ext>
            </a:extLst>
          </p:cNvPr>
          <p:cNvSpPr>
            <a:spLocks xmlns:a="http://schemas.openxmlformats.org/drawingml/2006/main" noGrp="1"/>
          </p:cNvSpPr>
          <p:nvPr/>
        </p:nvSpPr>
        <p:spPr>
          <a:xfrm xmlns:a="http://schemas.openxmlformats.org/drawingml/2006/main">
            <a:off x="6419850" y="4248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D97706"/>
                </a:solidFill>
              </a:defRPr>
            </a:pPr>
            <a:r>
              <a:rPr sz="1350" b="1">
                <a:solidFill>
                  <a:srgbClr val="D97706"/>
                </a:solidFill>
              </a:rPr>
              <a:t>Output folder</a:t>
            </a:r>
          </a:p>
        </p:txBody>
      </p:sp>
      <p:sp>
        <p:nvSpPr>
          <p:cNvPr id="28" name="">
            <a:extLst xmlns:a="http://schemas.openxmlformats.org/drawingml/2006/main">
              <a:ext uri="{FF2B5EF4-FFF2-40B4-BE49-F238E27FC236}">
                <a16:creationId xmlns:a16="http://schemas.microsoft.com/office/drawing/2014/main" id="{DC24FA83-1BEF-4D77-B55A-B7BC6C27E640}"/>
              </a:ext>
            </a:extLst>
          </p:cNvPr>
          <p:cNvSpPr>
            <a:spLocks xmlns:a="http://schemas.openxmlformats.org/drawingml/2006/main" noGrp="1"/>
          </p:cNvSpPr>
          <p:nvPr/>
        </p:nvSpPr>
        <p:spPr>
          <a:xfrm xmlns:a="http://schemas.openxmlformats.org/drawingml/2006/main">
            <a:off x="6419850" y="45910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827"/>
                </a:solidFill>
              </a:defRPr>
            </a:pPr>
            <a:r>
              <a:rPr sz="975" b="1">
                <a:solidFill>
                  <a:srgbClr val="111827"/>
                </a:solidFill>
              </a:rPr>
              <a:t>content-output/unanswered-question-scanner-2026-06-24</a:t>
            </a:r>
          </a:p>
        </p:txBody>
      </p:sp>
      <p:sp>
        <p:nvSpPr>
          <p:cNvPr id="29" name="">
            <a:extLst xmlns:a="http://schemas.openxmlformats.org/drawingml/2006/main">
              <a:ext uri="{FF2B5EF4-FFF2-40B4-BE49-F238E27FC236}">
                <a16:creationId xmlns:a16="http://schemas.microsoft.com/office/drawing/2014/main" id="{4DA3C096-37D6-40D3-ADAA-E689478FD4EA}"/>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Script added: scripts/build-unanswered-question-scanner.mjs</a:t>
            </a:r>
          </a:p>
        </p:txBody>
      </p:sp>
      <p:sp>
        <p:nvSpPr>
          <p:cNvPr id="30" name="">
            <a:extLst xmlns:a="http://schemas.openxmlformats.org/drawingml/2006/main">
              <a:ext uri="{FF2B5EF4-FFF2-40B4-BE49-F238E27FC236}">
                <a16:creationId xmlns:a16="http://schemas.microsoft.com/office/drawing/2014/main" id="{65C2F6EB-7183-4924-B983-61F408184D2E}"/>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871855282"/>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AD8367-0705-461D-9225-1D2A79AAE4EC}"/>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F6133EE0-F3A6-4920-9E64-BCA56DD6E56A}"/>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How we coordinate with the SEO contractor</a:t>
            </a:r>
          </a:p>
        </p:txBody>
      </p:sp>
      <p:sp>
        <p:nvSpPr>
          <p:cNvPr id="3" name="">
            <a:extLst xmlns:a="http://schemas.openxmlformats.org/drawingml/2006/main">
              <a:ext uri="{FF2B5EF4-FFF2-40B4-BE49-F238E27FC236}">
                <a16:creationId xmlns:a16="http://schemas.microsoft.com/office/drawing/2014/main" id="{C7466DBD-5F2E-4ACF-BBB2-6A3E0B8AA7F3}"/>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454430-E483-4CCF-82F7-FF3147FAAEEC}"/>
              </a:ext>
            </a:extLst>
          </p:cNvPr>
          <p:cNvSpPr>
            <a:spLocks xmlns:a="http://schemas.openxmlformats.org/drawingml/2006/main" noGrp="1"/>
          </p:cNvSpPr>
          <p:nvPr/>
        </p:nvSpPr>
        <p:spPr>
          <a:xfrm xmlns:a="http://schemas.openxmlformats.org/drawingml/2006/main">
            <a:off x="609600" y="1676400"/>
            <a:ext cx="50673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8FA75A7-7712-4D49-BC3B-CE1C8454E4C5}"/>
              </a:ext>
            </a:extLst>
          </p:cNvPr>
          <p:cNvSpPr>
            <a:spLocks xmlns:a="http://schemas.openxmlformats.org/drawingml/2006/main" noGrp="1"/>
          </p:cNvSpPr>
          <p:nvPr/>
        </p:nvSpPr>
        <p:spPr>
          <a:xfrm xmlns:a="http://schemas.openxmlformats.org/drawingml/2006/main">
            <a:off x="914400" y="1943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2563EB"/>
                </a:solidFill>
              </a:defRPr>
            </a:pPr>
            <a:r>
              <a:rPr sz="1650" b="1">
                <a:solidFill>
                  <a:srgbClr val="2563EB"/>
                </a:solidFill>
              </a:rPr>
              <a:t>iBOLT Mark / internal system</a:t>
            </a:r>
          </a:p>
        </p:txBody>
      </p:sp>
      <p:sp>
        <p:nvSpPr>
          <p:cNvPr id="6" name="">
            <a:extLst xmlns:a="http://schemas.openxmlformats.org/drawingml/2006/main">
              <a:ext uri="{FF2B5EF4-FFF2-40B4-BE49-F238E27FC236}">
                <a16:creationId xmlns:a16="http://schemas.microsoft.com/office/drawing/2014/main" id="{78C28542-BB59-49CD-8F7B-8742E05F6FB9}"/>
              </a:ext>
            </a:extLst>
          </p:cNvPr>
          <p:cNvSpPr>
            <a:spLocks xmlns:a="http://schemas.openxmlformats.org/drawingml/2006/main" noGrp="1"/>
          </p:cNvSpPr>
          <p:nvPr/>
        </p:nvSpPr>
        <p:spPr>
          <a:xfrm xmlns:a="http://schemas.openxmlformats.org/drawingml/2006/main">
            <a:off x="914400" y="2476500"/>
            <a:ext cx="4095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Run benchmarks and scanner</a:t>
            </a:r>
          </a:p>
          <a:p xmlns:a="http://schemas.openxmlformats.org/drawingml/2006/main">
            <a:pPr algn="l">
              <a:buNone/>
              <a:defRPr sz="1200" b="0">
                <a:solidFill>
                  <a:srgbClr val="111827"/>
                </a:solidFill>
              </a:defRPr>
            </a:pPr>
            <a:r>
              <a:rPr sz="1200" b="0">
                <a:solidFill>
                  <a:srgbClr val="111827"/>
                </a:solidFill>
              </a:rPr>
              <a:t>- Refresh pages and build new solution hubs</a:t>
            </a:r>
          </a:p>
          <a:p xmlns:a="http://schemas.openxmlformats.org/drawingml/2006/main">
            <a:pPr algn="l">
              <a:buNone/>
              <a:defRPr sz="1200" b="0">
                <a:solidFill>
                  <a:srgbClr val="111827"/>
                </a:solidFill>
              </a:defRPr>
            </a:pPr>
            <a:r>
              <a:rPr sz="1200" b="0">
                <a:solidFill>
                  <a:srgbClr val="111827"/>
                </a:solidFill>
              </a:rPr>
              <a:t>- Add schema and product/entity links</a:t>
            </a:r>
          </a:p>
          <a:p xmlns:a="http://schemas.openxmlformats.org/drawingml/2006/main">
            <a:pPr algn="l">
              <a:buNone/>
              <a:defRPr sz="1200" b="0">
                <a:solidFill>
                  <a:srgbClr val="111827"/>
                </a:solidFill>
              </a:defRPr>
            </a:pPr>
            <a:r>
              <a:rPr sz="1200" b="0">
                <a:solidFill>
                  <a:srgbClr val="111827"/>
                </a:solidFill>
              </a:rPr>
              <a:t>- Record baseline and retest results</a:t>
            </a:r>
          </a:p>
          <a:p xmlns:a="http://schemas.openxmlformats.org/drawingml/2006/main">
            <a:pPr algn="l">
              <a:buNone/>
              <a:defRPr sz="1200" b="0">
                <a:solidFill>
                  <a:srgbClr val="111827"/>
                </a:solidFill>
              </a:defRPr>
            </a:pPr>
            <a:r>
              <a:rPr sz="1200" b="0">
                <a:solidFill>
                  <a:srgbClr val="111827"/>
                </a:solidFill>
              </a:rPr>
              <a:t>- Generate briefs for outreach targets</a:t>
            </a:r>
          </a:p>
        </p:txBody>
      </p:sp>
      <p:sp>
        <p:nvSpPr>
          <p:cNvPr id="7" name="">
            <a:extLst xmlns:a="http://schemas.openxmlformats.org/drawingml/2006/main">
              <a:ext uri="{FF2B5EF4-FFF2-40B4-BE49-F238E27FC236}">
                <a16:creationId xmlns:a16="http://schemas.microsoft.com/office/drawing/2014/main" id="{23E53FF7-F6F2-472B-9B30-F2BABE5EB748}"/>
              </a:ext>
            </a:extLst>
          </p:cNvPr>
          <p:cNvSpPr>
            <a:spLocks xmlns:a="http://schemas.openxmlformats.org/drawingml/2006/main" noGrp="1"/>
          </p:cNvSpPr>
          <p:nvPr/>
        </p:nvSpPr>
        <p:spPr>
          <a:xfrm xmlns:a="http://schemas.openxmlformats.org/drawingml/2006/main">
            <a:off x="6515100" y="1676400"/>
            <a:ext cx="50673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722B3B1-65E6-4F17-A14E-42BD103D13C1}"/>
              </a:ext>
            </a:extLst>
          </p:cNvPr>
          <p:cNvSpPr>
            <a:spLocks xmlns:a="http://schemas.openxmlformats.org/drawingml/2006/main" noGrp="1"/>
          </p:cNvSpPr>
          <p:nvPr/>
        </p:nvSpPr>
        <p:spPr>
          <a:xfrm xmlns:a="http://schemas.openxmlformats.org/drawingml/2006/main">
            <a:off x="6819900" y="1943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59669"/>
                </a:solidFill>
              </a:defRPr>
            </a:pPr>
            <a:r>
              <a:rPr sz="1650" b="1">
                <a:solidFill>
                  <a:srgbClr val="059669"/>
                </a:solidFill>
              </a:rPr>
              <a:t>SEO contractor / external proof</a:t>
            </a:r>
          </a:p>
        </p:txBody>
      </p:sp>
      <p:sp>
        <p:nvSpPr>
          <p:cNvPr id="9" name="">
            <a:extLst xmlns:a="http://schemas.openxmlformats.org/drawingml/2006/main">
              <a:ext uri="{FF2B5EF4-FFF2-40B4-BE49-F238E27FC236}">
                <a16:creationId xmlns:a16="http://schemas.microsoft.com/office/drawing/2014/main" id="{11A247BD-5099-4B42-B0D4-8EA54D2FA99E}"/>
              </a:ext>
            </a:extLst>
          </p:cNvPr>
          <p:cNvSpPr>
            <a:spLocks xmlns:a="http://schemas.openxmlformats.org/drawingml/2006/main" noGrp="1"/>
          </p:cNvSpPr>
          <p:nvPr/>
        </p:nvSpPr>
        <p:spPr>
          <a:xfrm xmlns:a="http://schemas.openxmlformats.org/drawingml/2006/main">
            <a:off x="6819900" y="2476500"/>
            <a:ext cx="4095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Pitch review and roundup placements</a:t>
            </a:r>
          </a:p>
          <a:p xmlns:a="http://schemas.openxmlformats.org/drawingml/2006/main">
            <a:pPr algn="l">
              <a:buNone/>
              <a:defRPr sz="1200" b="0">
                <a:solidFill>
                  <a:srgbClr val="111827"/>
                </a:solidFill>
              </a:defRPr>
            </a:pPr>
            <a:r>
              <a:rPr sz="1200" b="0">
                <a:solidFill>
                  <a:srgbClr val="111827"/>
                </a:solidFill>
              </a:rPr>
              <a:t>- Secure trade/industry mentions</a:t>
            </a:r>
          </a:p>
          <a:p xmlns:a="http://schemas.openxmlformats.org/drawingml/2006/main">
            <a:pPr algn="l">
              <a:buNone/>
              <a:defRPr sz="1200" b="0">
                <a:solidFill>
                  <a:srgbClr val="111827"/>
                </a:solidFill>
              </a:defRPr>
            </a:pPr>
            <a:r>
              <a:rPr sz="1200" b="0">
                <a:solidFill>
                  <a:srgbClr val="111827"/>
                </a:solidFill>
              </a:rPr>
              <a:t>- Build partner and reseller citations</a:t>
            </a:r>
          </a:p>
          <a:p xmlns:a="http://schemas.openxmlformats.org/drawingml/2006/main">
            <a:pPr algn="l">
              <a:buNone/>
              <a:defRPr sz="1200" b="0">
                <a:solidFill>
                  <a:srgbClr val="111827"/>
                </a:solidFill>
              </a:defRPr>
            </a:pPr>
            <a:r>
              <a:rPr sz="1200" b="0">
                <a:solidFill>
                  <a:srgbClr val="111827"/>
                </a:solidFill>
              </a:rPr>
              <a:t>- Support backlinks to refreshed hubs</a:t>
            </a:r>
          </a:p>
          <a:p xmlns:a="http://schemas.openxmlformats.org/drawingml/2006/main">
            <a:pPr algn="l">
              <a:buNone/>
              <a:defRPr sz="1200" b="0">
                <a:solidFill>
                  <a:srgbClr val="111827"/>
                </a:solidFill>
              </a:defRPr>
            </a:pPr>
            <a:r>
              <a:rPr sz="1200" b="0">
                <a:solidFill>
                  <a:srgbClr val="111827"/>
                </a:solidFill>
              </a:rPr>
              <a:t>- Report links earned and anchor context</a:t>
            </a:r>
          </a:p>
        </p:txBody>
      </p:sp>
      <p:sp>
        <p:nvSpPr>
          <p:cNvPr id="10" name="">
            <a:extLst xmlns:a="http://schemas.openxmlformats.org/drawingml/2006/main">
              <a:ext uri="{FF2B5EF4-FFF2-40B4-BE49-F238E27FC236}">
                <a16:creationId xmlns:a16="http://schemas.microsoft.com/office/drawing/2014/main" id="{7F6C1568-B791-4468-8EEA-4D48F568DD67}"/>
              </a:ext>
            </a:extLst>
          </p:cNvPr>
          <p:cNvSpPr>
            <a:spLocks xmlns:a="http://schemas.openxmlformats.org/drawingml/2006/main" noGrp="1"/>
          </p:cNvSpPr>
          <p:nvPr/>
        </p:nvSpPr>
        <p:spPr>
          <a:xfrm xmlns:a="http://schemas.openxmlformats.org/drawingml/2006/main">
            <a:off x="1962150" y="5257800"/>
            <a:ext cx="8267700" cy="514350"/>
          </a:xfrm>
          <a:prstGeom xmlns:a="http://schemas.openxmlformats.org/drawingml/2006/main" prst="roundRect">
            <a:avLst>
              <a:gd name="adj" fmla="val 14815"/>
            </a:avLst>
          </a:prstGeom>
          <a:solidFill xmlns:a="http://schemas.openxmlformats.org/drawingml/2006/main">
            <a:srgbClr val="0F172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ABA1DF-3777-4CF9-866D-3250880C85BA}"/>
              </a:ext>
            </a:extLst>
          </p:cNvPr>
          <p:cNvSpPr>
            <a:spLocks xmlns:a="http://schemas.openxmlformats.org/drawingml/2006/main" noGrp="1"/>
          </p:cNvSpPr>
          <p:nvPr/>
        </p:nvSpPr>
        <p:spPr>
          <a:xfrm xmlns:a="http://schemas.openxmlformats.org/drawingml/2006/main">
            <a:off x="2228850" y="5429250"/>
            <a:ext cx="7734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FFFFFF"/>
                </a:solidFill>
              </a:defRPr>
            </a:pPr>
            <a:r>
              <a:rPr sz="1050" b="1">
                <a:solidFill>
                  <a:srgbClr val="FFFFFF"/>
                </a:solidFill>
              </a:rPr>
              <a:t>Shared KPI: mentions + citations up, competitor-only answers down, assisted checkouts up.</a:t>
            </a:r>
          </a:p>
        </p:txBody>
      </p:sp>
      <p:sp>
        <p:nvSpPr>
          <p:cNvPr id="12" name="">
            <a:extLst xmlns:a="http://schemas.openxmlformats.org/drawingml/2006/main">
              <a:ext uri="{FF2B5EF4-FFF2-40B4-BE49-F238E27FC236}">
                <a16:creationId xmlns:a16="http://schemas.microsoft.com/office/drawing/2014/main" id="{9B17296B-97F3-4262-ADAA-0C729A1B5690}"/>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Operating model based on benchmark misses, citation research, and contractor handoff needs.</a:t>
            </a:r>
          </a:p>
        </p:txBody>
      </p:sp>
      <p:sp>
        <p:nvSpPr>
          <p:cNvPr id="13" name="">
            <a:extLst xmlns:a="http://schemas.openxmlformats.org/drawingml/2006/main">
              <a:ext uri="{FF2B5EF4-FFF2-40B4-BE49-F238E27FC236}">
                <a16:creationId xmlns:a16="http://schemas.microsoft.com/office/drawing/2014/main" id="{AD03FF28-6A54-4C58-BC21-08004A440445}"/>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6136614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49E0A2-9BB8-420C-9D27-A631EAA524BF}"/>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563EB"/>
                </a:solidFill>
              </a:defRPr>
            </a:pPr>
            <a:r>
              <a:rPr sz="900" b="1">
                <a:solidFill>
                  <a:srgbClr val="2563EB"/>
                </a:solidFill>
              </a:rPr>
              <a:t>IBOLT AI VISIBILITY PROGRAM</a:t>
            </a:r>
          </a:p>
        </p:txBody>
      </p:sp>
      <p:sp>
        <p:nvSpPr>
          <p:cNvPr id="2" name="">
            <a:extLst xmlns:a="http://schemas.openxmlformats.org/drawingml/2006/main">
              <a:ext uri="{FF2B5EF4-FFF2-40B4-BE49-F238E27FC236}">
                <a16:creationId xmlns:a16="http://schemas.microsoft.com/office/drawing/2014/main" id="{F9786A8B-4061-4435-B4C6-7E53A38F99F7}"/>
              </a:ext>
            </a:extLst>
          </p:cNvPr>
          <p:cNvSpPr>
            <a:spLocks xmlns:a="http://schemas.openxmlformats.org/drawingml/2006/main" noGrp="1"/>
          </p:cNvSpPr>
          <p:nvPr/>
        </p:nvSpPr>
        <p:spPr>
          <a:xfrm xmlns:a="http://schemas.openxmlformats.org/drawingml/2006/main">
            <a:off x="609600" y="6477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11827"/>
                </a:solidFill>
              </a:defRPr>
            </a:pPr>
            <a:r>
              <a:rPr sz="2550" b="1">
                <a:solidFill>
                  <a:srgbClr val="111827"/>
                </a:solidFill>
              </a:rPr>
              <a:t>Recommended 30/60/90 day plan</a:t>
            </a:r>
          </a:p>
        </p:txBody>
      </p:sp>
      <p:sp>
        <p:nvSpPr>
          <p:cNvPr id="3" name="">
            <a:extLst xmlns:a="http://schemas.openxmlformats.org/drawingml/2006/main">
              <a:ext uri="{FF2B5EF4-FFF2-40B4-BE49-F238E27FC236}">
                <a16:creationId xmlns:a16="http://schemas.microsoft.com/office/drawing/2014/main" id="{07F37A87-B52B-4D4B-8776-00ABA00F177F}"/>
              </a:ext>
            </a:extLst>
          </p:cNvPr>
          <p:cNvSpPr>
            <a:spLocks xmlns:a="http://schemas.openxmlformats.org/drawingml/2006/main" noGrp="1"/>
          </p:cNvSpPr>
          <p:nvPr/>
        </p:nvSpPr>
        <p:spPr>
          <a:xfrm xmlns:a="http://schemas.openxmlformats.org/drawingml/2006/main">
            <a:off x="609600" y="1314450"/>
            <a:ext cx="109728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3DABA4-A703-4B63-9E3C-9ADCF2CEC4C6}"/>
              </a:ext>
            </a:extLst>
          </p:cNvPr>
          <p:cNvSpPr>
            <a:spLocks xmlns:a="http://schemas.openxmlformats.org/drawingml/2006/main" noGrp="1"/>
          </p:cNvSpPr>
          <p:nvPr/>
        </p:nvSpPr>
        <p:spPr>
          <a:xfrm xmlns:a="http://schemas.openxmlformats.org/drawingml/2006/main">
            <a:off x="609600" y="1714500"/>
            <a:ext cx="333375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E838F00A-CB43-4126-924B-E02EE0AB6A8E}"/>
              </a:ext>
            </a:extLst>
          </p:cNvPr>
          <p:cNvSpPr>
            <a:spLocks xmlns:a="http://schemas.openxmlformats.org/drawingml/2006/main" noGrp="1"/>
          </p:cNvSpPr>
          <p:nvPr/>
        </p:nvSpPr>
        <p:spPr>
          <a:xfrm xmlns:a="http://schemas.openxmlformats.org/drawingml/2006/main">
            <a:off x="609600" y="1714500"/>
            <a:ext cx="333375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D17C1D-94E9-42EC-ABCF-93D3A8C906FB}"/>
              </a:ext>
            </a:extLst>
          </p:cNvPr>
          <p:cNvSpPr>
            <a:spLocks xmlns:a="http://schemas.openxmlformats.org/drawingml/2006/main" noGrp="1"/>
          </p:cNvSpPr>
          <p:nvPr/>
        </p:nvSpPr>
        <p:spPr>
          <a:xfrm xmlns:a="http://schemas.openxmlformats.org/drawingml/2006/main">
            <a:off x="857250" y="2019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2563EB"/>
                </a:solidFill>
              </a:defRPr>
            </a:pPr>
            <a:r>
              <a:rPr sz="1800" b="1">
                <a:solidFill>
                  <a:srgbClr val="2563EB"/>
                </a:solidFill>
              </a:rPr>
              <a:t>Next 30 days</a:t>
            </a:r>
          </a:p>
        </p:txBody>
      </p:sp>
      <p:sp>
        <p:nvSpPr>
          <p:cNvPr id="7" name="">
            <a:extLst xmlns:a="http://schemas.openxmlformats.org/drawingml/2006/main">
              <a:ext uri="{FF2B5EF4-FFF2-40B4-BE49-F238E27FC236}">
                <a16:creationId xmlns:a16="http://schemas.microsoft.com/office/drawing/2014/main" id="{053308FA-77E7-437C-8C6A-AFA69A0078B9}"/>
              </a:ext>
            </a:extLst>
          </p:cNvPr>
          <p:cNvSpPr>
            <a:spLocks xmlns:a="http://schemas.openxmlformats.org/drawingml/2006/main" noGrp="1"/>
          </p:cNvSpPr>
          <p:nvPr/>
        </p:nvSpPr>
        <p:spPr>
          <a:xfrm xmlns:a="http://schemas.openxmlformats.org/drawingml/2006/main">
            <a:off x="857250" y="2647950"/>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Refresh top 10 pages</a:t>
            </a:r>
          </a:p>
          <a:p xmlns:a="http://schemas.openxmlformats.org/drawingml/2006/main">
            <a:pPr algn="l">
              <a:buNone/>
              <a:defRPr sz="1200" b="0">
                <a:solidFill>
                  <a:srgbClr val="111827"/>
                </a:solidFill>
              </a:defRPr>
            </a:pPr>
            <a:r>
              <a:rPr sz="1200" b="0">
                <a:solidFill>
                  <a:srgbClr val="111827"/>
                </a:solidFill>
              </a:rPr>
              <a:t>- Launch scanner cadence</a:t>
            </a:r>
          </a:p>
          <a:p xmlns:a="http://schemas.openxmlformats.org/drawingml/2006/main">
            <a:pPr algn="l">
              <a:buNone/>
              <a:defRPr sz="1200" b="0">
                <a:solidFill>
                  <a:srgbClr val="111827"/>
                </a:solidFill>
              </a:defRPr>
            </a:pPr>
            <a:r>
              <a:rPr sz="1200" b="0">
                <a:solidFill>
                  <a:srgbClr val="111827"/>
                </a:solidFill>
              </a:rPr>
              <a:t>- Fix analytics access</a:t>
            </a:r>
          </a:p>
          <a:p xmlns:a="http://schemas.openxmlformats.org/drawingml/2006/main">
            <a:pPr algn="l">
              <a:buNone/>
              <a:defRPr sz="1200" b="0">
                <a:solidFill>
                  <a:srgbClr val="111827"/>
                </a:solidFill>
              </a:defRPr>
            </a:pPr>
            <a:r>
              <a:rPr sz="1200" b="0">
                <a:solidFill>
                  <a:srgbClr val="111827"/>
                </a:solidFill>
              </a:rPr>
              <a:t>- Build citation outreach packet</a:t>
            </a:r>
          </a:p>
        </p:txBody>
      </p:sp>
      <p:sp>
        <p:nvSpPr>
          <p:cNvPr id="8" name="">
            <a:extLst xmlns:a="http://schemas.openxmlformats.org/drawingml/2006/main">
              <a:ext uri="{FF2B5EF4-FFF2-40B4-BE49-F238E27FC236}">
                <a16:creationId xmlns:a16="http://schemas.microsoft.com/office/drawing/2014/main" id="{25E7BBD0-5570-49EC-B1DF-FC1820C25BB5}"/>
              </a:ext>
            </a:extLst>
          </p:cNvPr>
          <p:cNvSpPr>
            <a:spLocks xmlns:a="http://schemas.openxmlformats.org/drawingml/2006/main" noGrp="1"/>
          </p:cNvSpPr>
          <p:nvPr/>
        </p:nvSpPr>
        <p:spPr>
          <a:xfrm xmlns:a="http://schemas.openxmlformats.org/drawingml/2006/main">
            <a:off x="4400550" y="1714500"/>
            <a:ext cx="333375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3EDEC9FD-14B7-473B-B92D-B7A5390BD8F6}"/>
              </a:ext>
            </a:extLst>
          </p:cNvPr>
          <p:cNvSpPr>
            <a:spLocks xmlns:a="http://schemas.openxmlformats.org/drawingml/2006/main" noGrp="1"/>
          </p:cNvSpPr>
          <p:nvPr/>
        </p:nvSpPr>
        <p:spPr>
          <a:xfrm xmlns:a="http://schemas.openxmlformats.org/drawingml/2006/main">
            <a:off x="4400550" y="1714500"/>
            <a:ext cx="3333750" cy="76200"/>
          </a:xfrm>
          <a:prstGeom xmlns:a="http://schemas.openxmlformats.org/drawingml/2006/main" prst="rect">
            <a:avLst/>
          </a:prstGeom>
          <a:solidFill xmlns:a="http://schemas.openxmlformats.org/drawingml/2006/main">
            <a:srgbClr val="05966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F5F753-1DBA-467D-ADAD-220B3BDC49D1}"/>
              </a:ext>
            </a:extLst>
          </p:cNvPr>
          <p:cNvSpPr>
            <a:spLocks xmlns:a="http://schemas.openxmlformats.org/drawingml/2006/main" noGrp="1"/>
          </p:cNvSpPr>
          <p:nvPr/>
        </p:nvSpPr>
        <p:spPr>
          <a:xfrm xmlns:a="http://schemas.openxmlformats.org/drawingml/2006/main">
            <a:off x="4648200" y="2019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59669"/>
                </a:solidFill>
              </a:defRPr>
            </a:pPr>
            <a:r>
              <a:rPr sz="1800" b="1">
                <a:solidFill>
                  <a:srgbClr val="059669"/>
                </a:solidFill>
              </a:rPr>
              <a:t>Next 60 days</a:t>
            </a:r>
          </a:p>
        </p:txBody>
      </p:sp>
      <p:sp>
        <p:nvSpPr>
          <p:cNvPr id="11" name="">
            <a:extLst xmlns:a="http://schemas.openxmlformats.org/drawingml/2006/main">
              <a:ext uri="{FF2B5EF4-FFF2-40B4-BE49-F238E27FC236}">
                <a16:creationId xmlns:a16="http://schemas.microsoft.com/office/drawing/2014/main" id="{45FD4677-20A0-4632-8618-6B1ED03A42BC}"/>
              </a:ext>
            </a:extLst>
          </p:cNvPr>
          <p:cNvSpPr>
            <a:spLocks xmlns:a="http://schemas.openxmlformats.org/drawingml/2006/main" noGrp="1"/>
          </p:cNvSpPr>
          <p:nvPr/>
        </p:nvSpPr>
        <p:spPr>
          <a:xfrm xmlns:a="http://schemas.openxmlformats.org/drawingml/2006/main">
            <a:off x="4648200" y="2647950"/>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Publish missing solution hubs</a:t>
            </a:r>
          </a:p>
          <a:p xmlns:a="http://schemas.openxmlformats.org/drawingml/2006/main">
            <a:pPr algn="l">
              <a:buNone/>
              <a:defRPr sz="1200" b="0">
                <a:solidFill>
                  <a:srgbClr val="111827"/>
                </a:solidFill>
              </a:defRPr>
            </a:pPr>
            <a:r>
              <a:rPr sz="1200" b="0">
                <a:solidFill>
                  <a:srgbClr val="111827"/>
                </a:solidFill>
              </a:rPr>
              <a:t>- Run paid/editorial citation test</a:t>
            </a:r>
          </a:p>
          <a:p xmlns:a="http://schemas.openxmlformats.org/drawingml/2006/main">
            <a:pPr algn="l">
              <a:buNone/>
              <a:defRPr sz="1200" b="0">
                <a:solidFill>
                  <a:srgbClr val="111827"/>
                </a:solidFill>
              </a:defRPr>
            </a:pPr>
            <a:r>
              <a:rPr sz="1200" b="0">
                <a:solidFill>
                  <a:srgbClr val="111827"/>
                </a:solidFill>
              </a:rPr>
              <a:t>- Add compatibility pages</a:t>
            </a:r>
          </a:p>
          <a:p xmlns:a="http://schemas.openxmlformats.org/drawingml/2006/main">
            <a:pPr algn="l">
              <a:buNone/>
              <a:defRPr sz="1200" b="0">
                <a:solidFill>
                  <a:srgbClr val="111827"/>
                </a:solidFill>
              </a:defRPr>
            </a:pPr>
            <a:r>
              <a:rPr sz="1200" b="0">
                <a:solidFill>
                  <a:srgbClr val="111827"/>
                </a:solidFill>
              </a:rPr>
              <a:t>- Retest benchmark every 2 weeks</a:t>
            </a:r>
          </a:p>
        </p:txBody>
      </p:sp>
      <p:sp>
        <p:nvSpPr>
          <p:cNvPr id="12" name="">
            <a:extLst xmlns:a="http://schemas.openxmlformats.org/drawingml/2006/main">
              <a:ext uri="{FF2B5EF4-FFF2-40B4-BE49-F238E27FC236}">
                <a16:creationId xmlns:a16="http://schemas.microsoft.com/office/drawing/2014/main" id="{52913157-855B-46E3-A1FC-0EFF0FCA42C0}"/>
              </a:ext>
            </a:extLst>
          </p:cNvPr>
          <p:cNvSpPr>
            <a:spLocks xmlns:a="http://schemas.openxmlformats.org/drawingml/2006/main" noGrp="1"/>
          </p:cNvSpPr>
          <p:nvPr/>
        </p:nvSpPr>
        <p:spPr>
          <a:xfrm xmlns:a="http://schemas.openxmlformats.org/drawingml/2006/main">
            <a:off x="8191500" y="1714500"/>
            <a:ext cx="333375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BB593343-206A-46D8-9A30-932A02D1DEEB}"/>
              </a:ext>
            </a:extLst>
          </p:cNvPr>
          <p:cNvSpPr>
            <a:spLocks xmlns:a="http://schemas.openxmlformats.org/drawingml/2006/main" noGrp="1"/>
          </p:cNvSpPr>
          <p:nvPr/>
        </p:nvSpPr>
        <p:spPr>
          <a:xfrm xmlns:a="http://schemas.openxmlformats.org/drawingml/2006/main">
            <a:off x="8191500" y="1714500"/>
            <a:ext cx="3333750" cy="762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A1F8D2-0208-4E21-8650-D98D7C23424A}"/>
              </a:ext>
            </a:extLst>
          </p:cNvPr>
          <p:cNvSpPr>
            <a:spLocks xmlns:a="http://schemas.openxmlformats.org/drawingml/2006/main" noGrp="1"/>
          </p:cNvSpPr>
          <p:nvPr/>
        </p:nvSpPr>
        <p:spPr>
          <a:xfrm xmlns:a="http://schemas.openxmlformats.org/drawingml/2006/main">
            <a:off x="8439150" y="2019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D97706"/>
                </a:solidFill>
              </a:defRPr>
            </a:pPr>
            <a:r>
              <a:rPr sz="1800" b="1">
                <a:solidFill>
                  <a:srgbClr val="D97706"/>
                </a:solidFill>
              </a:rPr>
              <a:t>Next 90 days</a:t>
            </a:r>
          </a:p>
        </p:txBody>
      </p:sp>
      <p:sp>
        <p:nvSpPr>
          <p:cNvPr id="15" name="">
            <a:extLst xmlns:a="http://schemas.openxmlformats.org/drawingml/2006/main">
              <a:ext uri="{FF2B5EF4-FFF2-40B4-BE49-F238E27FC236}">
                <a16:creationId xmlns:a16="http://schemas.microsoft.com/office/drawing/2014/main" id="{714353EB-505A-4EFB-80A4-6EF9B6C91990}"/>
              </a:ext>
            </a:extLst>
          </p:cNvPr>
          <p:cNvSpPr>
            <a:spLocks xmlns:a="http://schemas.openxmlformats.org/drawingml/2006/main" noGrp="1"/>
          </p:cNvSpPr>
          <p:nvPr/>
        </p:nvSpPr>
        <p:spPr>
          <a:xfrm xmlns:a="http://schemas.openxmlformats.org/drawingml/2006/main">
            <a:off x="8439150" y="2647950"/>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11827"/>
                </a:solidFill>
              </a:defRPr>
            </a:pPr>
            <a:r>
              <a:rPr sz="1200" b="0">
                <a:solidFill>
                  <a:srgbClr val="111827"/>
                </a:solidFill>
              </a:rPr>
              <a:t>- Scale winning verticals</a:t>
            </a:r>
          </a:p>
          <a:p xmlns:a="http://schemas.openxmlformats.org/drawingml/2006/main">
            <a:pPr algn="l">
              <a:buNone/>
              <a:defRPr sz="1200" b="0">
                <a:solidFill>
                  <a:srgbClr val="111827"/>
                </a:solidFill>
              </a:defRPr>
            </a:pPr>
            <a:r>
              <a:rPr sz="1200" b="0">
                <a:solidFill>
                  <a:srgbClr val="111827"/>
                </a:solidFill>
              </a:rPr>
              <a:t>- Compare traffic/add-to-cart lift</a:t>
            </a:r>
          </a:p>
          <a:p xmlns:a="http://schemas.openxmlformats.org/drawingml/2006/main">
            <a:pPr algn="l">
              <a:buNone/>
              <a:defRPr sz="1200" b="0">
                <a:solidFill>
                  <a:srgbClr val="111827"/>
                </a:solidFill>
              </a:defRPr>
            </a:pPr>
            <a:r>
              <a:rPr sz="1200" b="0">
                <a:solidFill>
                  <a:srgbClr val="111827"/>
                </a:solidFill>
              </a:rPr>
              <a:t>- Expand videos/transcripts</a:t>
            </a:r>
          </a:p>
          <a:p xmlns:a="http://schemas.openxmlformats.org/drawingml/2006/main">
            <a:pPr algn="l">
              <a:buNone/>
              <a:defRPr sz="1200" b="0">
                <a:solidFill>
                  <a:srgbClr val="111827"/>
                </a:solidFill>
              </a:defRPr>
            </a:pPr>
            <a:r>
              <a:rPr sz="1200" b="0">
                <a:solidFill>
                  <a:srgbClr val="111827"/>
                </a:solidFill>
              </a:rPr>
              <a:t>- Decide ongoing weekly publishing pace</a:t>
            </a:r>
          </a:p>
        </p:txBody>
      </p:sp>
      <p:sp>
        <p:nvSpPr>
          <p:cNvPr id="16" name="">
            <a:extLst xmlns:a="http://schemas.openxmlformats.org/drawingml/2006/main">
              <a:ext uri="{FF2B5EF4-FFF2-40B4-BE49-F238E27FC236}">
                <a16:creationId xmlns:a16="http://schemas.microsoft.com/office/drawing/2014/main" id="{6284805F-2EC9-4EEC-B221-8D837A1AB89F}"/>
              </a:ext>
            </a:extLst>
          </p:cNvPr>
          <p:cNvSpPr>
            <a:spLocks xmlns:a="http://schemas.openxmlformats.org/drawingml/2006/main" noGrp="1"/>
          </p:cNvSpPr>
          <p:nvPr/>
        </p:nvSpPr>
        <p:spPr>
          <a:xfrm xmlns:a="http://schemas.openxmlformats.org/drawingml/2006/main">
            <a:off x="1181100" y="5391150"/>
            <a:ext cx="98298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149730BA-F7FA-4E2E-9F83-A52157D69360}"/>
              </a:ext>
            </a:extLst>
          </p:cNvPr>
          <p:cNvSpPr>
            <a:spLocks xmlns:a="http://schemas.openxmlformats.org/drawingml/2006/main" noGrp="1"/>
          </p:cNvSpPr>
          <p:nvPr/>
        </p:nvSpPr>
        <p:spPr>
          <a:xfrm xmlns:a="http://schemas.openxmlformats.org/drawingml/2006/main">
            <a:off x="1447800" y="5553075"/>
            <a:ext cx="929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11827"/>
                </a:solidFill>
              </a:defRPr>
            </a:pPr>
            <a:r>
              <a:rPr sz="1350" b="1">
                <a:solidFill>
                  <a:srgbClr val="111827"/>
                </a:solidFill>
              </a:rPr>
              <a:t>Decision asks: approve analytics access, approve the 10-page refresh sprint, and approve one controlled citation placement test by vertical.</a:t>
            </a:r>
          </a:p>
        </p:txBody>
      </p:sp>
      <p:sp>
        <p:nvSpPr>
          <p:cNvPr id="18" name="">
            <a:extLst xmlns:a="http://schemas.openxmlformats.org/drawingml/2006/main">
              <a:ext uri="{FF2B5EF4-FFF2-40B4-BE49-F238E27FC236}">
                <a16:creationId xmlns:a16="http://schemas.microsoft.com/office/drawing/2014/main" id="{D462AF6B-76BD-4BA6-9937-C1921691C4DB}"/>
              </a:ext>
            </a:extLst>
          </p:cNvPr>
          <p:cNvSpPr>
            <a:spLocks xmlns:a="http://schemas.openxmlformats.org/drawingml/2006/main" noGrp="1"/>
          </p:cNvSpPr>
          <p:nvPr/>
        </p:nvSpPr>
        <p:spPr>
          <a:xfrm xmlns:a="http://schemas.openxmlformats.org/drawingml/2006/main">
            <a:off x="609600" y="65341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675" b="0">
                <a:solidFill>
                  <a:srgbClr val="64748B"/>
                </a:solidFill>
              </a:defRPr>
            </a:pPr>
            <a:r>
              <a:rPr sz="675" b="0">
                <a:solidFill>
                  <a:srgbClr val="64748B"/>
                </a:solidFill>
              </a:rPr>
              <a:t>Plan ties content production, analytics, benchmark retesting, and external citation acquisition into one loop.</a:t>
            </a:r>
          </a:p>
        </p:txBody>
      </p:sp>
      <p:sp>
        <p:nvSpPr>
          <p:cNvPr id="19" name="">
            <a:extLst xmlns:a="http://schemas.openxmlformats.org/drawingml/2006/main">
              <a:ext uri="{FF2B5EF4-FFF2-40B4-BE49-F238E27FC236}">
                <a16:creationId xmlns:a16="http://schemas.microsoft.com/office/drawing/2014/main" id="{B94110AA-737C-4680-B984-877C76F654B1}"/>
              </a:ext>
            </a:extLst>
          </p:cNvPr>
          <p:cNvSpPr>
            <a:spLocks xmlns:a="http://schemas.openxmlformats.org/drawingml/2006/main" noGrp="1"/>
          </p:cNvSpPr>
          <p:nvPr/>
        </p:nvSpPr>
        <p:spPr>
          <a:xfrm xmlns:a="http://schemas.openxmlformats.org/drawingml/2006/main">
            <a:off x="9982200" y="65341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675" b="0">
                <a:solidFill>
                  <a:srgbClr val="64748B"/>
                </a:solidFill>
              </a:defRPr>
            </a:pPr>
            <a:r>
              <a:rPr sz="675" b="0">
                <a:solidFill>
                  <a:srgbClr val="64748B"/>
                </a:solidFill>
              </a:rPr>
              <a:t>Updated June 24, 2026</a:t>
            </a:r>
          </a:p>
        </p:txBody>
      </p:sp>
    </p:spTree>
    <p:extLst>
      <p:ext uri="{BB962C8B-B14F-4D97-AF65-F5344CB8AC3E}">
        <p14:creationId xmlns:p14="http://schemas.microsoft.com/office/powerpoint/2010/main" val="196882787"/>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599BCC-DCEC-45CB-95F6-9E33FB34A45E}"/>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155DFC"/>
                </a:solidFill>
              </a:defRPr>
            </a:pPr>
            <a:r>
              <a:rPr sz="900" b="1">
                <a:solidFill>
                  <a:srgbClr val="155DFC"/>
                </a:solidFill>
              </a:rPr>
              <a:t>IBOLT AI VISIBILITY PROGRAM</a:t>
            </a:r>
          </a:p>
        </p:txBody>
      </p:sp>
      <p:sp>
        <p:nvSpPr>
          <p:cNvPr id="2" name="">
            <a:extLst xmlns:a="http://schemas.openxmlformats.org/drawingml/2006/main">
              <a:ext uri="{FF2B5EF4-FFF2-40B4-BE49-F238E27FC236}">
                <a16:creationId xmlns:a16="http://schemas.microsoft.com/office/drawing/2014/main" id="{2680C108-0771-4F46-A590-0E2AEF6FF11E}"/>
              </a:ext>
            </a:extLst>
          </p:cNvPr>
          <p:cNvSpPr>
            <a:spLocks xmlns:a="http://schemas.openxmlformats.org/drawingml/2006/main" noGrp="1"/>
          </p:cNvSpPr>
          <p:nvPr/>
        </p:nvSpPr>
        <p:spPr>
          <a:xfrm xmlns:a="http://schemas.openxmlformats.org/drawingml/2006/main">
            <a:off x="609600" y="685800"/>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020618"/>
                </a:solidFill>
              </a:defRPr>
            </a:pPr>
            <a:r>
              <a:rPr sz="2625" b="1">
                <a:solidFill>
                  <a:srgbClr val="020618"/>
                </a:solidFill>
              </a:rPr>
              <a:t>How much did blogs contribute to ChatGPT sales?</a:t>
            </a:r>
          </a:p>
        </p:txBody>
      </p:sp>
      <p:sp>
        <p:nvSpPr>
          <p:cNvPr id="3" name="">
            <a:extLst xmlns:a="http://schemas.openxmlformats.org/drawingml/2006/main">
              <a:ext uri="{FF2B5EF4-FFF2-40B4-BE49-F238E27FC236}">
                <a16:creationId xmlns:a16="http://schemas.microsoft.com/office/drawing/2014/main" id="{0D5A3FDE-693A-48DF-8C38-B1CB333BF516}"/>
              </a:ext>
            </a:extLst>
          </p:cNvPr>
          <p:cNvSpPr>
            <a:spLocks xmlns:a="http://schemas.openxmlformats.org/drawingml/2006/main" noGrp="1"/>
          </p:cNvSpPr>
          <p:nvPr/>
        </p:nvSpPr>
        <p:spPr>
          <a:xfrm xmlns:a="http://schemas.openxmlformats.org/drawingml/2006/main">
            <a:off x="609600" y="1428750"/>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4" name="">
            <a:extLst xmlns:a="http://schemas.openxmlformats.org/drawingml/2006/main">
              <a:ext uri="{FF2B5EF4-FFF2-40B4-BE49-F238E27FC236}">
                <a16:creationId xmlns:a16="http://schemas.microsoft.com/office/drawing/2014/main" id="{F981BB53-87D6-44CD-99ED-D654843AAEBC}"/>
              </a:ext>
            </a:extLst>
          </p:cNvPr>
          <p:cNvSpPr>
            <a:spLocks xmlns:a="http://schemas.openxmlformats.org/drawingml/2006/main" noGrp="1"/>
          </p:cNvSpPr>
          <p:nvPr/>
        </p:nvSpPr>
        <p:spPr>
          <a:xfrm xmlns:a="http://schemas.openxmlformats.org/drawingml/2006/main">
            <a:off x="609600" y="1905000"/>
            <a:ext cx="32385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535F496-9B4C-44B2-BB94-AADEFFFE20D2}"/>
              </a:ext>
            </a:extLst>
          </p:cNvPr>
          <p:cNvSpPr>
            <a:spLocks xmlns:a="http://schemas.openxmlformats.org/drawingml/2006/main" noGrp="1"/>
          </p:cNvSpPr>
          <p:nvPr/>
        </p:nvSpPr>
        <p:spPr>
          <a:xfrm xmlns:a="http://schemas.openxmlformats.org/drawingml/2006/main">
            <a:off x="838200" y="2152650"/>
            <a:ext cx="278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550" b="1">
                <a:solidFill>
                  <a:srgbClr val="020618"/>
                </a:solidFill>
              </a:defRPr>
            </a:pPr>
            <a:r>
              <a:rPr sz="2550" b="1">
                <a:solidFill>
                  <a:srgbClr val="020618"/>
                </a:solidFill>
              </a:rPr>
              <a:t>$1,107.97</a:t>
            </a:r>
          </a:p>
        </p:txBody>
      </p:sp>
      <p:sp>
        <p:nvSpPr>
          <p:cNvPr id="6" name="">
            <a:extLst xmlns:a="http://schemas.openxmlformats.org/drawingml/2006/main">
              <a:ext uri="{FF2B5EF4-FFF2-40B4-BE49-F238E27FC236}">
                <a16:creationId xmlns:a16="http://schemas.microsoft.com/office/drawing/2014/main" id="{D53E29BE-F29A-4728-8EF4-BCD38D44274C}"/>
              </a:ext>
            </a:extLst>
          </p:cNvPr>
          <p:cNvSpPr>
            <a:spLocks xmlns:a="http://schemas.openxmlformats.org/drawingml/2006/main" noGrp="1"/>
          </p:cNvSpPr>
          <p:nvPr/>
        </p:nvSpPr>
        <p:spPr>
          <a:xfrm xmlns:a="http://schemas.openxmlformats.org/drawingml/2006/main">
            <a:off x="838200" y="268605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314158"/>
                </a:solidFill>
              </a:defRPr>
            </a:pPr>
            <a:r>
              <a:rPr sz="1275" b="1">
                <a:solidFill>
                  <a:srgbClr val="314158"/>
                </a:solidFill>
              </a:rPr>
              <a:t>ChatGPT sales since Apr 1</a:t>
            </a:r>
          </a:p>
        </p:txBody>
      </p:sp>
      <p:sp>
        <p:nvSpPr>
          <p:cNvPr id="7" name="">
            <a:extLst xmlns:a="http://schemas.openxmlformats.org/drawingml/2006/main">
              <a:ext uri="{FF2B5EF4-FFF2-40B4-BE49-F238E27FC236}">
                <a16:creationId xmlns:a16="http://schemas.microsoft.com/office/drawing/2014/main" id="{C1962E8F-7405-4F19-84D3-C6AF4B399AEE}"/>
              </a:ext>
            </a:extLst>
          </p:cNvPr>
          <p:cNvSpPr>
            <a:spLocks xmlns:a="http://schemas.openxmlformats.org/drawingml/2006/main" noGrp="1"/>
          </p:cNvSpPr>
          <p:nvPr/>
        </p:nvSpPr>
        <p:spPr>
          <a:xfrm xmlns:a="http://schemas.openxmlformats.org/drawingml/2006/main">
            <a:off x="838200" y="29908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45556C"/>
                </a:solidFill>
              </a:defRPr>
            </a:pPr>
            <a:r>
              <a:rPr sz="1125">
                <a:solidFill>
                  <a:srgbClr val="45556C"/>
                </a:solidFill>
              </a:rPr>
              <a:t>18 last-click orders attributed to chatgpt.com in Shopify.</a:t>
            </a:r>
          </a:p>
        </p:txBody>
      </p:sp>
      <p:sp>
        <p:nvSpPr>
          <p:cNvPr id="8" name="">
            <a:extLst xmlns:a="http://schemas.openxmlformats.org/drawingml/2006/main">
              <a:ext uri="{FF2B5EF4-FFF2-40B4-BE49-F238E27FC236}">
                <a16:creationId xmlns:a16="http://schemas.microsoft.com/office/drawing/2014/main" id="{F56CA07C-5064-48CD-A5C0-AA235318A613}"/>
              </a:ext>
            </a:extLst>
          </p:cNvPr>
          <p:cNvSpPr>
            <a:spLocks xmlns:a="http://schemas.openxmlformats.org/drawingml/2006/main" noGrp="1"/>
          </p:cNvSpPr>
          <p:nvPr/>
        </p:nvSpPr>
        <p:spPr>
          <a:xfrm xmlns:a="http://schemas.openxmlformats.org/drawingml/2006/main">
            <a:off x="4476750" y="1905000"/>
            <a:ext cx="32385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AB85577-DFA2-455A-9BDC-4CB82197B945}"/>
              </a:ext>
            </a:extLst>
          </p:cNvPr>
          <p:cNvSpPr>
            <a:spLocks xmlns:a="http://schemas.openxmlformats.org/drawingml/2006/main" noGrp="1"/>
          </p:cNvSpPr>
          <p:nvPr/>
        </p:nvSpPr>
        <p:spPr>
          <a:xfrm xmlns:a="http://schemas.openxmlformats.org/drawingml/2006/main">
            <a:off x="4705350" y="2152650"/>
            <a:ext cx="278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550" b="1">
                <a:solidFill>
                  <a:srgbClr val="C70036"/>
                </a:solidFill>
              </a:defRPr>
            </a:pPr>
            <a:r>
              <a:rPr sz="2550" b="1">
                <a:solidFill>
                  <a:srgbClr val="C70036"/>
                </a:solidFill>
              </a:rPr>
              <a:t>$0 direct</a:t>
            </a:r>
          </a:p>
        </p:txBody>
      </p:sp>
      <p:sp>
        <p:nvSpPr>
          <p:cNvPr id="10" name="">
            <a:extLst xmlns:a="http://schemas.openxmlformats.org/drawingml/2006/main">
              <a:ext uri="{FF2B5EF4-FFF2-40B4-BE49-F238E27FC236}">
                <a16:creationId xmlns:a16="http://schemas.microsoft.com/office/drawing/2014/main" id="{CDE681EC-36C7-4456-911E-612724916C23}"/>
              </a:ext>
            </a:extLst>
          </p:cNvPr>
          <p:cNvSpPr>
            <a:spLocks xmlns:a="http://schemas.openxmlformats.org/drawingml/2006/main" noGrp="1"/>
          </p:cNvSpPr>
          <p:nvPr/>
        </p:nvSpPr>
        <p:spPr>
          <a:xfrm xmlns:a="http://schemas.openxmlformats.org/drawingml/2006/main">
            <a:off x="4705350" y="268605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314158"/>
                </a:solidFill>
              </a:defRPr>
            </a:pPr>
            <a:r>
              <a:rPr sz="1275" b="1">
                <a:solidFill>
                  <a:srgbClr val="314158"/>
                </a:solidFill>
              </a:rPr>
              <a:t>Direct blog landing sales</a:t>
            </a:r>
          </a:p>
        </p:txBody>
      </p:sp>
      <p:sp>
        <p:nvSpPr>
          <p:cNvPr id="11" name="">
            <a:extLst xmlns:a="http://schemas.openxmlformats.org/drawingml/2006/main">
              <a:ext uri="{FF2B5EF4-FFF2-40B4-BE49-F238E27FC236}">
                <a16:creationId xmlns:a16="http://schemas.microsoft.com/office/drawing/2014/main" id="{C5CEFFC4-361B-43B2-BB34-ABB8C924483F}"/>
              </a:ext>
            </a:extLst>
          </p:cNvPr>
          <p:cNvSpPr>
            <a:spLocks xmlns:a="http://schemas.openxmlformats.org/drawingml/2006/main" noGrp="1"/>
          </p:cNvSpPr>
          <p:nvPr/>
        </p:nvSpPr>
        <p:spPr>
          <a:xfrm xmlns:a="http://schemas.openxmlformats.org/drawingml/2006/main">
            <a:off x="4705350" y="29908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45556C"/>
                </a:solidFill>
              </a:defRPr>
            </a:pPr>
            <a:r>
              <a:rPr sz="1125">
                <a:solidFill>
                  <a:srgbClr val="45556C"/>
                </a:solidFill>
              </a:rPr>
              <a:t>27 ChatGPT sessions landed on blog pages; 0 cart adds, 0 checkouts, 0% conversion.</a:t>
            </a:r>
          </a:p>
        </p:txBody>
      </p:sp>
      <p:sp>
        <p:nvSpPr>
          <p:cNvPr id="12" name="">
            <a:extLst xmlns:a="http://schemas.openxmlformats.org/drawingml/2006/main">
              <a:ext uri="{FF2B5EF4-FFF2-40B4-BE49-F238E27FC236}">
                <a16:creationId xmlns:a16="http://schemas.microsoft.com/office/drawing/2014/main" id="{60C917DD-CA17-432E-AB61-5B36DD56E629}"/>
              </a:ext>
            </a:extLst>
          </p:cNvPr>
          <p:cNvSpPr>
            <a:spLocks xmlns:a="http://schemas.openxmlformats.org/drawingml/2006/main" noGrp="1"/>
          </p:cNvSpPr>
          <p:nvPr/>
        </p:nvSpPr>
        <p:spPr>
          <a:xfrm xmlns:a="http://schemas.openxmlformats.org/drawingml/2006/main">
            <a:off x="8343900" y="1905000"/>
            <a:ext cx="32385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737C172-B265-4FFB-BEB1-84C31E9655CF}"/>
              </a:ext>
            </a:extLst>
          </p:cNvPr>
          <p:cNvSpPr>
            <a:spLocks xmlns:a="http://schemas.openxmlformats.org/drawingml/2006/main" noGrp="1"/>
          </p:cNvSpPr>
          <p:nvPr/>
        </p:nvSpPr>
        <p:spPr>
          <a:xfrm xmlns:a="http://schemas.openxmlformats.org/drawingml/2006/main">
            <a:off x="8572500" y="2152650"/>
            <a:ext cx="278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550" b="1">
                <a:solidFill>
                  <a:srgbClr val="007A55"/>
                </a:solidFill>
              </a:defRPr>
            </a:pPr>
            <a:r>
              <a:rPr sz="2550" b="1">
                <a:solidFill>
                  <a:srgbClr val="007A55"/>
                </a:solidFill>
              </a:rPr>
              <a:t>10-25%</a:t>
            </a:r>
          </a:p>
        </p:txBody>
      </p:sp>
      <p:sp>
        <p:nvSpPr>
          <p:cNvPr id="14" name="">
            <a:extLst xmlns:a="http://schemas.openxmlformats.org/drawingml/2006/main">
              <a:ext uri="{FF2B5EF4-FFF2-40B4-BE49-F238E27FC236}">
                <a16:creationId xmlns:a16="http://schemas.microsoft.com/office/drawing/2014/main" id="{34CE38DE-BB09-4508-A680-B97A3B537A1C}"/>
              </a:ext>
            </a:extLst>
          </p:cNvPr>
          <p:cNvSpPr>
            <a:spLocks xmlns:a="http://schemas.openxmlformats.org/drawingml/2006/main" noGrp="1"/>
          </p:cNvSpPr>
          <p:nvPr/>
        </p:nvSpPr>
        <p:spPr>
          <a:xfrm xmlns:a="http://schemas.openxmlformats.org/drawingml/2006/main">
            <a:off x="8572500" y="268605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314158"/>
                </a:solidFill>
              </a:defRPr>
            </a:pPr>
            <a:r>
              <a:rPr sz="1275" b="1">
                <a:solidFill>
                  <a:srgbClr val="314158"/>
                </a:solidFill>
              </a:rPr>
              <a:t>Likely assisted influence</a:t>
            </a:r>
          </a:p>
        </p:txBody>
      </p:sp>
      <p:sp>
        <p:nvSpPr>
          <p:cNvPr id="15" name="">
            <a:extLst xmlns:a="http://schemas.openxmlformats.org/drawingml/2006/main">
              <a:ext uri="{FF2B5EF4-FFF2-40B4-BE49-F238E27FC236}">
                <a16:creationId xmlns:a16="http://schemas.microsoft.com/office/drawing/2014/main" id="{283FFD3F-5FD5-46FC-A533-EE808F1DB686}"/>
              </a:ext>
            </a:extLst>
          </p:cNvPr>
          <p:cNvSpPr>
            <a:spLocks xmlns:a="http://schemas.openxmlformats.org/drawingml/2006/main" noGrp="1"/>
          </p:cNvSpPr>
          <p:nvPr/>
        </p:nvSpPr>
        <p:spPr>
          <a:xfrm xmlns:a="http://schemas.openxmlformats.org/drawingml/2006/main">
            <a:off x="8572500" y="2990850"/>
            <a:ext cx="2781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45556C"/>
                </a:solidFill>
              </a:defRPr>
            </a:pPr>
            <a:r>
              <a:rPr sz="1125">
                <a:solidFill>
                  <a:srgbClr val="45556C"/>
                </a:solidFill>
              </a:rPr>
              <a:t>Directional estimate only: blogs help AI understand iBOLT, but Shopify does not prove them as direct closers yet.</a:t>
            </a:r>
          </a:p>
        </p:txBody>
      </p:sp>
      <p:sp>
        <p:nvSpPr>
          <p:cNvPr id="16" name="">
            <a:extLst xmlns:a="http://schemas.openxmlformats.org/drawingml/2006/main">
              <a:ext uri="{FF2B5EF4-FFF2-40B4-BE49-F238E27FC236}">
                <a16:creationId xmlns:a16="http://schemas.microsoft.com/office/drawing/2014/main" id="{A9CE9505-5851-49C5-96F0-D43E91ABBFAF}"/>
              </a:ext>
            </a:extLst>
          </p:cNvPr>
          <p:cNvSpPr>
            <a:spLocks xmlns:a="http://schemas.openxmlformats.org/drawingml/2006/main" noGrp="1"/>
          </p:cNvSpPr>
          <p:nvPr/>
        </p:nvSpPr>
        <p:spPr>
          <a:xfrm xmlns:a="http://schemas.openxmlformats.org/drawingml/2006/main">
            <a:off x="609600" y="4000500"/>
            <a:ext cx="6858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5ED27B2-97FA-435C-B263-57120DE89CCE}"/>
              </a:ext>
            </a:extLst>
          </p:cNvPr>
          <p:cNvSpPr>
            <a:spLocks xmlns:a="http://schemas.openxmlformats.org/drawingml/2006/main" noGrp="1"/>
          </p:cNvSpPr>
          <p:nvPr/>
        </p:nvSpPr>
        <p:spPr>
          <a:xfrm xmlns:a="http://schemas.openxmlformats.org/drawingml/2006/main">
            <a:off x="876300" y="422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020618"/>
                </a:solidFill>
              </a:defRPr>
            </a:pPr>
            <a:r>
              <a:rPr sz="1500" b="1">
                <a:solidFill>
                  <a:srgbClr val="020618"/>
                </a:solidFill>
              </a:rPr>
              <a:t>What this means</a:t>
            </a:r>
          </a:p>
        </p:txBody>
      </p:sp>
      <p:sp>
        <p:nvSpPr>
          <p:cNvPr id="18" name="">
            <a:extLst xmlns:a="http://schemas.openxmlformats.org/drawingml/2006/main">
              <a:ext uri="{FF2B5EF4-FFF2-40B4-BE49-F238E27FC236}">
                <a16:creationId xmlns:a16="http://schemas.microsoft.com/office/drawing/2014/main" id="{94EC6DEE-8AD3-421F-AD38-97506967A52C}"/>
              </a:ext>
            </a:extLst>
          </p:cNvPr>
          <p:cNvSpPr>
            <a:spLocks xmlns:a="http://schemas.openxmlformats.org/drawingml/2006/main" noGrp="1"/>
          </p:cNvSpPr>
          <p:nvPr/>
        </p:nvSpPr>
        <p:spPr>
          <a:xfrm xmlns:a="http://schemas.openxmlformats.org/drawingml/2006/main">
            <a:off x="876300" y="4591050"/>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314158"/>
                </a:solidFill>
              </a:defRPr>
            </a:pPr>
            <a:r>
              <a:rPr sz="1200">
                <a:solidFill>
                  <a:srgbClr val="314158"/>
                </a:solidFill>
              </a:rPr>
              <a:t>The current revenue is mostly product/category-page traffic from ChatGPT, not direct blog landings. The blog engine still matters because it builds the language, comparisons, FAQs, and internal links that help AI systems decide what iBOLT is relevant for.</a:t>
            </a:r>
          </a:p>
        </p:txBody>
      </p:sp>
      <p:sp>
        <p:nvSpPr>
          <p:cNvPr id="19" name="">
            <a:extLst xmlns:a="http://schemas.openxmlformats.org/drawingml/2006/main">
              <a:ext uri="{FF2B5EF4-FFF2-40B4-BE49-F238E27FC236}">
                <a16:creationId xmlns:a16="http://schemas.microsoft.com/office/drawing/2014/main" id="{52AC1720-0740-4C8F-B336-9221CC9A34BD}"/>
              </a:ext>
            </a:extLst>
          </p:cNvPr>
          <p:cNvSpPr>
            <a:spLocks xmlns:a="http://schemas.openxmlformats.org/drawingml/2006/main" noGrp="1"/>
          </p:cNvSpPr>
          <p:nvPr/>
        </p:nvSpPr>
        <p:spPr>
          <a:xfrm xmlns:a="http://schemas.openxmlformats.org/drawingml/2006/main">
            <a:off x="7848600" y="4000500"/>
            <a:ext cx="3733800" cy="1409700"/>
          </a:xfrm>
          <a:prstGeom xmlns:a="http://schemas.openxmlformats.org/drawingml/2006/main" prst="roundRect">
            <a:avLst>
              <a:gd name="adj" fmla="val 5405"/>
            </a:avLst>
          </a:prstGeom>
          <a:solidFill xmlns:a="http://schemas.openxmlformats.org/drawingml/2006/main">
            <a:srgbClr val="EFF6FF"/>
          </a:solidFill>
          <a:ln xmlns:a="http://schemas.openxmlformats.org/drawingml/2006/main" w="9525">
            <a:solidFill>
              <a:srgbClr val="BEDB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49BD1510-0F15-4D91-8F9E-D611A3C31C39}"/>
              </a:ext>
            </a:extLst>
          </p:cNvPr>
          <p:cNvSpPr>
            <a:spLocks xmlns:a="http://schemas.openxmlformats.org/drawingml/2006/main" noGrp="1"/>
          </p:cNvSpPr>
          <p:nvPr/>
        </p:nvSpPr>
        <p:spPr>
          <a:xfrm xmlns:a="http://schemas.openxmlformats.org/drawingml/2006/main">
            <a:off x="8115300" y="4229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193CB8"/>
                </a:solidFill>
              </a:defRPr>
            </a:pPr>
            <a:r>
              <a:rPr sz="1500" b="1">
                <a:solidFill>
                  <a:srgbClr val="193CB8"/>
                </a:solidFill>
              </a:rPr>
              <a:t>Next measurement step</a:t>
            </a:r>
          </a:p>
        </p:txBody>
      </p:sp>
      <p:sp>
        <p:nvSpPr>
          <p:cNvPr id="21" name="">
            <a:extLst xmlns:a="http://schemas.openxmlformats.org/drawingml/2006/main">
              <a:ext uri="{FF2B5EF4-FFF2-40B4-BE49-F238E27FC236}">
                <a16:creationId xmlns:a16="http://schemas.microsoft.com/office/drawing/2014/main" id="{9AA1E2B3-FDE0-4A5F-ADA3-AB9C2912F393}"/>
              </a:ext>
            </a:extLst>
          </p:cNvPr>
          <p:cNvSpPr>
            <a:spLocks xmlns:a="http://schemas.openxmlformats.org/drawingml/2006/main" noGrp="1"/>
          </p:cNvSpPr>
          <p:nvPr/>
        </p:nvSpPr>
        <p:spPr>
          <a:xfrm xmlns:a="http://schemas.openxmlformats.org/drawingml/2006/main">
            <a:off x="8115300" y="459105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314158"/>
                </a:solidFill>
              </a:defRPr>
            </a:pPr>
            <a:r>
              <a:rPr sz="1200">
                <a:solidFill>
                  <a:srgbClr val="314158"/>
                </a:solidFill>
              </a:rPr>
              <a:t>Track blog-assisted paths: blog -&gt; product click -&gt; cart/checkout, plus AI source sessions by hub/product page every week.</a:t>
            </a:r>
          </a:p>
        </p:txBody>
      </p:sp>
      <p:sp>
        <p:nvSpPr>
          <p:cNvPr id="22" name="">
            <a:extLst xmlns:a="http://schemas.openxmlformats.org/drawingml/2006/main">
              <a:ext uri="{FF2B5EF4-FFF2-40B4-BE49-F238E27FC236}">
                <a16:creationId xmlns:a16="http://schemas.microsoft.com/office/drawing/2014/main" id="{C1E2CA33-2989-4F19-99D8-1B0B4A5B74F0}"/>
              </a:ext>
            </a:extLst>
          </p:cNvPr>
          <p:cNvSpPr>
            <a:spLocks xmlns:a="http://schemas.openxmlformats.org/drawingml/2006/main" noGrp="1"/>
          </p:cNvSpPr>
          <p:nvPr/>
        </p:nvSpPr>
        <p:spPr>
          <a:xfrm xmlns:a="http://schemas.openxmlformats.org/drawingml/2006/main">
            <a:off x="609600" y="605790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62748E"/>
                </a:solidFill>
              </a:defRPr>
            </a:pPr>
            <a:r>
              <a:rPr sz="900">
                <a:solidFill>
                  <a:srgbClr val="62748E"/>
                </a:solidFill>
              </a:rPr>
              <a:t>Hard data source: ShopifyQL reports captured Apr 1-Jun 24, 2026. Blog direct attribution = ChatGPT source + /blogs/ landing page filter.</a:t>
            </a:r>
          </a:p>
        </p:txBody>
      </p:sp>
      <p:sp>
        <p:nvSpPr>
          <p:cNvPr id="23" name="">
            <a:extLst xmlns:a="http://schemas.openxmlformats.org/drawingml/2006/main">
              <a:ext uri="{FF2B5EF4-FFF2-40B4-BE49-F238E27FC236}">
                <a16:creationId xmlns:a16="http://schemas.microsoft.com/office/drawing/2014/main" id="{A3B0EE1A-1A02-4C89-ACCA-646122BF9193}"/>
              </a:ext>
            </a:extLst>
          </p:cNvPr>
          <p:cNvSpPr>
            <a:spLocks xmlns:a="http://schemas.openxmlformats.org/drawingml/2006/main" noGrp="1"/>
          </p:cNvSpPr>
          <p:nvPr/>
        </p:nvSpPr>
        <p:spPr>
          <a:xfrm xmlns:a="http://schemas.openxmlformats.org/drawingml/2006/main">
            <a:off x="9982200" y="605790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62748E"/>
                </a:solidFill>
              </a:defRPr>
            </a:pPr>
            <a:r>
              <a:rPr sz="900">
                <a:solidFill>
                  <a:srgbClr val="62748E"/>
                </a:solidFill>
              </a:rPr>
              <a:t>Updated June 25, 2026</a:t>
            </a:r>
          </a:p>
        </p:txBody>
      </p:sp>
    </p:spTree>
    <p:extLst>
      <p:ext uri="{BB962C8B-B14F-4D97-AF65-F5344CB8AC3E}">
        <p14:creationId xmlns:p14="http://schemas.microsoft.com/office/powerpoint/2010/main" val="1886721174"/>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0B8C44-DF7C-43B9-A6EC-9BA41E56F08F}"/>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55DFC"/>
                </a:solidFill>
              </a:defRPr>
            </a:pPr>
            <a:r>
              <a:rPr sz="900" b="1">
                <a:solidFill>
                  <a:srgbClr val="155DFC"/>
                </a:solidFill>
              </a:rPr>
              <a:t>IBOLT AI VISIBILITY PROGRAM</a:t>
            </a:r>
          </a:p>
        </p:txBody>
      </p:sp>
      <p:sp>
        <p:nvSpPr>
          <p:cNvPr id="2" name="">
            <a:extLst xmlns:a="http://schemas.openxmlformats.org/drawingml/2006/main">
              <a:ext uri="{FF2B5EF4-FFF2-40B4-BE49-F238E27FC236}">
                <a16:creationId xmlns:a16="http://schemas.microsoft.com/office/drawing/2014/main" id="{8426B3D8-D972-47C3-8C37-C799BF8C90AE}"/>
              </a:ext>
            </a:extLst>
          </p:cNvPr>
          <p:cNvSpPr>
            <a:spLocks xmlns:a="http://schemas.openxmlformats.org/drawingml/2006/main" noGrp="1"/>
          </p:cNvSpPr>
          <p:nvPr/>
        </p:nvSpPr>
        <p:spPr>
          <a:xfrm xmlns:a="http://schemas.openxmlformats.org/drawingml/2006/main">
            <a:off x="609600" y="685800"/>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20618"/>
                </a:solidFill>
              </a:defRPr>
            </a:pPr>
            <a:r>
              <a:rPr sz="2625" b="1">
                <a:solidFill>
                  <a:srgbClr val="020618"/>
                </a:solidFill>
              </a:rPr>
              <a:t>Did ChatGPT revenue go up after the blog push?</a:t>
            </a:r>
          </a:p>
        </p:txBody>
      </p:sp>
      <p:sp>
        <p:nvSpPr>
          <p:cNvPr id="3" name="">
            <a:extLst xmlns:a="http://schemas.openxmlformats.org/drawingml/2006/main">
              <a:ext uri="{FF2B5EF4-FFF2-40B4-BE49-F238E27FC236}">
                <a16:creationId xmlns:a16="http://schemas.microsoft.com/office/drawing/2014/main" id="{AC2A5238-3AFD-40AE-9211-2D0A909F8335}"/>
              </a:ext>
            </a:extLst>
          </p:cNvPr>
          <p:cNvSpPr>
            <a:spLocks xmlns:a="http://schemas.openxmlformats.org/drawingml/2006/main" noGrp="1"/>
          </p:cNvSpPr>
          <p:nvPr/>
        </p:nvSpPr>
        <p:spPr>
          <a:xfrm xmlns:a="http://schemas.openxmlformats.org/drawingml/2006/main">
            <a:off x="609600" y="1428750"/>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4" name="">
            <a:extLst xmlns:a="http://schemas.openxmlformats.org/drawingml/2006/main">
              <a:ext uri="{FF2B5EF4-FFF2-40B4-BE49-F238E27FC236}">
                <a16:creationId xmlns:a16="http://schemas.microsoft.com/office/drawing/2014/main" id="{46BA862C-17E3-406B-B7FB-07C93D942BEC}"/>
              </a:ext>
            </a:extLst>
          </p:cNvPr>
          <p:cNvSpPr>
            <a:spLocks xmlns:a="http://schemas.openxmlformats.org/drawingml/2006/main" noGrp="1"/>
          </p:cNvSpPr>
          <p:nvPr/>
        </p:nvSpPr>
        <p:spPr>
          <a:xfrm xmlns:a="http://schemas.openxmlformats.org/drawingml/2006/main">
            <a:off x="609600" y="1866900"/>
            <a:ext cx="3143250" cy="154305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220F082-EAFD-451F-8EB6-4B69A785DF39}"/>
              </a:ext>
            </a:extLst>
          </p:cNvPr>
          <p:cNvSpPr>
            <a:spLocks xmlns:a="http://schemas.openxmlformats.org/drawingml/2006/main" noGrp="1"/>
          </p:cNvSpPr>
          <p:nvPr/>
        </p:nvSpPr>
        <p:spPr>
          <a:xfrm xmlns:a="http://schemas.openxmlformats.org/drawingml/2006/main">
            <a:off x="838200" y="211455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020618"/>
                </a:solidFill>
              </a:defRPr>
            </a:pPr>
            <a:r>
              <a:rPr sz="2400" b="1">
                <a:solidFill>
                  <a:srgbClr val="020618"/>
                </a:solidFill>
              </a:rPr>
              <a:t>$547.90</a:t>
            </a:r>
          </a:p>
        </p:txBody>
      </p:sp>
      <p:sp>
        <p:nvSpPr>
          <p:cNvPr id="6" name="">
            <a:extLst xmlns:a="http://schemas.openxmlformats.org/drawingml/2006/main">
              <a:ext uri="{FF2B5EF4-FFF2-40B4-BE49-F238E27FC236}">
                <a16:creationId xmlns:a16="http://schemas.microsoft.com/office/drawing/2014/main" id="{ED11B8C4-3E1E-4290-A778-6B1997B9C434}"/>
              </a:ext>
            </a:extLst>
          </p:cNvPr>
          <p:cNvSpPr>
            <a:spLocks xmlns:a="http://schemas.openxmlformats.org/drawingml/2006/main" noGrp="1"/>
          </p:cNvSpPr>
          <p:nvPr/>
        </p:nvSpPr>
        <p:spPr>
          <a:xfrm xmlns:a="http://schemas.openxmlformats.org/drawingml/2006/main">
            <a:off x="838200" y="2647950"/>
            <a:ext cx="2686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314158"/>
                </a:solidFill>
              </a:defRPr>
            </a:pPr>
            <a:r>
              <a:rPr sz="1275" b="1">
                <a:solidFill>
                  <a:srgbClr val="314158"/>
                </a:solidFill>
              </a:rPr>
              <a:t>Before blog push</a:t>
            </a:r>
          </a:p>
        </p:txBody>
      </p:sp>
      <p:sp>
        <p:nvSpPr>
          <p:cNvPr id="7" name="">
            <a:extLst xmlns:a="http://schemas.openxmlformats.org/drawingml/2006/main">
              <a:ext uri="{FF2B5EF4-FFF2-40B4-BE49-F238E27FC236}">
                <a16:creationId xmlns:a16="http://schemas.microsoft.com/office/drawing/2014/main" id="{B5EC1757-2885-4AC1-AA65-DE10E180ADDF}"/>
              </a:ext>
            </a:extLst>
          </p:cNvPr>
          <p:cNvSpPr>
            <a:spLocks xmlns:a="http://schemas.openxmlformats.org/drawingml/2006/main" noGrp="1"/>
          </p:cNvSpPr>
          <p:nvPr/>
        </p:nvSpPr>
        <p:spPr>
          <a:xfrm xmlns:a="http://schemas.openxmlformats.org/drawingml/2006/main">
            <a:off x="838200" y="29527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5556C"/>
                </a:solidFill>
              </a:defRPr>
            </a:pPr>
            <a:r>
              <a:rPr sz="1125">
                <a:solidFill>
                  <a:srgbClr val="45556C"/>
                </a:solidFill>
              </a:rPr>
              <a:t>Apr 1-May 14: 9 ChatGPT last-click orders, about $12.45/day.</a:t>
            </a:r>
          </a:p>
        </p:txBody>
      </p:sp>
      <p:sp>
        <p:nvSpPr>
          <p:cNvPr id="8" name="">
            <a:extLst xmlns:a="http://schemas.openxmlformats.org/drawingml/2006/main">
              <a:ext uri="{FF2B5EF4-FFF2-40B4-BE49-F238E27FC236}">
                <a16:creationId xmlns:a16="http://schemas.microsoft.com/office/drawing/2014/main" id="{47373A84-A652-4BE5-A910-FF87A8B0021F}"/>
              </a:ext>
            </a:extLst>
          </p:cNvPr>
          <p:cNvSpPr>
            <a:spLocks xmlns:a="http://schemas.openxmlformats.org/drawingml/2006/main" noGrp="1"/>
          </p:cNvSpPr>
          <p:nvPr/>
        </p:nvSpPr>
        <p:spPr>
          <a:xfrm xmlns:a="http://schemas.openxmlformats.org/drawingml/2006/main">
            <a:off x="4514850" y="1866900"/>
            <a:ext cx="3143250" cy="154305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AFAFD89-C90D-45E2-AD17-39323E38D128}"/>
              </a:ext>
            </a:extLst>
          </p:cNvPr>
          <p:cNvSpPr>
            <a:spLocks xmlns:a="http://schemas.openxmlformats.org/drawingml/2006/main" noGrp="1"/>
          </p:cNvSpPr>
          <p:nvPr/>
        </p:nvSpPr>
        <p:spPr>
          <a:xfrm xmlns:a="http://schemas.openxmlformats.org/drawingml/2006/main">
            <a:off x="4743450" y="211455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007A55"/>
                </a:solidFill>
              </a:defRPr>
            </a:pPr>
            <a:r>
              <a:rPr sz="2400" b="1">
                <a:solidFill>
                  <a:srgbClr val="007A55"/>
                </a:solidFill>
              </a:rPr>
              <a:t>$560.07</a:t>
            </a:r>
          </a:p>
        </p:txBody>
      </p:sp>
      <p:sp>
        <p:nvSpPr>
          <p:cNvPr id="10" name="">
            <a:extLst xmlns:a="http://schemas.openxmlformats.org/drawingml/2006/main">
              <a:ext uri="{FF2B5EF4-FFF2-40B4-BE49-F238E27FC236}">
                <a16:creationId xmlns:a16="http://schemas.microsoft.com/office/drawing/2014/main" id="{9726D260-490F-448C-B03C-C8C8CAB0D944}"/>
              </a:ext>
            </a:extLst>
          </p:cNvPr>
          <p:cNvSpPr>
            <a:spLocks xmlns:a="http://schemas.openxmlformats.org/drawingml/2006/main" noGrp="1"/>
          </p:cNvSpPr>
          <p:nvPr/>
        </p:nvSpPr>
        <p:spPr>
          <a:xfrm xmlns:a="http://schemas.openxmlformats.org/drawingml/2006/main">
            <a:off x="4743450" y="2647950"/>
            <a:ext cx="2686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314158"/>
                </a:solidFill>
              </a:defRPr>
            </a:pPr>
            <a:r>
              <a:rPr sz="1275" b="1">
                <a:solidFill>
                  <a:srgbClr val="314158"/>
                </a:solidFill>
              </a:rPr>
              <a:t>After blog push</a:t>
            </a:r>
          </a:p>
        </p:txBody>
      </p:sp>
      <p:sp>
        <p:nvSpPr>
          <p:cNvPr id="11" name="">
            <a:extLst xmlns:a="http://schemas.openxmlformats.org/drawingml/2006/main">
              <a:ext uri="{FF2B5EF4-FFF2-40B4-BE49-F238E27FC236}">
                <a16:creationId xmlns:a16="http://schemas.microsoft.com/office/drawing/2014/main" id="{E62E607B-6513-4477-9A11-122E142F70E7}"/>
              </a:ext>
            </a:extLst>
          </p:cNvPr>
          <p:cNvSpPr>
            <a:spLocks xmlns:a="http://schemas.openxmlformats.org/drawingml/2006/main" noGrp="1"/>
          </p:cNvSpPr>
          <p:nvPr/>
        </p:nvSpPr>
        <p:spPr>
          <a:xfrm xmlns:a="http://schemas.openxmlformats.org/drawingml/2006/main">
            <a:off x="4743450" y="29527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5556C"/>
                </a:solidFill>
              </a:defRPr>
            </a:pPr>
            <a:r>
              <a:rPr sz="1125">
                <a:solidFill>
                  <a:srgbClr val="45556C"/>
                </a:solidFill>
              </a:rPr>
              <a:t>May 15-Jun 24: 9 ChatGPT last-click orders, about $13.66/day.</a:t>
            </a:r>
          </a:p>
        </p:txBody>
      </p:sp>
      <p:sp>
        <p:nvSpPr>
          <p:cNvPr id="12" name="">
            <a:extLst xmlns:a="http://schemas.openxmlformats.org/drawingml/2006/main">
              <a:ext uri="{FF2B5EF4-FFF2-40B4-BE49-F238E27FC236}">
                <a16:creationId xmlns:a16="http://schemas.microsoft.com/office/drawing/2014/main" id="{3D384F24-C5F8-4E3A-94A4-2625D90A9549}"/>
              </a:ext>
            </a:extLst>
          </p:cNvPr>
          <p:cNvSpPr>
            <a:spLocks xmlns:a="http://schemas.openxmlformats.org/drawingml/2006/main" noGrp="1"/>
          </p:cNvSpPr>
          <p:nvPr/>
        </p:nvSpPr>
        <p:spPr>
          <a:xfrm xmlns:a="http://schemas.openxmlformats.org/drawingml/2006/main">
            <a:off x="8420100" y="1866900"/>
            <a:ext cx="3143250" cy="1543050"/>
          </a:xfrm>
          <a:prstGeom xmlns:a="http://schemas.openxmlformats.org/drawingml/2006/main" prst="roundRect">
            <a:avLst>
              <a:gd name="adj" fmla="val 4938"/>
            </a:avLst>
          </a:prstGeom>
          <a:solidFill xmlns:a="http://schemas.openxmlformats.org/drawingml/2006/main">
            <a:srgbClr val="ECFDF5"/>
          </a:solidFill>
          <a:ln xmlns:a="http://schemas.openxmlformats.org/drawingml/2006/main" w="9525">
            <a:solidFill>
              <a:srgbClr val="A4F4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BB2A586-3D9E-4F57-B05C-587EEB9762F6}"/>
              </a:ext>
            </a:extLst>
          </p:cNvPr>
          <p:cNvSpPr>
            <a:spLocks xmlns:a="http://schemas.openxmlformats.org/drawingml/2006/main" noGrp="1"/>
          </p:cNvSpPr>
          <p:nvPr/>
        </p:nvSpPr>
        <p:spPr>
          <a:xfrm xmlns:a="http://schemas.openxmlformats.org/drawingml/2006/main">
            <a:off x="8648700" y="211455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006045"/>
                </a:solidFill>
              </a:defRPr>
            </a:pPr>
            <a:r>
              <a:rPr sz="2400" b="1">
                <a:solidFill>
                  <a:srgbClr val="006045"/>
                </a:solidFill>
              </a:rPr>
              <a:t>+10%</a:t>
            </a:r>
          </a:p>
        </p:txBody>
      </p:sp>
      <p:sp>
        <p:nvSpPr>
          <p:cNvPr id="14" name="">
            <a:extLst xmlns:a="http://schemas.openxmlformats.org/drawingml/2006/main">
              <a:ext uri="{FF2B5EF4-FFF2-40B4-BE49-F238E27FC236}">
                <a16:creationId xmlns:a16="http://schemas.microsoft.com/office/drawing/2014/main" id="{BEFB68A7-30E9-4CC0-A228-DE0675AE73DC}"/>
              </a:ext>
            </a:extLst>
          </p:cNvPr>
          <p:cNvSpPr>
            <a:spLocks xmlns:a="http://schemas.openxmlformats.org/drawingml/2006/main" noGrp="1"/>
          </p:cNvSpPr>
          <p:nvPr/>
        </p:nvSpPr>
        <p:spPr>
          <a:xfrm xmlns:a="http://schemas.openxmlformats.org/drawingml/2006/main">
            <a:off x="8648700" y="2647950"/>
            <a:ext cx="2686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314158"/>
                </a:solidFill>
              </a:defRPr>
            </a:pPr>
            <a:r>
              <a:rPr sz="1275" b="1">
                <a:solidFill>
                  <a:srgbClr val="314158"/>
                </a:solidFill>
              </a:rPr>
              <a:t>Daily revenue lift</a:t>
            </a:r>
          </a:p>
        </p:txBody>
      </p:sp>
      <p:sp>
        <p:nvSpPr>
          <p:cNvPr id="15" name="">
            <a:extLst xmlns:a="http://schemas.openxmlformats.org/drawingml/2006/main">
              <a:ext uri="{FF2B5EF4-FFF2-40B4-BE49-F238E27FC236}">
                <a16:creationId xmlns:a16="http://schemas.microsoft.com/office/drawing/2014/main" id="{4B2357D0-7053-4751-8952-5D413B9C39AC}"/>
              </a:ext>
            </a:extLst>
          </p:cNvPr>
          <p:cNvSpPr>
            <a:spLocks xmlns:a="http://schemas.openxmlformats.org/drawingml/2006/main" noGrp="1"/>
          </p:cNvSpPr>
          <p:nvPr/>
        </p:nvSpPr>
        <p:spPr>
          <a:xfrm xmlns:a="http://schemas.openxmlformats.org/drawingml/2006/main">
            <a:off x="8648700" y="29527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45556C"/>
                </a:solidFill>
              </a:defRPr>
            </a:pPr>
            <a:r>
              <a:rPr sz="1125">
                <a:solidFill>
                  <a:srgbClr val="45556C"/>
                </a:solidFill>
              </a:rPr>
              <a:t>Early positive signal, but not enough to prove blog causation by itself.</a:t>
            </a:r>
          </a:p>
        </p:txBody>
      </p:sp>
      <p:sp>
        <p:nvSpPr>
          <p:cNvPr id="16" name="">
            <a:extLst xmlns:a="http://schemas.openxmlformats.org/drawingml/2006/main">
              <a:ext uri="{FF2B5EF4-FFF2-40B4-BE49-F238E27FC236}">
                <a16:creationId xmlns:a16="http://schemas.microsoft.com/office/drawing/2014/main" id="{700781B4-A700-4248-9694-479D3A6B67D2}"/>
              </a:ext>
            </a:extLst>
          </p:cNvPr>
          <p:cNvSpPr>
            <a:spLocks xmlns:a="http://schemas.openxmlformats.org/drawingml/2006/main" noGrp="1"/>
          </p:cNvSpPr>
          <p:nvPr/>
        </p:nvSpPr>
        <p:spPr>
          <a:xfrm xmlns:a="http://schemas.openxmlformats.org/drawingml/2006/main">
            <a:off x="609600" y="3867150"/>
            <a:ext cx="61912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2338BF9-E017-4414-9E11-1A6BEE9B9F67}"/>
              </a:ext>
            </a:extLst>
          </p:cNvPr>
          <p:cNvSpPr>
            <a:spLocks xmlns:a="http://schemas.openxmlformats.org/drawingml/2006/main" noGrp="1"/>
          </p:cNvSpPr>
          <p:nvPr/>
        </p:nvSpPr>
        <p:spPr>
          <a:xfrm xmlns:a="http://schemas.openxmlformats.org/drawingml/2006/main">
            <a:off x="876300" y="4076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20618"/>
                </a:solidFill>
              </a:defRPr>
            </a:pPr>
            <a:r>
              <a:rPr sz="1500" b="1">
                <a:solidFill>
                  <a:srgbClr val="020618"/>
                </a:solidFill>
              </a:rPr>
              <a:t>Monthly ChatGPT sales trend</a:t>
            </a:r>
          </a:p>
        </p:txBody>
      </p:sp>
      <p:sp>
        <p:nvSpPr>
          <p:cNvPr id="18" name="">
            <a:extLst xmlns:a="http://schemas.openxmlformats.org/drawingml/2006/main">
              <a:ext uri="{FF2B5EF4-FFF2-40B4-BE49-F238E27FC236}">
                <a16:creationId xmlns:a16="http://schemas.microsoft.com/office/drawing/2014/main" id="{92D6F845-DB63-4F72-B2ED-EF219B23C1C9}"/>
              </a:ext>
            </a:extLst>
          </p:cNvPr>
          <p:cNvSpPr>
            <a:spLocks xmlns:a="http://schemas.openxmlformats.org/drawingml/2006/main" noGrp="1"/>
          </p:cNvSpPr>
          <p:nvPr/>
        </p:nvSpPr>
        <p:spPr>
          <a:xfrm xmlns:a="http://schemas.openxmlformats.org/drawingml/2006/main">
            <a:off x="914400" y="4887308"/>
            <a:ext cx="552450" cy="218092"/>
          </a:xfrm>
          <a:prstGeom xmlns:a="http://schemas.openxmlformats.org/drawingml/2006/main" prst="rect">
            <a:avLst/>
          </a:prstGeom>
          <a:solidFill xmlns:a="http://schemas.openxmlformats.org/drawingml/2006/main">
            <a:srgbClr val="2B7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FE3FBD-5602-49FC-ADFD-7BC70D51ADF8}"/>
              </a:ext>
            </a:extLst>
          </p:cNvPr>
          <p:cNvSpPr>
            <a:spLocks xmlns:a="http://schemas.openxmlformats.org/drawingml/2006/main" noGrp="1"/>
          </p:cNvSpPr>
          <p:nvPr/>
        </p:nvSpPr>
        <p:spPr>
          <a:xfrm xmlns:a="http://schemas.openxmlformats.org/drawingml/2006/main">
            <a:off x="838200" y="5181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a:solidFill>
                  <a:srgbClr val="45556C"/>
                </a:solidFill>
              </a:defRPr>
            </a:pPr>
            <a:r>
              <a:rPr sz="825">
                <a:solidFill>
                  <a:srgbClr val="45556C"/>
                </a:solidFill>
              </a:rPr>
              <a:t>Jan</a:t>
            </a:r>
          </a:p>
        </p:txBody>
      </p:sp>
      <p:sp>
        <p:nvSpPr>
          <p:cNvPr id="20" name="">
            <a:extLst xmlns:a="http://schemas.openxmlformats.org/drawingml/2006/main">
              <a:ext uri="{FF2B5EF4-FFF2-40B4-BE49-F238E27FC236}">
                <a16:creationId xmlns:a16="http://schemas.microsoft.com/office/drawing/2014/main" id="{B06A22CB-BD46-47D5-AF26-4042D3661542}"/>
              </a:ext>
            </a:extLst>
          </p:cNvPr>
          <p:cNvSpPr>
            <a:spLocks xmlns:a="http://schemas.openxmlformats.org/drawingml/2006/main" noGrp="1"/>
          </p:cNvSpPr>
          <p:nvPr/>
        </p:nvSpPr>
        <p:spPr>
          <a:xfrm xmlns:a="http://schemas.openxmlformats.org/drawingml/2006/main">
            <a:off x="819150" y="4696808"/>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314158"/>
                </a:solidFill>
              </a:defRPr>
            </a:pPr>
            <a:r>
              <a:rPr sz="825" b="1">
                <a:solidFill>
                  <a:srgbClr val="314158"/>
                </a:solidFill>
              </a:rPr>
              <a:t>$257</a:t>
            </a:r>
          </a:p>
        </p:txBody>
      </p:sp>
      <p:sp>
        <p:nvSpPr>
          <p:cNvPr id="21" name="">
            <a:extLst xmlns:a="http://schemas.openxmlformats.org/drawingml/2006/main">
              <a:ext uri="{FF2B5EF4-FFF2-40B4-BE49-F238E27FC236}">
                <a16:creationId xmlns:a16="http://schemas.microsoft.com/office/drawing/2014/main" id="{A037ED17-1525-40FD-8B7C-6DBDE74B2966}"/>
              </a:ext>
            </a:extLst>
          </p:cNvPr>
          <p:cNvSpPr>
            <a:spLocks xmlns:a="http://schemas.openxmlformats.org/drawingml/2006/main" noGrp="1"/>
          </p:cNvSpPr>
          <p:nvPr/>
        </p:nvSpPr>
        <p:spPr>
          <a:xfrm xmlns:a="http://schemas.openxmlformats.org/drawingml/2006/main">
            <a:off x="1809750" y="4824546"/>
            <a:ext cx="552450" cy="280854"/>
          </a:xfrm>
          <a:prstGeom xmlns:a="http://schemas.openxmlformats.org/drawingml/2006/main" prst="rect">
            <a:avLst/>
          </a:prstGeom>
          <a:solidFill xmlns:a="http://schemas.openxmlformats.org/drawingml/2006/main">
            <a:srgbClr val="2B7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2D2CF04-3C38-4204-A12E-D02E84922CE7}"/>
              </a:ext>
            </a:extLst>
          </p:cNvPr>
          <p:cNvSpPr>
            <a:spLocks xmlns:a="http://schemas.openxmlformats.org/drawingml/2006/main" noGrp="1"/>
          </p:cNvSpPr>
          <p:nvPr/>
        </p:nvSpPr>
        <p:spPr>
          <a:xfrm xmlns:a="http://schemas.openxmlformats.org/drawingml/2006/main">
            <a:off x="1733550" y="5181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a:solidFill>
                  <a:srgbClr val="45556C"/>
                </a:solidFill>
              </a:defRPr>
            </a:pPr>
            <a:r>
              <a:rPr sz="825">
                <a:solidFill>
                  <a:srgbClr val="45556C"/>
                </a:solidFill>
              </a:rPr>
              <a:t>Feb</a:t>
            </a:r>
          </a:p>
        </p:txBody>
      </p:sp>
      <p:sp>
        <p:nvSpPr>
          <p:cNvPr id="23" name="">
            <a:extLst xmlns:a="http://schemas.openxmlformats.org/drawingml/2006/main">
              <a:ext uri="{FF2B5EF4-FFF2-40B4-BE49-F238E27FC236}">
                <a16:creationId xmlns:a16="http://schemas.microsoft.com/office/drawing/2014/main" id="{D97246A7-4EC3-4984-9E6D-D060D45D5A15}"/>
              </a:ext>
            </a:extLst>
          </p:cNvPr>
          <p:cNvSpPr>
            <a:spLocks xmlns:a="http://schemas.openxmlformats.org/drawingml/2006/main" noGrp="1"/>
          </p:cNvSpPr>
          <p:nvPr/>
        </p:nvSpPr>
        <p:spPr>
          <a:xfrm xmlns:a="http://schemas.openxmlformats.org/drawingml/2006/main">
            <a:off x="1714500" y="4634046"/>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314158"/>
                </a:solidFill>
              </a:defRPr>
            </a:pPr>
            <a:r>
              <a:rPr sz="825" b="1">
                <a:solidFill>
                  <a:srgbClr val="314158"/>
                </a:solidFill>
              </a:rPr>
              <a:t>$331</a:t>
            </a:r>
          </a:p>
        </p:txBody>
      </p:sp>
      <p:sp>
        <p:nvSpPr>
          <p:cNvPr id="24" name="">
            <a:extLst xmlns:a="http://schemas.openxmlformats.org/drawingml/2006/main">
              <a:ext uri="{FF2B5EF4-FFF2-40B4-BE49-F238E27FC236}">
                <a16:creationId xmlns:a16="http://schemas.microsoft.com/office/drawing/2014/main" id="{EF3A7630-21AE-4BC7-898D-0099C644A166}"/>
              </a:ext>
            </a:extLst>
          </p:cNvPr>
          <p:cNvSpPr>
            <a:spLocks xmlns:a="http://schemas.openxmlformats.org/drawingml/2006/main" noGrp="1"/>
          </p:cNvSpPr>
          <p:nvPr/>
        </p:nvSpPr>
        <p:spPr>
          <a:xfrm xmlns:a="http://schemas.openxmlformats.org/drawingml/2006/main">
            <a:off x="2705100" y="4707210"/>
            <a:ext cx="552450" cy="398190"/>
          </a:xfrm>
          <a:prstGeom xmlns:a="http://schemas.openxmlformats.org/drawingml/2006/main" prst="rect">
            <a:avLst/>
          </a:prstGeom>
          <a:solidFill xmlns:a="http://schemas.openxmlformats.org/drawingml/2006/main">
            <a:srgbClr val="2B7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22CEE8B-FAB2-4778-82A5-03F33795635B}"/>
              </a:ext>
            </a:extLst>
          </p:cNvPr>
          <p:cNvSpPr>
            <a:spLocks xmlns:a="http://schemas.openxmlformats.org/drawingml/2006/main" noGrp="1"/>
          </p:cNvSpPr>
          <p:nvPr/>
        </p:nvSpPr>
        <p:spPr>
          <a:xfrm xmlns:a="http://schemas.openxmlformats.org/drawingml/2006/main">
            <a:off x="2628900" y="5181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a:solidFill>
                  <a:srgbClr val="45556C"/>
                </a:solidFill>
              </a:defRPr>
            </a:pPr>
            <a:r>
              <a:rPr sz="825">
                <a:solidFill>
                  <a:srgbClr val="45556C"/>
                </a:solidFill>
              </a:rPr>
              <a:t>Mar</a:t>
            </a:r>
          </a:p>
        </p:txBody>
      </p:sp>
      <p:sp>
        <p:nvSpPr>
          <p:cNvPr id="26" name="">
            <a:extLst xmlns:a="http://schemas.openxmlformats.org/drawingml/2006/main">
              <a:ext uri="{FF2B5EF4-FFF2-40B4-BE49-F238E27FC236}">
                <a16:creationId xmlns:a16="http://schemas.microsoft.com/office/drawing/2014/main" id="{05DC0E3C-CA77-46DB-8C3A-CF16A6A6E340}"/>
              </a:ext>
            </a:extLst>
          </p:cNvPr>
          <p:cNvSpPr>
            <a:spLocks xmlns:a="http://schemas.openxmlformats.org/drawingml/2006/main" noGrp="1"/>
          </p:cNvSpPr>
          <p:nvPr/>
        </p:nvSpPr>
        <p:spPr>
          <a:xfrm xmlns:a="http://schemas.openxmlformats.org/drawingml/2006/main">
            <a:off x="2609850" y="451671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314158"/>
                </a:solidFill>
              </a:defRPr>
            </a:pPr>
            <a:r>
              <a:rPr sz="825" b="1">
                <a:solidFill>
                  <a:srgbClr val="314158"/>
                </a:solidFill>
              </a:rPr>
              <a:t>$470</a:t>
            </a:r>
          </a:p>
        </p:txBody>
      </p:sp>
      <p:sp>
        <p:nvSpPr>
          <p:cNvPr id="27" name="">
            <a:extLst xmlns:a="http://schemas.openxmlformats.org/drawingml/2006/main">
              <a:ext uri="{FF2B5EF4-FFF2-40B4-BE49-F238E27FC236}">
                <a16:creationId xmlns:a16="http://schemas.microsoft.com/office/drawing/2014/main" id="{9E37785E-635E-49C3-8526-ADE8ED1FD619}"/>
              </a:ext>
            </a:extLst>
          </p:cNvPr>
          <p:cNvSpPr>
            <a:spLocks xmlns:a="http://schemas.openxmlformats.org/drawingml/2006/main" noGrp="1"/>
          </p:cNvSpPr>
          <p:nvPr/>
        </p:nvSpPr>
        <p:spPr>
          <a:xfrm xmlns:a="http://schemas.openxmlformats.org/drawingml/2006/main">
            <a:off x="3600450" y="4902245"/>
            <a:ext cx="552450" cy="203155"/>
          </a:xfrm>
          <a:prstGeom xmlns:a="http://schemas.openxmlformats.org/drawingml/2006/main" prst="rect">
            <a:avLst/>
          </a:prstGeom>
          <a:solidFill xmlns:a="http://schemas.openxmlformats.org/drawingml/2006/main">
            <a:srgbClr val="2B7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406685-FBB0-4E88-84CC-21850332F00F}"/>
              </a:ext>
            </a:extLst>
          </p:cNvPr>
          <p:cNvSpPr>
            <a:spLocks xmlns:a="http://schemas.openxmlformats.org/drawingml/2006/main" noGrp="1"/>
          </p:cNvSpPr>
          <p:nvPr/>
        </p:nvSpPr>
        <p:spPr>
          <a:xfrm xmlns:a="http://schemas.openxmlformats.org/drawingml/2006/main">
            <a:off x="3524250" y="5181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a:solidFill>
                  <a:srgbClr val="45556C"/>
                </a:solidFill>
              </a:defRPr>
            </a:pPr>
            <a:r>
              <a:rPr sz="825">
                <a:solidFill>
                  <a:srgbClr val="45556C"/>
                </a:solidFill>
              </a:rPr>
              <a:t>Apr</a:t>
            </a:r>
          </a:p>
        </p:txBody>
      </p:sp>
      <p:sp>
        <p:nvSpPr>
          <p:cNvPr id="29" name="">
            <a:extLst xmlns:a="http://schemas.openxmlformats.org/drawingml/2006/main">
              <a:ext uri="{FF2B5EF4-FFF2-40B4-BE49-F238E27FC236}">
                <a16:creationId xmlns:a16="http://schemas.microsoft.com/office/drawing/2014/main" id="{56534990-8D9B-4062-8FD0-2A12C5D87006}"/>
              </a:ext>
            </a:extLst>
          </p:cNvPr>
          <p:cNvSpPr>
            <a:spLocks xmlns:a="http://schemas.openxmlformats.org/drawingml/2006/main" noGrp="1"/>
          </p:cNvSpPr>
          <p:nvPr/>
        </p:nvSpPr>
        <p:spPr>
          <a:xfrm xmlns:a="http://schemas.openxmlformats.org/drawingml/2006/main">
            <a:off x="3505200" y="4711745"/>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314158"/>
                </a:solidFill>
              </a:defRPr>
            </a:pPr>
            <a:r>
              <a:rPr sz="825" b="1">
                <a:solidFill>
                  <a:srgbClr val="314158"/>
                </a:solidFill>
              </a:rPr>
              <a:t>$240</a:t>
            </a:r>
          </a:p>
        </p:txBody>
      </p:sp>
      <p:sp>
        <p:nvSpPr>
          <p:cNvPr id="30" name="">
            <a:extLst xmlns:a="http://schemas.openxmlformats.org/drawingml/2006/main">
              <a:ext uri="{FF2B5EF4-FFF2-40B4-BE49-F238E27FC236}">
                <a16:creationId xmlns:a16="http://schemas.microsoft.com/office/drawing/2014/main" id="{BF9640D0-16C7-4B84-A635-A0AD5DCF86C5}"/>
              </a:ext>
            </a:extLst>
          </p:cNvPr>
          <p:cNvSpPr>
            <a:spLocks xmlns:a="http://schemas.openxmlformats.org/drawingml/2006/main" noGrp="1"/>
          </p:cNvSpPr>
          <p:nvPr/>
        </p:nvSpPr>
        <p:spPr>
          <a:xfrm xmlns:a="http://schemas.openxmlformats.org/drawingml/2006/main">
            <a:off x="4495800" y="4419600"/>
            <a:ext cx="552450" cy="685800"/>
          </a:xfrm>
          <a:prstGeom xmlns:a="http://schemas.openxmlformats.org/drawingml/2006/main" prst="rect">
            <a:avLst/>
          </a:prstGeom>
          <a:solidFill xmlns:a="http://schemas.openxmlformats.org/drawingml/2006/main">
            <a:srgbClr val="00996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2248F0B-8205-4459-BCE1-B207A163511A}"/>
              </a:ext>
            </a:extLst>
          </p:cNvPr>
          <p:cNvSpPr>
            <a:spLocks xmlns:a="http://schemas.openxmlformats.org/drawingml/2006/main" noGrp="1"/>
          </p:cNvSpPr>
          <p:nvPr/>
        </p:nvSpPr>
        <p:spPr>
          <a:xfrm xmlns:a="http://schemas.openxmlformats.org/drawingml/2006/main">
            <a:off x="4419600" y="5181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a:solidFill>
                  <a:srgbClr val="45556C"/>
                </a:solidFill>
              </a:defRPr>
            </a:pPr>
            <a:r>
              <a:rPr sz="825">
                <a:solidFill>
                  <a:srgbClr val="45556C"/>
                </a:solidFill>
              </a:rPr>
              <a:t>May</a:t>
            </a:r>
          </a:p>
        </p:txBody>
      </p:sp>
      <p:sp>
        <p:nvSpPr>
          <p:cNvPr id="32" name="">
            <a:extLst xmlns:a="http://schemas.openxmlformats.org/drawingml/2006/main">
              <a:ext uri="{FF2B5EF4-FFF2-40B4-BE49-F238E27FC236}">
                <a16:creationId xmlns:a16="http://schemas.microsoft.com/office/drawing/2014/main" id="{7627081D-E9F9-4252-A06A-800E2579E8C0}"/>
              </a:ext>
            </a:extLst>
          </p:cNvPr>
          <p:cNvSpPr>
            <a:spLocks xmlns:a="http://schemas.openxmlformats.org/drawingml/2006/main" noGrp="1"/>
          </p:cNvSpPr>
          <p:nvPr/>
        </p:nvSpPr>
        <p:spPr>
          <a:xfrm xmlns:a="http://schemas.openxmlformats.org/drawingml/2006/main">
            <a:off x="4400550" y="42291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314158"/>
                </a:solidFill>
              </a:defRPr>
            </a:pPr>
            <a:r>
              <a:rPr sz="825" b="1">
                <a:solidFill>
                  <a:srgbClr val="314158"/>
                </a:solidFill>
              </a:rPr>
              <a:t>$809</a:t>
            </a:r>
          </a:p>
        </p:txBody>
      </p:sp>
      <p:sp>
        <p:nvSpPr>
          <p:cNvPr id="33" name="">
            <a:extLst xmlns:a="http://schemas.openxmlformats.org/drawingml/2006/main">
              <a:ext uri="{FF2B5EF4-FFF2-40B4-BE49-F238E27FC236}">
                <a16:creationId xmlns:a16="http://schemas.microsoft.com/office/drawing/2014/main" id="{7E40DB4F-91FD-4937-AFA9-FAA77B72284F}"/>
              </a:ext>
            </a:extLst>
          </p:cNvPr>
          <p:cNvSpPr>
            <a:spLocks xmlns:a="http://schemas.openxmlformats.org/drawingml/2006/main" noGrp="1"/>
          </p:cNvSpPr>
          <p:nvPr/>
        </p:nvSpPr>
        <p:spPr>
          <a:xfrm xmlns:a="http://schemas.openxmlformats.org/drawingml/2006/main">
            <a:off x="5391150" y="5048250"/>
            <a:ext cx="552450" cy="57150"/>
          </a:xfrm>
          <a:prstGeom xmlns:a="http://schemas.openxmlformats.org/drawingml/2006/main" prst="rect">
            <a:avLst/>
          </a:prstGeom>
          <a:solidFill xmlns:a="http://schemas.openxmlformats.org/drawingml/2006/main">
            <a:srgbClr val="2B7F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8150645-A393-441A-9E82-EA84ACDCE897}"/>
              </a:ext>
            </a:extLst>
          </p:cNvPr>
          <p:cNvSpPr>
            <a:spLocks xmlns:a="http://schemas.openxmlformats.org/drawingml/2006/main" noGrp="1"/>
          </p:cNvSpPr>
          <p:nvPr/>
        </p:nvSpPr>
        <p:spPr>
          <a:xfrm xmlns:a="http://schemas.openxmlformats.org/drawingml/2006/main">
            <a:off x="5314950" y="5181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a:solidFill>
                  <a:srgbClr val="45556C"/>
                </a:solidFill>
              </a:defRPr>
            </a:pPr>
            <a:r>
              <a:rPr sz="825">
                <a:solidFill>
                  <a:srgbClr val="45556C"/>
                </a:solidFill>
              </a:rPr>
              <a:t>Jun MTD</a:t>
            </a:r>
          </a:p>
        </p:txBody>
      </p:sp>
      <p:sp>
        <p:nvSpPr>
          <p:cNvPr id="35" name="">
            <a:extLst xmlns:a="http://schemas.openxmlformats.org/drawingml/2006/main">
              <a:ext uri="{FF2B5EF4-FFF2-40B4-BE49-F238E27FC236}">
                <a16:creationId xmlns:a16="http://schemas.microsoft.com/office/drawing/2014/main" id="{DEED82A6-8E44-454C-8F4B-E66D5C206CD4}"/>
              </a:ext>
            </a:extLst>
          </p:cNvPr>
          <p:cNvSpPr>
            <a:spLocks xmlns:a="http://schemas.openxmlformats.org/drawingml/2006/main" noGrp="1"/>
          </p:cNvSpPr>
          <p:nvPr/>
        </p:nvSpPr>
        <p:spPr>
          <a:xfrm xmlns:a="http://schemas.openxmlformats.org/drawingml/2006/main">
            <a:off x="5295900" y="48577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314158"/>
                </a:solidFill>
              </a:defRPr>
            </a:pPr>
            <a:r>
              <a:rPr sz="825" b="1">
                <a:solidFill>
                  <a:srgbClr val="314158"/>
                </a:solidFill>
              </a:rPr>
              <a:t>$59</a:t>
            </a:r>
          </a:p>
        </p:txBody>
      </p:sp>
      <p:sp>
        <p:nvSpPr>
          <p:cNvPr id="36" name="">
            <a:extLst xmlns:a="http://schemas.openxmlformats.org/drawingml/2006/main">
              <a:ext uri="{FF2B5EF4-FFF2-40B4-BE49-F238E27FC236}">
                <a16:creationId xmlns:a16="http://schemas.microsoft.com/office/drawing/2014/main" id="{2484146B-4EB4-4185-A603-4E19F0409E65}"/>
              </a:ext>
            </a:extLst>
          </p:cNvPr>
          <p:cNvSpPr>
            <a:spLocks xmlns:a="http://schemas.openxmlformats.org/drawingml/2006/main" noGrp="1"/>
          </p:cNvSpPr>
          <p:nvPr/>
        </p:nvSpPr>
        <p:spPr>
          <a:xfrm xmlns:a="http://schemas.openxmlformats.org/drawingml/2006/main">
            <a:off x="7277100" y="3867150"/>
            <a:ext cx="4305300" cy="1581150"/>
          </a:xfrm>
          <a:prstGeom xmlns:a="http://schemas.openxmlformats.org/drawingml/2006/main" prst="roundRect">
            <a:avLst>
              <a:gd name="adj" fmla="val 4819"/>
            </a:avLst>
          </a:prstGeom>
          <a:solidFill xmlns:a="http://schemas.openxmlformats.org/drawingml/2006/main">
            <a:srgbClr val="EFF6FF"/>
          </a:solidFill>
          <a:ln xmlns:a="http://schemas.openxmlformats.org/drawingml/2006/main" w="9525">
            <a:solidFill>
              <a:srgbClr val="BEDB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1803422C-7B60-48C6-B632-88E7F75BAC09}"/>
              </a:ext>
            </a:extLst>
          </p:cNvPr>
          <p:cNvSpPr>
            <a:spLocks xmlns:a="http://schemas.openxmlformats.org/drawingml/2006/main" noGrp="1"/>
          </p:cNvSpPr>
          <p:nvPr/>
        </p:nvSpPr>
        <p:spPr>
          <a:xfrm xmlns:a="http://schemas.openxmlformats.org/drawingml/2006/main">
            <a:off x="7543800" y="40957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93CB8"/>
                </a:solidFill>
              </a:defRPr>
            </a:pPr>
            <a:r>
              <a:rPr sz="1500" b="1">
                <a:solidFill>
                  <a:srgbClr val="193CB8"/>
                </a:solidFill>
              </a:rPr>
              <a:t>Answer for Katie</a:t>
            </a:r>
          </a:p>
        </p:txBody>
      </p:sp>
      <p:sp>
        <p:nvSpPr>
          <p:cNvPr id="38" name="">
            <a:extLst xmlns:a="http://schemas.openxmlformats.org/drawingml/2006/main">
              <a:ext uri="{FF2B5EF4-FFF2-40B4-BE49-F238E27FC236}">
                <a16:creationId xmlns:a16="http://schemas.microsoft.com/office/drawing/2014/main" id="{464BFDA3-CAEE-49DA-853C-999DC8A55106}"/>
              </a:ext>
            </a:extLst>
          </p:cNvPr>
          <p:cNvSpPr>
            <a:spLocks xmlns:a="http://schemas.openxmlformats.org/drawingml/2006/main" noGrp="1"/>
          </p:cNvSpPr>
          <p:nvPr/>
        </p:nvSpPr>
        <p:spPr>
          <a:xfrm xmlns:a="http://schemas.openxmlformats.org/drawingml/2006/main">
            <a:off x="7543800" y="4457700"/>
            <a:ext cx="3562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Yes, ChatGPT revenue is up slightly after the blog push on a daily basis, and May was the standout month. But the evidence says this is correlation, not proof. To prove blog contribution, we need blog-to-product click tracking and assisted conversion reporting.</a:t>
            </a:r>
          </a:p>
        </p:txBody>
      </p:sp>
      <p:sp>
        <p:nvSpPr>
          <p:cNvPr id="39" name="">
            <a:extLst xmlns:a="http://schemas.openxmlformats.org/drawingml/2006/main">
              <a:ext uri="{FF2B5EF4-FFF2-40B4-BE49-F238E27FC236}">
                <a16:creationId xmlns:a16="http://schemas.microsoft.com/office/drawing/2014/main" id="{7EA0BB35-EC3F-4475-ADF0-C8F01344F965}"/>
              </a:ext>
            </a:extLst>
          </p:cNvPr>
          <p:cNvSpPr>
            <a:spLocks xmlns:a="http://schemas.openxmlformats.org/drawingml/2006/main" noGrp="1"/>
          </p:cNvSpPr>
          <p:nvPr/>
        </p:nvSpPr>
        <p:spPr>
          <a:xfrm xmlns:a="http://schemas.openxmlformats.org/drawingml/2006/main">
            <a:off x="609600" y="605790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Hard data source: ShopifyQL last-click sales reports. Cutoff uses May 15, 2026 as the first visible new blog batch.</a:t>
            </a:r>
          </a:p>
        </p:txBody>
      </p:sp>
      <p:sp>
        <p:nvSpPr>
          <p:cNvPr id="40" name="">
            <a:extLst xmlns:a="http://schemas.openxmlformats.org/drawingml/2006/main">
              <a:ext uri="{FF2B5EF4-FFF2-40B4-BE49-F238E27FC236}">
                <a16:creationId xmlns:a16="http://schemas.microsoft.com/office/drawing/2014/main" id="{E893C707-451A-46A3-9844-9B6C4238B3A4}"/>
              </a:ext>
            </a:extLst>
          </p:cNvPr>
          <p:cNvSpPr>
            <a:spLocks xmlns:a="http://schemas.openxmlformats.org/drawingml/2006/main" noGrp="1"/>
          </p:cNvSpPr>
          <p:nvPr/>
        </p:nvSpPr>
        <p:spPr>
          <a:xfrm xmlns:a="http://schemas.openxmlformats.org/drawingml/2006/main">
            <a:off x="9982200" y="605790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Updated June 25, 2026</a:t>
            </a:r>
          </a:p>
        </p:txBody>
      </p:sp>
    </p:spTree>
    <p:extLst>
      <p:ext uri="{BB962C8B-B14F-4D97-AF65-F5344CB8AC3E}">
        <p14:creationId xmlns:p14="http://schemas.microsoft.com/office/powerpoint/2010/main" val="10761275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2026-06-25T03:18:53.1840000Z</dcterms:created>
  <dcterms:modified xsi:type="dcterms:W3CDTF">2026-06-25T03:18:53.1840000Z</dcterms:modified>
</coreProperties>
</file>