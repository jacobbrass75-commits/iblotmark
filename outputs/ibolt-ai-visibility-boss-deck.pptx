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371754a3b940f5" /><Relationship Type="http://schemas.openxmlformats.org/officeDocument/2006/relationships/extended-properties" Target="/docProps/app.xml" Id="R25de1c8a9a3548de" /><Relationship Type="http://schemas.openxmlformats.org/officeDocument/2006/relationships/officeDocument" Target="/ppt/presentation.xml" Id="R324eecfe7bcb44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f4184aaa834340"/>
  </p:sldMasterIdLst>
  <p:notesMasterIdLst>
    <p:notesMasterId xmlns:r="http://schemas.openxmlformats.org/officeDocument/2006/relationships" r:id="Rbe0d7dda92e74724"/>
  </p:notesMasterIdLst>
  <p:sldIdLst>
    <p:sldId xmlns:r="http://schemas.openxmlformats.org/officeDocument/2006/relationships" id="256" r:id="Rcd3e9ad16dd541b5"/>
    <p:sldId xmlns:r="http://schemas.openxmlformats.org/officeDocument/2006/relationships" id="257" r:id="R66984e1c60f241d6"/>
    <p:sldId xmlns:r="http://schemas.openxmlformats.org/officeDocument/2006/relationships" id="258" r:id="Rbe683d3788f0476b"/>
    <p:sldId xmlns:r="http://schemas.openxmlformats.org/officeDocument/2006/relationships" id="259" r:id="R8358507797874f2f"/>
    <p:sldId xmlns:r="http://schemas.openxmlformats.org/officeDocument/2006/relationships" id="260" r:id="Rab62717d41304887"/>
    <p:sldId xmlns:r="http://schemas.openxmlformats.org/officeDocument/2006/relationships" id="261" r:id="Rf12bf6d83ffa4155"/>
    <p:sldId xmlns:r="http://schemas.openxmlformats.org/officeDocument/2006/relationships" id="262" r:id="Ra1f8593e94884599"/>
    <p:sldId xmlns:r="http://schemas.openxmlformats.org/officeDocument/2006/relationships" id="263" r:id="Rf27c53af831e4a65"/>
    <p:sldId xmlns:r="http://schemas.openxmlformats.org/officeDocument/2006/relationships" id="264" r:id="Rfe33911d67234bd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2557e20b3e4ad2" /><Relationship Type="http://schemas.openxmlformats.org/officeDocument/2006/relationships/slideMaster" Target="/ppt/slideMasters/slideMaster1.xml" Id="Rc4f4184aaa834340" /><Relationship Type="http://schemas.openxmlformats.org/officeDocument/2006/relationships/notesMaster" Target="/ppt/notesMasters/notesMaster1.xml" Id="Rbe0d7dda92e74724" /><Relationship Type="http://schemas.openxmlformats.org/officeDocument/2006/relationships/presProps" Target="/ppt/presProps.xml" Id="R6f391520bf85448a" /><Relationship Type="http://schemas.openxmlformats.org/officeDocument/2006/relationships/tableStyles" Target="/ppt/tableStyles.xml" Id="R323a72da76aa4cac" /><Relationship Type="http://schemas.openxmlformats.org/officeDocument/2006/relationships/slide" Target="/ppt/slides/slide1.xml" Id="Rcd3e9ad16dd541b5" /><Relationship Type="http://schemas.openxmlformats.org/officeDocument/2006/relationships/slide" Target="/ppt/slides/slide2.xml" Id="R66984e1c60f241d6" /><Relationship Type="http://schemas.openxmlformats.org/officeDocument/2006/relationships/slide" Target="/ppt/slides/slide3.xml" Id="Rbe683d3788f0476b" /><Relationship Type="http://schemas.openxmlformats.org/officeDocument/2006/relationships/slide" Target="/ppt/slides/slide4.xml" Id="R8358507797874f2f" /><Relationship Type="http://schemas.openxmlformats.org/officeDocument/2006/relationships/slide" Target="/ppt/slides/slide5.xml" Id="Rab62717d41304887" /><Relationship Type="http://schemas.openxmlformats.org/officeDocument/2006/relationships/slide" Target="/ppt/slides/slide6.xml" Id="Rf12bf6d83ffa4155" /><Relationship Type="http://schemas.openxmlformats.org/officeDocument/2006/relationships/slide" Target="/ppt/slides/slide7.xml" Id="Ra1f8593e94884599" /><Relationship Type="http://schemas.openxmlformats.org/officeDocument/2006/relationships/slide" Target="/ppt/slides/slide8.xml" Id="Rf27c53af831e4a65" /><Relationship Type="http://schemas.openxmlformats.org/officeDocument/2006/relationships/slide" Target="/ppt/slides/slide9.xml" Id="Rfe33911d67234b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cf1422600545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006a68d52747b1" /><Relationship Type="http://schemas.openxmlformats.org/officeDocument/2006/relationships/notesMaster" Target="/ppt/notesMasters/notesMaster1.xml" Id="Rdf44c693a8ab46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f1dfa858b94614" /><Relationship Type="http://schemas.openxmlformats.org/officeDocument/2006/relationships/notesMaster" Target="/ppt/notesMasters/notesMaster1.xml" Id="Ref48a62c331448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19455f113f43ef" /><Relationship Type="http://schemas.openxmlformats.org/officeDocument/2006/relationships/notesMaster" Target="/ppt/notesMasters/notesMaster1.xml" Id="Re237078ca65f41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0eb5c033124928" /><Relationship Type="http://schemas.openxmlformats.org/officeDocument/2006/relationships/notesMaster" Target="/ppt/notesMasters/notesMaster1.xml" Id="Rea9398c05fb747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4ff0adaa144475" /><Relationship Type="http://schemas.openxmlformats.org/officeDocument/2006/relationships/notesMaster" Target="/ppt/notesMasters/notesMaster1.xml" Id="Rf0086bf566f444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f37b043bcf4ea1" /><Relationship Type="http://schemas.openxmlformats.org/officeDocument/2006/relationships/notesMaster" Target="/ppt/notesMasters/notesMaster1.xml" Id="R7750d564653f47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5c5e86753b4faa" /><Relationship Type="http://schemas.openxmlformats.org/officeDocument/2006/relationships/notesMaster" Target="/ppt/notesMasters/notesMaster1.xml" Id="Rde5b9aa4d1e94c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ef8c2bb4a340d5" /><Relationship Type="http://schemas.openxmlformats.org/officeDocument/2006/relationships/notesMaster" Target="/ppt/notesMasters/notesMaster1.xml" Id="R27f5323372ac44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4d50f2b2a94764" /><Relationship Type="http://schemas.openxmlformats.org/officeDocument/2006/relationships/notesMaster" Target="/ppt/notesMasters/notesMaster1.xml" Id="Rb53708abaec346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c5e4c9d694f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ecc8f2388d49dd" /><Relationship Type="http://schemas.openxmlformats.org/officeDocument/2006/relationships/slideLayout" Target="/ppt/slideLayouts/slideLayout1.xml" Id="R933b105fd3584d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3b105fd3584d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11589ae4f4cea" /><Relationship Type="http://schemas.openxmlformats.org/officeDocument/2006/relationships/notesSlide" Target="/ppt/notesSlides/notesSlide1.xml" Id="Re6734dbc086c4c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2d1339be54a71" /><Relationship Type="http://schemas.openxmlformats.org/officeDocument/2006/relationships/chart" Target="/ppt/slides/charts/chart1.xml" Id="R1f6562bae64f41e2" /><Relationship Type="http://schemas.openxmlformats.org/officeDocument/2006/relationships/notesSlide" Target="/ppt/notesSlides/notesSlide2.xml" Id="R77a2112e4f114a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4ec42a6f84de0" /><Relationship Type="http://schemas.openxmlformats.org/officeDocument/2006/relationships/chart" Target="/ppt/slides/charts/chart2.xml" Id="R44dc8f9e2d8746c6" /><Relationship Type="http://schemas.openxmlformats.org/officeDocument/2006/relationships/notesSlide" Target="/ppt/notesSlides/notesSlide3.xml" Id="R3c4ef92a5aa444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ddbf34df74f7e" /><Relationship Type="http://schemas.openxmlformats.org/officeDocument/2006/relationships/chart" Target="/ppt/slides/charts/chart3.xml" Id="Rbc753b92720d4579" /><Relationship Type="http://schemas.openxmlformats.org/officeDocument/2006/relationships/notesSlide" Target="/ppt/notesSlides/notesSlide4.xml" Id="R7b88a408813b4a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77d52b0164574" /><Relationship Type="http://schemas.openxmlformats.org/officeDocument/2006/relationships/chart" Target="/ppt/slides/charts/chart4.xml" Id="R220b12a9fff94877" /><Relationship Type="http://schemas.openxmlformats.org/officeDocument/2006/relationships/notesSlide" Target="/ppt/notesSlides/notesSlide5.xml" Id="R60b20e7444ee4d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4768829534660" /><Relationship Type="http://schemas.openxmlformats.org/officeDocument/2006/relationships/notesSlide" Target="/ppt/notesSlides/notesSlide6.xml" Id="Rd1c3755f1e774c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70ffa634745a9" /><Relationship Type="http://schemas.openxmlformats.org/officeDocument/2006/relationships/notesSlide" Target="/ppt/notesSlides/notesSlide7.xml" Id="R35e20734f4bf40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4fc5f0af74914" /><Relationship Type="http://schemas.openxmlformats.org/officeDocument/2006/relationships/chart" Target="/ppt/slides/charts/chart5.xml" Id="R3a1c5521c1d84161" /><Relationship Type="http://schemas.openxmlformats.org/officeDocument/2006/relationships/notesSlide" Target="/ppt/notesSlides/notesSlide8.xml" Id="Rc6d334fb74204c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25080fc8f40bc" /><Relationship Type="http://schemas.openxmlformats.org/officeDocument/2006/relationships/notesSlide" Target="/ppt/notesSlides/notesSlide9.xml" Id="Refa1cbf6fafc41fb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94A3B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Mention</c:v>
              </c:pt>
              <c:pt idx="1">
                <c:v>Top-3</c:v>
              </c:pt>
              <c:pt idx="2">
                <c:v>Citation</c:v>
              </c:pt>
              <c:pt idx="3">
                <c:v>Competitor-only</c:v>
              </c:pt>
            </c:strLit>
          </c:cat>
          <c:val>
            <c:numLit>
              <c:formatCode>General</c:formatCode>
              <c:ptCount val="4"/>
              <c:pt idx="0">
                <c:v>24</c:v>
              </c:pt>
              <c:pt idx="1">
                <c:v>16</c:v>
              </c:pt>
              <c:pt idx="2">
                <c:v>0</c:v>
              </c:pt>
              <c:pt idx="3">
                <c:v>73</c:v>
              </c:pt>
            </c:numLit>
          </c:val>
        </c:ser>
        <c:ser>
          <c:idx val="1"/>
          <c:order val="1"/>
          <c:tx>
            <c:v>Current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Mention</c:v>
              </c:pt>
              <c:pt idx="1">
                <c:v>Top-3</c:v>
              </c:pt>
              <c:pt idx="2">
                <c:v>Citation</c:v>
              </c:pt>
              <c:pt idx="3">
                <c:v>Competitor-only</c:v>
              </c:pt>
            </c:strLit>
          </c:cat>
          <c:val>
            <c:numLit>
              <c:formatCode>General</c:formatCode>
              <c:ptCount val="4"/>
              <c:pt idx="0">
                <c:v>40</c:v>
              </c:pt>
              <c:pt idx="1">
                <c:v>29</c:v>
              </c:pt>
              <c:pt idx="2">
                <c:v>0</c:v>
              </c:pt>
              <c:pt idx="3">
                <c:v>57</c:v>
              </c:pt>
            </c:numLit>
          </c:val>
        </c:ser>
        <c:ser>
          <c:idx val="2"/>
          <c:order val="2"/>
          <c:tx>
            <c:v>Target</c:v>
          </c:tx>
          <c:spPr>
            <a:solidFill xmlns:a="http://schemas.openxmlformats.org/drawingml/2006/main">
              <a:srgbClr val="F9731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Mention</c:v>
              </c:pt>
              <c:pt idx="1">
                <c:v>Top-3</c:v>
              </c:pt>
              <c:pt idx="2">
                <c:v>Citation</c:v>
              </c:pt>
              <c:pt idx="3">
                <c:v>Competitor-only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25</c:v>
              </c:pt>
              <c:pt idx="2">
                <c:v>8</c:v>
              </c:pt>
              <c:pt idx="3">
                <c:v>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18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34155"/>
              </a:solidFill>
            </a:defRPr>
          </a:pPr>
        </a:p>
      </c:txPr>
    </c:legend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grouping val="clustered"/>
        <c:varyColors val="0"/>
        <c:ser>
          <c:idx val="0"/>
          <c:order val="0"/>
          <c:tx>
            <c:v>Mention rate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claude</c:v>
              </c:pt>
              <c:pt idx="1">
                <c:v>chatgpt</c:v>
              </c:pt>
              <c:pt idx="2">
                <c:v>gemini</c:v>
              </c:pt>
            </c:strLit>
          </c:cat>
          <c:val>
            <c:numLit>
              <c:formatCode>General</c:formatCode>
              <c:ptCount val="3"/>
              <c:pt idx="0">
                <c:v>36</c:v>
              </c:pt>
              <c:pt idx="1">
                <c:v>43</c:v>
              </c:pt>
              <c:pt idx="2">
                <c:v>43</c:v>
              </c:pt>
            </c:numLit>
          </c:val>
        </c:ser>
        <c:ser>
          <c:idx val="1"/>
          <c:order val="1"/>
          <c:tx>
            <c:v>Top-3 rate</c:v>
          </c:tx>
          <c:spPr>
            <a:solidFill xmlns:a="http://schemas.openxmlformats.org/drawingml/2006/main">
              <a:srgbClr val="2563EB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claude</c:v>
              </c:pt>
              <c:pt idx="1">
                <c:v>chatgpt</c:v>
              </c:pt>
              <c:pt idx="2">
                <c:v>gemini</c:v>
              </c:pt>
            </c:strLit>
          </c:cat>
          <c:val>
            <c:numLit>
              <c:formatCode>General</c:formatCode>
              <c:ptCount val="3"/>
              <c:pt idx="0">
                <c:v>26</c:v>
              </c:pt>
              <c:pt idx="1">
                <c:v>35</c:v>
              </c:pt>
              <c:pt idx="2">
                <c:v>28</c:v>
              </c:pt>
            </c:numLit>
          </c:val>
        </c:ser>
        <c:ser>
          <c:idx val="2"/>
          <c:order val="2"/>
          <c:tx>
            <c:v>Competitor-only</c:v>
          </c:tx>
          <c:spPr>
            <a:solidFill xmlns:a="http://schemas.openxmlformats.org/drawingml/2006/main">
              <a:srgbClr val="B91C1C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claude</c:v>
              </c:pt>
              <c:pt idx="1">
                <c:v>chatgpt</c:v>
              </c:pt>
              <c:pt idx="2">
                <c:v>gemini</c:v>
              </c:pt>
            </c:strLit>
          </c:cat>
          <c:val>
            <c:numLit>
              <c:formatCode>General</c:formatCode>
              <c:ptCount val="3"/>
              <c:pt idx="0">
                <c:v>62</c:v>
              </c:pt>
              <c:pt idx="1">
                <c:v>55</c:v>
              </c:pt>
              <c:pt idx="2">
                <c:v>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18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34155"/>
              </a:solidFill>
            </a:defRPr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iBOLT mention rate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Product entity</c:v>
              </c:pt>
              <c:pt idx="1">
                <c:v>Competitor comparison</c:v>
              </c:pt>
              <c:pt idx="2">
                <c:v>Mapped existing prompt</c:v>
              </c:pt>
              <c:pt idx="3">
                <c:v>Page-title nonbranded</c:v>
              </c:pt>
              <c:pt idx="4">
                <c:v>Citation probe</c:v>
              </c:pt>
              <c:pt idx="5">
                <c:v>Buyer problem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100</c:v>
              </c:pt>
              <c:pt idx="2">
                <c:v>6</c:v>
              </c:pt>
              <c:pt idx="3">
                <c:v>3</c:v>
              </c:pt>
              <c:pt idx="4">
                <c:v>0</c:v>
              </c:pt>
              <c:pt idx="5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18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Competitor rows</c:v>
          </c:tx>
          <c:spPr>
            <a:solidFill xmlns:a="http://schemas.openxmlformats.org/drawingml/2006/main">
              <a:srgbClr val="B91C1C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RAM Mounts</c:v>
              </c:pt>
              <c:pt idx="1">
                <c:v>Arkon</c:v>
              </c:pt>
              <c:pt idx="2">
                <c:v>ProClip</c:v>
              </c:pt>
              <c:pt idx="3">
                <c:v>iOttie</c:v>
              </c:pt>
              <c:pt idx="4">
                <c:v>CTA Digital</c:v>
              </c:pt>
              <c:pt idx="5">
                <c:v>Havis</c:v>
              </c:pt>
              <c:pt idx="6">
                <c:v>Square</c:v>
              </c:pt>
              <c:pt idx="7">
                <c:v>Heckler</c:v>
              </c:pt>
            </c:strLit>
          </c:cat>
          <c:val>
            <c:numLit>
              <c:formatCode>General</c:formatCode>
              <c:ptCount val="8"/>
              <c:pt idx="0">
                <c:v>163</c:v>
              </c:pt>
              <c:pt idx="1">
                <c:v>42</c:v>
              </c:pt>
              <c:pt idx="2">
                <c:v>28</c:v>
              </c:pt>
              <c:pt idx="3">
                <c:v>28</c:v>
              </c:pt>
              <c:pt idx="4">
                <c:v>26</c:v>
              </c:pt>
              <c:pt idx="5">
                <c:v>20</c:v>
              </c:pt>
              <c:pt idx="6">
                <c:v>14</c:v>
              </c:pt>
              <c:pt idx="7">
                <c:v>14</c:v>
              </c:pt>
            </c:numLit>
          </c:val>
        </c:ser>
        <c:ser>
          <c:idx val="1"/>
          <c:order val="1"/>
          <c:tx>
            <c:v>Co-mentioned with iBOLT</c:v>
          </c:tx>
          <c:spPr>
            <a:solidFill xmlns:a="http://schemas.openxmlformats.org/drawingml/2006/main">
              <a:srgbClr val="0F766E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8"/>
              <c:pt idx="0">
                <c:v>RAM Mounts</c:v>
              </c:pt>
              <c:pt idx="1">
                <c:v>Arkon</c:v>
              </c:pt>
              <c:pt idx="2">
                <c:v>ProClip</c:v>
              </c:pt>
              <c:pt idx="3">
                <c:v>iOttie</c:v>
              </c:pt>
              <c:pt idx="4">
                <c:v>CTA Digital</c:v>
              </c:pt>
              <c:pt idx="5">
                <c:v>Havis</c:v>
              </c:pt>
              <c:pt idx="6">
                <c:v>Square</c:v>
              </c:pt>
              <c:pt idx="7">
                <c:v>Heckler</c:v>
              </c:pt>
            </c:strLit>
          </c:cat>
          <c:val>
            <c:numLit>
              <c:formatCode>General</c:formatCode>
              <c:ptCount val="8"/>
              <c:pt idx="0">
                <c:v>65</c:v>
              </c:pt>
              <c:pt idx="1">
                <c:v>14</c:v>
              </c:pt>
              <c:pt idx="2">
                <c:v>4</c:v>
              </c:pt>
              <c:pt idx="3">
                <c:v>4</c:v>
              </c:pt>
              <c:pt idx="4">
                <c:v>2</c:v>
              </c:pt>
              <c:pt idx="5">
                <c:v>1</c:v>
              </c:pt>
              <c:pt idx="6">
                <c:v>5</c:v>
              </c:pt>
              <c:pt idx="7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18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334155"/>
              </a:solidFill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Lost provider rows</c:v>
          </c:tx>
          <c:spPr>
            <a:solidFill xmlns:a="http://schemas.openxmlformats.org/drawingml/2006/main">
              <a:srgbClr val="F97316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fishing</c:v>
              </c:pt>
              <c:pt idx="1">
                <c:v>restaurant</c:v>
              </c:pt>
              <c:pt idx="2">
                <c:v>warehouse</c:v>
              </c:pt>
              <c:pt idx="3">
                <c:v>delivery</c:v>
              </c:pt>
              <c:pt idx="4">
                <c:v>fleet</c:v>
              </c:pt>
              <c:pt idx="5">
                <c:v>amps/modular</c:v>
              </c:pt>
            </c:strLit>
          </c:cat>
          <c:val>
            <c:numLit>
              <c:formatCode>General</c:formatCode>
              <c:ptCount val="6"/>
              <c:pt idx="0">
                <c:v>33</c:v>
              </c:pt>
              <c:pt idx="1">
                <c:v>25</c:v>
              </c:pt>
              <c:pt idx="2">
                <c:v>19</c:v>
              </c:pt>
              <c:pt idx="3">
                <c:v>18</c:v>
              </c:pt>
              <c:pt idx="4">
                <c:v>18</c:v>
              </c:pt>
              <c:pt idx="5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2182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334155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C37861-B2F0-43F9-A507-9BF4B9C2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C65F6-1E53-4F62-B8FD-BCB4BC3A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AB77D-C21B-4058-861E-98328BEF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66750"/>
            <a:ext cx="3429000" cy="3429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7E4A1-B4F3-4CE0-9F6D-C170D4BB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00025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>
              <a:alpha val="21961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1C556-5B36-4B40-B79F-65AE5BE5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iBOLT AI Visibility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900E8-4F73-4A6D-94AC-47EE0D94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5810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21826"/>
                </a:solidFill>
              </a:defRPr>
            </a:pPr>
            <a:r>
              <a:rPr sz="3750" b="1">
                <a:solidFill>
                  <a:srgbClr val="121826"/>
                </a:solidFill>
              </a:rPr>
              <a:t>Progress, risks, and the path to the next level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DE52B-E1EC-4137-ADC7-4C11416E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4155"/>
                </a:solidFill>
              </a:defRPr>
            </a:pPr>
            <a:r>
              <a:rPr sz="1575" b="0">
                <a:solidFill>
                  <a:srgbClr val="334155"/>
                </a:solidFill>
              </a:rPr>
              <a:t>A boss-ready readout of how iBOLT is showing up in AI-generated answers across ChatGPT, Claude, Gemini, and search-connected AI surfaces.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67FBD-103B-41DA-B6E3-15645881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7907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BE180-3DBB-47DB-9DA0-B262D8B2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B33F6-4406-4290-97D0-E130D602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Current mention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D0300-5883-4487-A92E-1034702D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40%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2E0F7-9136-4E27-85B8-406F1333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82 of 204 priority answers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EBCA9-960C-4028-93C6-72024C1F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91050"/>
            <a:ext cx="17907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5A231E-AEE0-488E-BE65-A4666EF0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9105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91654-D8A0-4A01-9FFD-63F8B547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Top-3 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0B77E3-76B9-421D-B884-CE3BFD0A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01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29%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AC0DA-ADF9-450B-97E9-A62ECB0F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673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60 top recommendation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C42369-07CB-4B41-9647-4E7F18CD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91050"/>
            <a:ext cx="17907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F4D624-6922-4DA1-BD5A-0B64A44E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91050"/>
            <a:ext cx="66675" cy="1181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76336-7188-4E08-9253-89B01B98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434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Citation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891D9-E77B-4728-8E97-897B5E5A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0101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07153-8A76-4489-ADC0-B913D0CC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6735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Main next-level 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CC954-D748-4EBE-8DD6-8CA501CE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June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C1E3B-CD3F-41A6-8303-CA637F7B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3911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</a:defRPr>
            </a:pPr>
            <a:r>
              <a:rPr sz="1275" b="0">
                <a:solidFill>
                  <a:srgbClr val="CBD5E1"/>
                </a:solidFill>
              </a:rPr>
              <a:t>Prepared from live benchmark outputs and Shopify article inventory</a:t>
            </a:r>
          </a:p>
        </p:txBody>
      </p:sp>
    </p:spTree>
    <p:extLst>
      <p:ext uri="{BB962C8B-B14F-4D97-AF65-F5344CB8AC3E}">
        <p14:creationId xmlns:p14="http://schemas.microsoft.com/office/powerpoint/2010/main" val="1795458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ECB517-09FC-4382-ABD3-55FBDF1D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AI VISIBILITY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8A5B2-5FE4-4ED4-A90F-27DD9F9B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</a:defRPr>
            </a:pPr>
            <a:r>
              <a:rPr sz="2700" b="1">
                <a:solidFill>
                  <a:srgbClr val="121826"/>
                </a:solidFill>
              </a:rPr>
              <a:t>What changed over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4441B-ED0C-4C07-BDDD-35D88F77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comparable OpenRouter panel moved in the right direction after the content work: more answers include iBOLT, more rank it top-3, and fewer answers are competitor-only. Citation is still the unsolved layer.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47700" y="2095500"/>
          <a:ext xmlns:a="http://schemas.openxmlformats.org/drawingml/2006/main" cx="6858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f6562bae64f41e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3C37D-AD23-477C-9798-C03088B2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38350"/>
            <a:ext cx="2857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F2030-3539-40A5-90FF-7EA6BB8C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3835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E0C38-2C9D-4A8C-947B-5AAC6441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OpenRouter mention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B28E5-26A7-4F11-9A96-2882B459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24% → 40%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78423-DF6F-45AD-897D-AE33008E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25336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+16 points on the priority retest.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3AAF0-5E65-48B4-8B65-8E0D0870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6600"/>
            <a:ext cx="2857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4447B-A36D-4F61-832F-EB67ED0D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660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B5265-F4CE-4578-85DD-B2F9E31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290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Top-3 recommendation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F9291-39BA-45B4-BB22-D910E9E5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9570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16% → 29%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557E2-EFEA-40CB-90BB-1004CEA3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25336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Now above the first target 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574D5-2B37-49A7-B5C3-747129CE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28575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3A55B-AB3C-47DE-A770-260EA893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0EB4C-45CC-493C-9831-4127D8C3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672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Competitor-only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C36932-F67E-467D-B0D3-A54ACE25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2533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73% → 57%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6EA15-72BA-4A85-9519-BF11C0B9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91150"/>
            <a:ext cx="25336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Still high, but materially lower.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7DDC4-8340-46EB-8DCB-D38A9558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</a:defRPr>
            </a:pPr>
            <a:r>
              <a:rPr sz="1013" b="0">
                <a:solidFill>
                  <a:srgbClr val="64748B"/>
                </a:solidFill>
              </a:rPr>
              <a:t>Note: May Google AI Mode had 59% mention and 63% citation, but it is search-connected. The OpenRouter panel is the clean apples-to-apples consumer model benchmark.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E73AB-B44B-405F-A77E-990009CD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E3B76-79B6-4912-9B5D-D3579CC0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Source: iBOLT benchmark reports and Shopify article inventory, June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2E35B-4782-4F8F-A4BA-4276CDEA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iBOLT AI Visibility</a:t>
            </a:r>
          </a:p>
        </p:txBody>
      </p:sp>
    </p:spTree>
    <p:extLst>
      <p:ext uri="{BB962C8B-B14F-4D97-AF65-F5344CB8AC3E}">
        <p14:creationId xmlns:p14="http://schemas.microsoft.com/office/powerpoint/2010/main" val="1161898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27BE0B-CD31-4BF5-BB27-9278C24E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AI VISIBILITY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8CB32-05BF-4AEE-B9C6-D9C822A0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</a:defRPr>
            </a:pPr>
            <a:r>
              <a:rPr sz="2700" b="1">
                <a:solidFill>
                  <a:srgbClr val="121826"/>
                </a:solidFill>
              </a:rPr>
              <a:t>Where the benchmark is strongest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63BD3-6908-452E-BD99-2A18B5DA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ChatGPT and Gemini now include iBOLT most often, but Claude remains the harshest judge. The plan should target Claude-style broad buyer answers because they expose the weakest entity signals.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42950" y="2095500"/>
          <a:ext xmlns:a="http://schemas.openxmlformats.org/drawingml/2006/main" cx="6667500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dc8f9e2d8746c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EE912-17F6-446B-AD35-CD2EDEFA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28765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C876C-98C2-4141-9017-E6A6C245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66675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6AF9A-FC8F-45DF-BBC8-1195AF1D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ChatGPT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621F0-F3A6-4863-AE20-B44924D8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955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826"/>
                </a:solidFill>
              </a:defRPr>
            </a:pPr>
            <a:r>
              <a:rPr sz="2250" b="1">
                <a:solidFill>
                  <a:srgbClr val="121826"/>
                </a:solidFill>
              </a:rPr>
              <a:t>43%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98BA1-67FE-475F-808E-1290CE69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050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mention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71608-4A71-4F74-9529-21F9AC28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955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35% top-3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D3CC6-5EFD-4A50-B84F-26CFEB76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28765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5B53B-B958-4AF4-B902-15616BFA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66675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4D1A3-0A49-462D-9D94-B9DA5C01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Gemini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A7917-63AD-4E15-847B-634581DB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576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826"/>
                </a:solidFill>
              </a:defRPr>
            </a:pPr>
            <a:r>
              <a:rPr sz="2250" b="1">
                <a:solidFill>
                  <a:srgbClr val="121826"/>
                </a:solidFill>
              </a:rPr>
              <a:t>43%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AE5C8-43C7-4F2E-87C1-BA985E13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671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mention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5FA05-B433-414B-B559-20B2749D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576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28% top-3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DC1B4-6882-4C61-965A-A93BDBD8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28765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96044-C37D-4A9D-975A-04746BE5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19600"/>
            <a:ext cx="66675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09A49-2E85-415C-A715-CAE6FC18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91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Claude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3764D-9777-4091-8B2F-3B34E59F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96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826"/>
                </a:solidFill>
              </a:defRPr>
            </a:pPr>
            <a:r>
              <a:rPr sz="2250" b="1">
                <a:solidFill>
                  <a:srgbClr val="121826"/>
                </a:solidFill>
              </a:rPr>
              <a:t>36%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8D7AD5-5125-494A-8178-A58A1B83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2917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mention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6A826E-E654-4E5E-B4EE-47D79CB9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196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biggest gap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8A9DC4-3210-4347-9181-CA2D7EAF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50ECFE-3099-4104-ABAD-A98D6AF7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Source: iBOLT benchmark reports and Shopify article inventory, June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0D0709-5EF5-46BE-8085-C9E0373D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iBOLT AI Visibility</a:t>
            </a:r>
          </a:p>
        </p:txBody>
      </p:sp>
    </p:spTree>
    <p:extLst>
      <p:ext uri="{BB962C8B-B14F-4D97-AF65-F5344CB8AC3E}">
        <p14:creationId xmlns:p14="http://schemas.microsoft.com/office/powerpoint/2010/main" val="1495904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2D5B80-A4F0-4CFD-B1C4-C558AC3D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AI VISIBILITY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CF696-2B23-41D8-BFA3-CDC2D579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</a:defRPr>
            </a:pPr>
            <a:r>
              <a:rPr sz="2700" b="1">
                <a:solidFill>
                  <a:srgbClr val="121826"/>
                </a:solidFill>
              </a:rPr>
              <a:t>The real split: branded prompts win, broad prompts 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DFA6F-052E-48CB-A6C4-7B246F1F6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33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AI already understands iBOLT when the brand or exact product is named. The next level is winning generic buyer questions before the user knows which brand to ask for.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66750" y="2019300"/>
          <a:ext xmlns:a="http://schemas.openxmlformats.org/drawingml/2006/main" cx="7239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753b92720d457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E5BB6-94BA-42C7-8868-6AAEC7FA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42FE4-B9E6-4584-BBBE-FFA6CE09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What is working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B42EFE-D3EA-49E7-918D-58C344D5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Product and head-to-head prompts. These prove the product story is credible when iBOLT enters the answer 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468E9-DD86-4EA2-BBAC-7F794566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76650"/>
            <a:ext cx="2857500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3ED1E-F397-4B3A-880E-54D31EA1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7316"/>
                </a:solidFill>
              </a:defRPr>
            </a:pPr>
            <a:r>
              <a:rPr sz="1500" b="1">
                <a:solidFill>
                  <a:srgbClr val="F97316"/>
                </a:solidFill>
              </a:rPr>
              <a:t>What must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87940-946D-4E92-B5BD-6AFAFDBA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Generic prompts like “best restaurant tablet mount” need answer-first pages, comparison blocks, and third-party proof.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082F6-338E-4FE3-B510-59841512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76256D-7B28-48C5-B581-9B6C4D6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Source: iBOLT benchmark reports and Shopify article inventory, June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4437E-D9DE-4CEE-83CE-18396964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iBOLT AI Visibility</a:t>
            </a:r>
          </a:p>
        </p:txBody>
      </p:sp>
    </p:spTree>
    <p:extLst>
      <p:ext uri="{BB962C8B-B14F-4D97-AF65-F5344CB8AC3E}">
        <p14:creationId xmlns:p14="http://schemas.microsoft.com/office/powerpoint/2010/main" val="454057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F4F286-9CBE-46E8-9F81-994ED9F8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AI VISIBILITY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F6BC0-2A45-4984-8764-B9CED74D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</a:defRPr>
            </a:pPr>
            <a:r>
              <a:rPr sz="2700" b="1">
                <a:solidFill>
                  <a:srgbClr val="121826"/>
                </a:solidFill>
              </a:rPr>
              <a:t>Who AI mentions instead of iBOLT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353BA-4318-4C24-842C-84AD5803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main competitive problem is not one rival. RAM is the default across categories, while Arkon, iOttie, ProClip, CTA Digital, Havis, Square, Heckler, and Mount-It win specific use cases.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42950" y="2038350"/>
          <a:ext xmlns:a="http://schemas.openxmlformats.org/drawingml/2006/main" cx="68580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0b12a9fff9487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D1686-7F8F-40E2-B55E-5F658EB4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2895600" cy="26860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02A84-94F1-4DEF-A1C4-5BA1F7F1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6"/>
                </a:solidFill>
              </a:defRPr>
            </a:pPr>
            <a:r>
              <a:rPr sz="1650" b="1">
                <a:solidFill>
                  <a:srgbClr val="121826"/>
                </a:solidFill>
              </a:rPr>
              <a:t>Counter-positioning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59683-AA89-431B-A674-D76C35E6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2479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RAM wins by category memory. iBOLT should win by specialist context: restaurant multi-tablet, forklift scanner/tablet, AMPS modularity, fleet/ELD, rugged commercial mounting.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C2572-1792-436C-8142-8508BC66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33875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Goal: become the specialist answer beside or ahead of RAM, not just another mount brand.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67DE3-4F79-4091-B992-D7DE8476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52974-B28A-48A3-A63D-1C7FE541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Source: iBOLT benchmark reports and Shopify article inventory, June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A57CB-6FBA-4C99-857A-6235734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iBOLT AI Visibility</a:t>
            </a:r>
          </a:p>
        </p:txBody>
      </p:sp>
    </p:spTree>
    <p:extLst>
      <p:ext uri="{BB962C8B-B14F-4D97-AF65-F5344CB8AC3E}">
        <p14:creationId xmlns:p14="http://schemas.microsoft.com/office/powerpoint/2010/main" val="127952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C44D8-5360-47A4-BF03-30CB1800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AI VISIBILITY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59592-A2CC-4D2A-AF1B-C9D7E5AE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</a:defRPr>
            </a:pPr>
            <a:r>
              <a:rPr sz="2700" b="1">
                <a:solidFill>
                  <a:srgbClr val="121826"/>
                </a:solidFill>
              </a:rPr>
              <a:t>The content engine is now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B646A-3B1D-4E79-B3CE-59648BB1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infrastructure is in place: a large published blog inventory, product links, cart links, images, and retest-ready article queues. Now the work shifts from volume to answer quality and source readiness.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75A42-9618-4551-8AB1-D7F385AD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304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0BD44E-3DB0-4455-8308-D66FDFB3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6667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84A1F-93C4-4C10-84F6-178FE704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Shopify articles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189B3-5CE3-4131-BD56-C09858DC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211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11B91-19DF-4493-A971-E57B6DAF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142 published, 69 draft/unpublished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3C37C-6F9A-40E1-AA86-F1DBC1C3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304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49E92-3B8C-4CB8-AD47-F8F7AD0E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6667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E400D-0F25-42D7-A4F5-93C5C66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050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Product links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AE234-8865-4E92-BFC6-DB57E47F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1,723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B274F-0D7F-44FC-9597-7184D9D0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Internal product pathing in articles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019E97-3636-4778-9C6A-CA977092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4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C402B-4D7D-4B91-B311-A7B72E99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6667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1C0AC-B1FE-40E9-92F7-9E56D0C5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Add-to-cart links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081031-7D82-48AA-9013-3AD5C78F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1,285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248D8-B22D-420F-A5FB-3F0A0983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Conversion path is embedded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68F49-EF33-4238-9579-788E4108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38550"/>
            <a:ext cx="304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9B3C6-904A-40AB-BA1A-972B3479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38550"/>
            <a:ext cx="6667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71AC0-1A14-453B-A8F8-20E11770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909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Images embedded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784F84-358F-423B-BC27-AF48370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576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</a:defRPr>
            </a:pPr>
            <a:r>
              <a:rPr sz="2400" b="1">
                <a:solidFill>
                  <a:srgbClr val="121826"/>
                </a:solidFill>
              </a:rPr>
              <a:t>783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CF07AB-3785-4E03-9C81-68593D41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2724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Article media footprint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11852-DE87-4A96-9BEF-8AB7A656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781300" cy="26098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3E73F-F922-44AA-9150-383DC62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93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826"/>
                </a:solidFill>
              </a:defRPr>
            </a:pPr>
            <a:r>
              <a:rPr sz="1575" b="1">
                <a:solidFill>
                  <a:srgbClr val="121826"/>
                </a:solidFill>
              </a:rPr>
              <a:t>Top live pages to sharpen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2619AC-A3FF-4A3F-AF5D-C7E99612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2479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334155"/>
                </a:solidFill>
              </a:defRPr>
            </a:pPr>
            <a:r>
              <a:rPr sz="1088" b="0">
                <a:solidFill>
                  <a:srgbClr val="334155"/>
                </a:solidFill>
              </a:rPr>
              <a:t>1. Best Restaurant Tablet Mount in 2026: POS Sta…</a:t>
            </a:r>
          </a:p>
          <a:p xmlns:a="http://schemas.openxmlformats.org/drawingml/2006/main">
            <a:pPr algn="l">
              <a:defRPr sz="1088" b="0">
                <a:solidFill>
                  <a:srgbClr val="334155"/>
                </a:solidFill>
              </a:defRPr>
            </a:pPr>
            <a:r>
              <a:rPr sz="1088" b="0">
                <a:solidFill>
                  <a:srgbClr val="334155"/>
                </a:solidFill>
              </a:rPr>
              <a:t>2. Best Phone Mount for Construction Vehicles an…</a:t>
            </a:r>
          </a:p>
          <a:p xmlns:a="http://schemas.openxmlformats.org/drawingml/2006/main">
            <a:pPr algn="l">
              <a:defRPr sz="1088" b="0">
                <a:solidFill>
                  <a:srgbClr val="334155"/>
                </a:solidFill>
              </a:defRPr>
            </a:pPr>
            <a:r>
              <a:rPr sz="1088" b="0">
                <a:solidFill>
                  <a:srgbClr val="334155"/>
                </a:solidFill>
              </a:rPr>
              <a:t>3. Best Garmin Fish Finder Mount: How to Choose …</a:t>
            </a:r>
          </a:p>
          <a:p xmlns:a="http://schemas.openxmlformats.org/drawingml/2006/main">
            <a:pPr algn="l">
              <a:defRPr sz="1088" b="0">
                <a:solidFill>
                  <a:srgbClr val="334155"/>
                </a:solidFill>
              </a:defRPr>
            </a:pPr>
            <a:r>
              <a:rPr sz="1088" b="0">
                <a:solidFill>
                  <a:srgbClr val="334155"/>
                </a:solidFill>
              </a:rPr>
              <a:t>4. Best Tablet Mount for Restaurant POS and Deli…</a:t>
            </a:r>
          </a:p>
          <a:p xmlns:a="http://schemas.openxmlformats.org/drawingml/2006/main">
            <a:pPr algn="l">
              <a:defRPr sz="1088" b="0">
                <a:solidFill>
                  <a:srgbClr val="334155"/>
                </a:solidFill>
              </a:defRPr>
            </a:pPr>
            <a:r>
              <a:rPr sz="1088" b="0">
                <a:solidFill>
                  <a:srgbClr val="334155"/>
                </a:solidFill>
              </a:rPr>
              <a:t>5. Best Phone Mount for Amazon Flex and Delivery…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EEA9D-0076-49F1-9797-EF892EAD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</a:defRPr>
            </a:pPr>
            <a:r>
              <a:rPr sz="1125" b="1">
                <a:solidFill>
                  <a:srgbClr val="0F766E"/>
                </a:solidFill>
              </a:rPr>
              <a:t>These pages already exist. The next step is answer-first edits, schema, and retesting.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23227-3D8C-4C44-9145-6C040C11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E86740-818D-44F5-B26C-98B271F1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Source: iBOLT benchmark reports and Shopify article inventory, June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582724-6CA1-4242-9FF9-868BF281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iBOLT AI Visibility</a:t>
            </a:r>
          </a:p>
        </p:txBody>
      </p:sp>
    </p:spTree>
    <p:extLst>
      <p:ext uri="{BB962C8B-B14F-4D97-AF65-F5344CB8AC3E}">
        <p14:creationId xmlns:p14="http://schemas.microsoft.com/office/powerpoint/2010/main" val="2050355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5A88A3-1729-49AF-AA47-EEF05096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AI VISIBILITY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BAB24-03DC-40FF-A3C1-7C72602B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</a:defRPr>
            </a:pPr>
            <a:r>
              <a:rPr sz="2700" b="1">
                <a:solidFill>
                  <a:srgbClr val="121826"/>
                </a:solidFill>
              </a:rPr>
              <a:t>How we get to the next level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D4321-E2B8-4A50-A16A-EAE74C9F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36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work should move in sequence. First win inclusion in broad prompts. Then make pages citation-ready. Then add external proof so search-connected AI has sources to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E7888-B407-43F7-8594-A2BFC636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362200" cy="24765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14140-3263-4100-A766-0ADE6762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F0A2B-F5C4-4A22-BD16-6F2783E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6FAD7-9291-428E-80DC-CBB1A035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6"/>
                </a:solidFill>
              </a:defRPr>
            </a:pPr>
            <a:r>
              <a:rPr sz="1650" b="1">
                <a:solidFill>
                  <a:srgbClr val="121826"/>
                </a:solidFill>
              </a:rPr>
              <a:t>Win inclusion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7099C-406E-4351-B059-54C84220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981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Rewrite priority pages around exact buyer questions, best-for recommendations, product modules, and competitor comparison blocks.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DDDCC-3451-447E-98D6-6C6E60D9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2362200" cy="24765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69EE6-2868-4D5E-B818-E7E9E57B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717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A10BB-5397-4011-BD8D-9B78AAFF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7B7F17-CCED-4167-9BB5-0C58A87A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766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6"/>
                </a:solidFill>
              </a:defRPr>
            </a:pPr>
            <a:r>
              <a:rPr sz="1650" b="1">
                <a:solidFill>
                  <a:srgbClr val="121826"/>
                </a:solidFill>
              </a:rPr>
              <a:t>Earn citations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C55F15-11CD-421E-8B24-AD2B399D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1981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Add FAQ, Article, Organization, Product/Offer, and HowTo schema. Make pages concise enough for AI to cite.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55CA3-218B-44F3-AA3B-6DD68E2B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2362200" cy="24765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B08E5-6097-4DC8-BA19-1C13BEDF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6A851-DA71-4811-B827-25880996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574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87B38-32C0-4090-9DEF-41E8F612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766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6"/>
                </a:solidFill>
              </a:defRPr>
            </a:pPr>
            <a:r>
              <a:rPr sz="1650" b="1">
                <a:solidFill>
                  <a:srgbClr val="121826"/>
                </a:solidFill>
              </a:rPr>
              <a:t>Build authority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289B4-97C0-4B0B-857C-A5E16B9F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1981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Have SEO contractor build third-party mentions around RAM, Arkon, iOttie, restaurant, fleet, warehouse, fishing, and AMPS.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DE5CC-BDD6-4F2D-97AA-39BF76CB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62200"/>
            <a:ext cx="2362200" cy="24765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54DED-2147-4C7E-82AF-B9C50EB7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E66E04-01F0-47DB-82DC-9924BFF1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574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19D8F-F4EE-4F57-BE63-DD75FD67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766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826"/>
                </a:solidFill>
              </a:defRPr>
            </a:pPr>
            <a:r>
              <a:rPr sz="1650" b="1">
                <a:solidFill>
                  <a:srgbClr val="121826"/>
                </a:solidFill>
              </a:rPr>
              <a:t>Retest monthly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B9400-EC2B-4837-AEF6-A4ADD011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33800"/>
            <a:ext cx="1981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34155"/>
                </a:solidFill>
              </a:defRPr>
            </a:pPr>
            <a:r>
              <a:rPr sz="1125" b="0">
                <a:solidFill>
                  <a:srgbClr val="334155"/>
                </a:solidFill>
              </a:rPr>
              <a:t>Track ChatGPT, Claude, Gemini, search-connected AI, and Shopify blog impact.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5C438-B3EF-4613-A887-4B70B291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1826"/>
                </a:solidFill>
              </a:defRPr>
            </a:pPr>
            <a:r>
              <a:rPr sz="1500" b="1">
                <a:solidFill>
                  <a:srgbClr val="121826"/>
                </a:solidFill>
              </a:rPr>
              <a:t>Next target: nonbranded mention rate from 3% to 15%, citation from 0% to 8%, while keeping top-3 above 25%.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9CC8E9-6F1B-4982-A373-46D74AF1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137B03-4A92-44C8-B9BB-794C2F5B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Source: iBOLT benchmark reports and Shopify article inventory, June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32558-32BE-4B8B-9A4D-7578C5E6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iBOLT AI Visibility</a:t>
            </a:r>
          </a:p>
        </p:txBody>
      </p:sp>
    </p:spTree>
    <p:extLst>
      <p:ext uri="{BB962C8B-B14F-4D97-AF65-F5344CB8AC3E}">
        <p14:creationId xmlns:p14="http://schemas.microsoft.com/office/powerpoint/2010/main" val="9003255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E246B4-8881-49F9-96D0-60C8C6EB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AI VISIBILITY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60AAA-70EC-463F-9DF9-484AB8A9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826"/>
                </a:solidFill>
              </a:defRPr>
            </a:pPr>
            <a:r>
              <a:rPr sz="2700" b="1">
                <a:solidFill>
                  <a:srgbClr val="121826"/>
                </a:solidFill>
              </a:rPr>
              <a:t>Prompt-loss recovery spec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F219B-1672-469B-83BE-C9041828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We can turn the benchmark misses into a workflow: every lost prompt becomes a tracked content task with a mapped page, a generated answer block, schema recommendations, and a retest result.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723900" y="2095500"/>
          <a:ext xmlns:a="http://schemas.openxmlformats.org/drawingml/2006/main" cx="5905500" cy="3124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1c5521c1d8416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51047-2870-45DD-9EC5-F56B28D5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3429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CA25D-1022-4570-B8B8-723FD396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D2F56-2B2C-4FFC-ACDD-9CB3313D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479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82545-7DEA-47C8-83DD-A27D3A12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6"/>
                </a:solidFill>
              </a:defRPr>
            </a:pPr>
            <a:r>
              <a:rPr sz="1425" b="1">
                <a:solidFill>
                  <a:srgbClr val="121826"/>
                </a:solidFill>
              </a:rPr>
              <a:t>Prompt loss inbox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1E05E-DAFD-4EBD-B2A1-1638B572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03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Group misses by category, provider, mapped page, and competitor set.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A9159-4C83-4388-8178-138738B8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19450"/>
            <a:ext cx="3429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F1965-D507-4A7C-80E7-4F58D4E8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480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CE019-AD9B-464C-B16E-605F7226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14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C3DFD-5024-43C0-B20E-2B9DEC4F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90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6"/>
                </a:solidFill>
              </a:defRPr>
            </a:pPr>
            <a:r>
              <a:rPr sz="1425" b="1">
                <a:solidFill>
                  <a:srgbClr val="121826"/>
                </a:solidFill>
              </a:rPr>
              <a:t>Answer-first patch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8F3E0-E29A-4456-B124-9632A3B8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67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Generate direct answer, best-for matrix, product module, and FAQ/schema.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DD9E1-E926-41B1-AFDF-181D119E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86250"/>
            <a:ext cx="34290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59EFC0-8D61-4100-8AAF-41BF7036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14850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BE712-92E7-47AB-846B-83221049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81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C2F1A-3188-4BA4-872F-A5579647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1826"/>
                </a:solidFill>
              </a:defRPr>
            </a:pPr>
            <a:r>
              <a:rPr sz="1425" b="1">
                <a:solidFill>
                  <a:srgbClr val="121826"/>
                </a:solidFill>
              </a:rPr>
              <a:t>Retest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D8C3C5-F70A-4474-971C-305000D8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339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Run the same prompts again and promote what lifts nonbranded mentions.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C7117-6683-43B3-8930-4498481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1826"/>
                </a:solidFill>
              </a:defRPr>
            </a:pPr>
            <a:r>
              <a:rPr sz="1350" b="1">
                <a:solidFill>
                  <a:srgbClr val="121826"/>
                </a:solidFill>
              </a:rPr>
              <a:t>Spec output: 122 absent-iBOLT benchmark rows converted into a workqueue and category recovery plan.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201EA-33AF-49DA-B520-0D3E7DEF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B8A26-81E1-48D5-9D4D-68077176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933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Source: generated prompt-loss recovery spec from the 204-row OpenRouter retest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EDEBE-155D-4D3C-A8AA-F01B0213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64748B"/>
                </a:solidFill>
              </a:defRPr>
            </a:pPr>
            <a:r>
              <a:rPr sz="788" b="0">
                <a:solidFill>
                  <a:srgbClr val="64748B"/>
                </a:solidFill>
              </a:rPr>
              <a:t>iBOLT AI Visibility</a:t>
            </a:r>
          </a:p>
        </p:txBody>
      </p:sp>
    </p:spTree>
    <p:extLst>
      <p:ext uri="{BB962C8B-B14F-4D97-AF65-F5344CB8AC3E}">
        <p14:creationId xmlns:p14="http://schemas.microsoft.com/office/powerpoint/2010/main" val="11019382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50737A-B008-4E36-B064-4A58A0D4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895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Decision: what we should do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CBC22-9167-432B-BB39-9F86DACD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</a:defRPr>
            </a:pPr>
            <a:r>
              <a:rPr sz="1500" b="0">
                <a:solidFill>
                  <a:srgbClr val="CBD5E1"/>
                </a:solidFill>
              </a:rPr>
              <a:t>Keep the blog engine focused on answer-market share, not generic content volume.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B25A1-931C-4FE5-ABF3-A3D1EC09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9810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3738-2D6F-46F1-BFBD-C513E5C1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EAD4"/>
                </a:solidFill>
              </a:defRPr>
            </a:pPr>
            <a:r>
              <a:rPr sz="1650" b="1">
                <a:solidFill>
                  <a:srgbClr val="5EEAD4"/>
                </a:solidFill>
              </a:rPr>
              <a:t>App/Jacob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9EDFE-22CE-4C4E-88AA-17C45212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Refresh the top priority pages, add schema, product modules, and comparison blocks, then rerun the same benchmark.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2AA02-6880-4FF1-9DCE-B72A5193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9810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B53EC-DF13-48AD-80DF-C11AA3EA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DBA74"/>
                </a:solidFill>
              </a:defRPr>
            </a:pPr>
            <a:r>
              <a:rPr sz="1650" b="1">
                <a:solidFill>
                  <a:srgbClr val="FDBA74"/>
                </a:solidFill>
              </a:rPr>
              <a:t>SEO contractor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9B61E-5527-481E-983A-B6BC700E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Build external proof: citations, mentions, backlinks, and category references around the competitor sets AI already trusts.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450B9-A060-4032-BF43-079B2F3B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98107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14902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96DB7-B854-4DE5-A7C4-046D0E6E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EAD4"/>
                </a:solidFill>
              </a:defRPr>
            </a:pPr>
            <a:r>
              <a:rPr sz="1650" b="1">
                <a:solidFill>
                  <a:srgbClr val="5EEAD4"/>
                </a:solidFill>
              </a:rPr>
              <a:t>Katie/team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679AB-A9E7-44C5-9264-3FA6B03A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339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Review the priority page queue and approve the first 30-day sprint: restaurant, delivery, forklift/warehouse, fleet, fishing, AMPS.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F6A2A-3DB8-4F86-99A0-7819F00C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C03B9-F4BF-4474-A595-10C9DD18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436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DE68A"/>
                </a:solidFill>
              </a:defRPr>
            </a:pPr>
            <a:r>
              <a:rPr sz="1425" b="1">
                <a:solidFill>
                  <a:srgbClr val="FDE68A"/>
                </a:solidFill>
              </a:rPr>
              <a:t>Bottom line: iBOLT is moving into the AI answer set. The next level is broad-prompt inclusion plus citation authority.</a:t>
            </a:r>
          </a:p>
        </p:txBody>
      </p:sp>
    </p:spTree>
    <p:extLst>
      <p:ext uri="{BB962C8B-B14F-4D97-AF65-F5344CB8AC3E}">
        <p14:creationId xmlns:p14="http://schemas.microsoft.com/office/powerpoint/2010/main" val="1788118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2026-06-22T03:10:13.9700000Z</dcterms:created>
  <dcterms:modified xsi:type="dcterms:W3CDTF">2026-06-22T03:10:13.9700000Z</dcterms:modified>
</coreProperties>
</file>