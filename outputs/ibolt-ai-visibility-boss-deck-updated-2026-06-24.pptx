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4ad96be3ba4531" /><Relationship Type="http://schemas.openxmlformats.org/officeDocument/2006/relationships/extended-properties" Target="/docProps/app.xml" Id="Rbec568fbdffc44fc" /><Relationship Type="http://schemas.openxmlformats.org/officeDocument/2006/relationships/officeDocument" Target="/ppt/presentation.xml" Id="Rd82132f930ab47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a1cbb90e014ceb"/>
  </p:sldMasterIdLst>
  <p:notesMasterIdLst>
    <p:notesMasterId xmlns:r="http://schemas.openxmlformats.org/officeDocument/2006/relationships" r:id="R0523ad0d741c4707"/>
  </p:notesMasterIdLst>
  <p:sldIdLst>
    <p:sldId xmlns:r="http://schemas.openxmlformats.org/officeDocument/2006/relationships" id="256" r:id="R47fd563df6904fb6"/>
    <p:sldId xmlns:r="http://schemas.openxmlformats.org/officeDocument/2006/relationships" id="257" r:id="R59a470c5493c4d76"/>
    <p:sldId xmlns:r="http://schemas.openxmlformats.org/officeDocument/2006/relationships" id="258" r:id="R0d069d8abbdd497e"/>
    <p:sldId xmlns:r="http://schemas.openxmlformats.org/officeDocument/2006/relationships" id="259" r:id="Rbf30dd147f27447f"/>
    <p:sldId xmlns:r="http://schemas.openxmlformats.org/officeDocument/2006/relationships" id="260" r:id="R5d74ac16f5d142e1"/>
    <p:sldId xmlns:r="http://schemas.openxmlformats.org/officeDocument/2006/relationships" id="261" r:id="R0f0b29ec57ea4a5c"/>
    <p:sldId xmlns:r="http://schemas.openxmlformats.org/officeDocument/2006/relationships" id="262" r:id="R8ac521eae9984b16"/>
    <p:sldId xmlns:r="http://schemas.openxmlformats.org/officeDocument/2006/relationships" id="263" r:id="R7c643aa8d5524453"/>
    <p:sldId xmlns:r="http://schemas.openxmlformats.org/officeDocument/2006/relationships" id="264" r:id="Rc426e4a2d50846bf"/>
    <p:sldId xmlns:r="http://schemas.openxmlformats.org/officeDocument/2006/relationships" id="265" r:id="R9d713062b64243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3c89f32564d26" /><Relationship Type="http://schemas.openxmlformats.org/officeDocument/2006/relationships/slideMaster" Target="/ppt/slideMasters/slideMaster1.xml" Id="Rf3a1cbb90e014ceb" /><Relationship Type="http://schemas.openxmlformats.org/officeDocument/2006/relationships/notesMaster" Target="/ppt/notesMasters/notesMaster1.xml" Id="R0523ad0d741c4707" /><Relationship Type="http://schemas.openxmlformats.org/officeDocument/2006/relationships/presProps" Target="/ppt/presProps.xml" Id="R77ce617305264e2c" /><Relationship Type="http://schemas.openxmlformats.org/officeDocument/2006/relationships/tableStyles" Target="/ppt/tableStyles.xml" Id="Rd13214bb38e24d4f" /><Relationship Type="http://schemas.openxmlformats.org/officeDocument/2006/relationships/slide" Target="/ppt/slides/slide1.xml" Id="R47fd563df6904fb6" /><Relationship Type="http://schemas.openxmlformats.org/officeDocument/2006/relationships/slide" Target="/ppt/slides/slide2.xml" Id="R59a470c5493c4d76" /><Relationship Type="http://schemas.openxmlformats.org/officeDocument/2006/relationships/slide" Target="/ppt/slides/slide3.xml" Id="R0d069d8abbdd497e" /><Relationship Type="http://schemas.openxmlformats.org/officeDocument/2006/relationships/slide" Target="/ppt/slides/slide4.xml" Id="Rbf30dd147f27447f" /><Relationship Type="http://schemas.openxmlformats.org/officeDocument/2006/relationships/slide" Target="/ppt/slides/slide5.xml" Id="R5d74ac16f5d142e1" /><Relationship Type="http://schemas.openxmlformats.org/officeDocument/2006/relationships/slide" Target="/ppt/slides/slide6.xml" Id="R0f0b29ec57ea4a5c" /><Relationship Type="http://schemas.openxmlformats.org/officeDocument/2006/relationships/slide" Target="/ppt/slides/slide7.xml" Id="R8ac521eae9984b16" /><Relationship Type="http://schemas.openxmlformats.org/officeDocument/2006/relationships/slide" Target="/ppt/slides/slide8.xml" Id="R7c643aa8d5524453" /><Relationship Type="http://schemas.openxmlformats.org/officeDocument/2006/relationships/slide" Target="/ppt/slides/slide9.xml" Id="Rc426e4a2d50846bf" /><Relationship Type="http://schemas.openxmlformats.org/officeDocument/2006/relationships/slide" Target="/ppt/slides/slide10.xml" Id="R9d713062b642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80c43a730044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5686821ad8459f" /><Relationship Type="http://schemas.openxmlformats.org/officeDocument/2006/relationships/notesMaster" Target="/ppt/notesMasters/notesMaster1.xml" Id="R2b29f4935c2247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cd527e334c4600" /><Relationship Type="http://schemas.openxmlformats.org/officeDocument/2006/relationships/notesMaster" Target="/ppt/notesMasters/notesMaster1.xml" Id="Raaf290c47b6b4d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5489e9b72c480b" /><Relationship Type="http://schemas.openxmlformats.org/officeDocument/2006/relationships/notesMaster" Target="/ppt/notesMasters/notesMaster1.xml" Id="R5d74aebf231143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213afccec54318" /><Relationship Type="http://schemas.openxmlformats.org/officeDocument/2006/relationships/notesMaster" Target="/ppt/notesMasters/notesMaster1.xml" Id="R35bdd589b2df4c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6893dbf22f4997" /><Relationship Type="http://schemas.openxmlformats.org/officeDocument/2006/relationships/notesMaster" Target="/ppt/notesMasters/notesMaster1.xml" Id="Rf22b6e2aaa354b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5b5b2c82c84a50" /><Relationship Type="http://schemas.openxmlformats.org/officeDocument/2006/relationships/notesMaster" Target="/ppt/notesMasters/notesMaster1.xml" Id="R569e482adfe742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4f726bbe004a22" /><Relationship Type="http://schemas.openxmlformats.org/officeDocument/2006/relationships/notesMaster" Target="/ppt/notesMasters/notesMaster1.xml" Id="R10ae79cb14b347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cdc3383f8a4a0e" /><Relationship Type="http://schemas.openxmlformats.org/officeDocument/2006/relationships/notesMaster" Target="/ppt/notesMasters/notesMaster1.xml" Id="R588f9bf1379844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715563e0ae4e88" /><Relationship Type="http://schemas.openxmlformats.org/officeDocument/2006/relationships/notesMaster" Target="/ppt/notesMasters/notesMaster1.xml" Id="R27423ca570bf4f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3191378c514c10" /><Relationship Type="http://schemas.openxmlformats.org/officeDocument/2006/relationships/notesMaster" Target="/ppt/notesMasters/notesMaster1.xml" Id="R3fb883236d7e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61c161ac9347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078ab744164eb3" /><Relationship Type="http://schemas.openxmlformats.org/officeDocument/2006/relationships/slideLayout" Target="/ppt/slideLayouts/slideLayout1.xml" Id="R3d66565882714c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66565882714c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4791b02954f6d" /><Relationship Type="http://schemas.openxmlformats.org/officeDocument/2006/relationships/notesSlide" Target="/ppt/notesSlides/notesSlide1.xml" Id="Re24291c63e52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8e280d3164a92" /><Relationship Type="http://schemas.openxmlformats.org/officeDocument/2006/relationships/notesSlide" Target="/ppt/notesSlides/notesSlide2.xml" Id="Rbbedd8cf6b784d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27ed9762341c8" /><Relationship Type="http://schemas.openxmlformats.org/officeDocument/2006/relationships/notesSlide" Target="/ppt/notesSlides/notesSlide3.xml" Id="Rb87d7119520740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01e2357114fe3" /><Relationship Type="http://schemas.openxmlformats.org/officeDocument/2006/relationships/notesSlide" Target="/ppt/notesSlides/notesSlide4.xml" Id="Redd728a4bba442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7869bd4e5444b" /><Relationship Type="http://schemas.openxmlformats.org/officeDocument/2006/relationships/notesSlide" Target="/ppt/notesSlides/notesSlide5.xml" Id="R673488a5a6b94c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f71c739b2499f" /><Relationship Type="http://schemas.openxmlformats.org/officeDocument/2006/relationships/notesSlide" Target="/ppt/notesSlides/notesSlide6.xml" Id="R121aae8998e44d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4555f2f94c63" /><Relationship Type="http://schemas.openxmlformats.org/officeDocument/2006/relationships/notesSlide" Target="/ppt/notesSlides/notesSlide7.xml" Id="Rf6673c7f637445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468b943fd4201" /><Relationship Type="http://schemas.openxmlformats.org/officeDocument/2006/relationships/notesSlide" Target="/ppt/notesSlides/notesSlide8.xml" Id="R3635f9282b2642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e9890ba9f4ca2" /><Relationship Type="http://schemas.openxmlformats.org/officeDocument/2006/relationships/notesSlide" Target="/ppt/notesSlides/notesSlide9.xml" Id="R3b55e44d3e9543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7bea9c8cd4dcd" /><Relationship Type="http://schemas.openxmlformats.org/officeDocument/2006/relationships/notesSlide" Target="/ppt/notesSlides/notesSlide10.xml" Id="R85ea486260cc4d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D2724-8078-4551-82D3-D32681BE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609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iBOLT AI Visibility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E2CE7-EFC3-4C2D-B7D8-7A03FEAC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Where we are now, where competitors get cited, and the next refresh/citation sprint.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636A6-CAB3-4373-922A-83E99142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14C8A-2008-4098-94CD-C99CB239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858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Boss-ready update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1C3CE-4A3E-468B-BB27-9443DBDF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0668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CBD5E1"/>
                </a:solidFill>
              </a:defRPr>
            </a:pPr>
            <a:r>
              <a:rPr sz="900" b="0">
                <a:solidFill>
                  <a:srgbClr val="CBD5E1"/>
                </a:solidFill>
              </a:rPr>
              <a:t>Benchmark + citations + content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F9603F-D400-4CF7-9CF3-0ED767AA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2846-6AC2-4C08-A407-11825B1A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8CB7A-95F5-4484-995C-C0669A2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48B67-FD33-460F-A36B-7A98AC4B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AI mention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FE06D-A169-44EF-90EA-A5D5058D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Expanded benchmark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CB1A0-014B-4E15-AFCA-A181248D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5DB84-CB3F-4DF4-8ED8-1063C973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11F50-715C-436C-A355-25CF860B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29%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569C3-D7FB-4AA4-AC6D-665C595A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670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Top-3 recommendation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6D5B9-AA41-446F-BA6B-C1DEC34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Still room to win buyer 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543B5-2172-4164-A72B-C1E07D3D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622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E181F-AD02-4D9A-A464-E0E290AF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3006F-2A91-4CAF-8290-6A4DD7B7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C2626"/>
                </a:solidFill>
              </a:defRPr>
            </a:pPr>
            <a:r>
              <a:rPr sz="2550" b="1">
                <a:solidFill>
                  <a:srgbClr val="DC2626"/>
                </a:solidFill>
              </a:rPr>
              <a:t>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8377E-B466-46EE-91DB-964B381F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Citation 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CFFAEB-8662-41B6-9E78-E2394B80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95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This is the next unlock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9393E-0CD1-4810-9474-35029468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95F66-31ED-4061-A178-16427D3D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622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87CF1-AEDD-4E34-A495-7867510E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098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211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47DA7-4654-42A2-A7C3-30757AB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Indexed content 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07226-7B92-44B6-8A6D-E75DEBB3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95650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Shopify articles in inventory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2498C1-3244-4B16-8100-80A243C8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382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2D842-98D4-4705-920B-C7DA6A41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The takeaway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A30CC-BD39-4469-AED1-3A109E88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The blog system has moved iBOLT from barely visible to regularly mentioned. The next level is not just more posts. It is source authority: third-party citations, stronger solution hubs, schema, and a recurring unanswered-question scanner.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F78A0A-9672-4663-BC97-C100A4C8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Internal benchmark + Shopify inventory snapshot; analytics metrics pending Shopify report access.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F36599-480D-49DB-8315-CF265EE0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1296734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62CBB5-60DF-4C35-9A23-2D966662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4D7CE-308F-42CC-A02A-BAAC1794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What changed over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EC5AB-B140-4E61-B5AB-B3776D9A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8D276-D63D-4266-8214-F993B89C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Benchmark movement shows that the content engine is working. The weak point is citations, not basic visibility.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1E7D7-D0AD-4F44-9871-7916310D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Mention 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D9A37-F388-4E7E-AF5F-253EE29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66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24%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458BE-660D-4B26-9F6F-1424EB11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0505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74473-7028-4D08-945D-F783A236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05050"/>
            <a:ext cx="278892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40EF3-9150-4D1F-974F-96995847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52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40%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B7D8E-5FBF-40AF-A426-10C8BDD2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9080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557F2-A78D-44C3-A920-FF41408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90800"/>
            <a:ext cx="464820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EED59-75F2-4CE5-BD55-134A79CF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Top-3 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2FF79-BE9F-463D-824C-0010BDA7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670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8B0896-DFE5-4B6C-AA1F-4DC23494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6D1A1-D8B1-4CA3-A89E-ADB67014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05150"/>
            <a:ext cx="185928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E1C22-EBA3-49AB-87A0-DCA581A2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29%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FBC2C-F68F-4D17-B9A5-37489388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89107F-0B50-4130-B31B-BC4513AA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90900"/>
            <a:ext cx="3369945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55362-24E7-44E3-945A-9B01E808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Competitor-only answers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53C45E-0F82-45B8-8B76-1685D4E3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73%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220FE-0506-49FD-82F1-1D7ABED8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0525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F12A5-3266-4793-A594-B579C7B8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05250"/>
            <a:ext cx="5301853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1524EB-85BE-4538-9311-31F7431F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52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57%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421384-85CE-401A-AD17-D204C501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9100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4CC9E-DC9C-4109-82EB-167981B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91000"/>
            <a:ext cx="4139803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1CB3E8-C282-4F9E-AD90-6FEB7650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Citation 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9606B-AF72-4709-A0A8-21695335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672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C4B312-81BF-44FC-9BB6-63F9BD3A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C1F7F7-8FE2-49E8-BDFB-CE4322AE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19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5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F2094A-1EF5-411D-A7FB-C3190686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53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DC2626"/>
                </a:solidFill>
              </a:defRPr>
            </a:pPr>
            <a:r>
              <a:rPr sz="900" b="1">
                <a:solidFill>
                  <a:srgbClr val="DC2626"/>
                </a:solidFill>
              </a:rPr>
              <a:t>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3896B-E17D-42F1-8E0E-514406B0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91100"/>
            <a:ext cx="581025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400E60-0B30-4948-B292-A0A2528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91100"/>
            <a:ext cx="190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F84C55-63D6-430D-9995-62319A6D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479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169138-155A-4062-AD5B-CC801601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Reading the chart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71702-C749-4FD4-81A5-C5AA8E63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571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More AI answers now know iBOLT.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More answers place iBOLT in the recommendation set.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Competitor-only answers are down, but still high.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Citation remains the measurable gap to attack next.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15A502-E1E7-4532-9341-06E9E4AB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Sources: internal OpenRouter benchmark history and expanded benchmark pack.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F14F59-116B-4F50-9BF7-F211CF0F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1571356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C80FD-25EA-4242-8658-0A88658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96ACF-1407-4096-950A-E5648CEC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Why citation rate matters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C7BD5-B64C-4BD8-9FA9-C7116DFB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37114-D7FB-4FAC-993C-70137BD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Google says normal SEO foundations still matter for AI features: indexed pages, helpful content, internal links, textual content, matching structured data, Merchant Center, and Search Console measurement.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1DCB1-36BA-4BD8-9DE9-943DE7B8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F8FE9-F630-48D7-9CD0-A4D9D0F8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80CAF-DCF5-455D-A40F-35FE96DB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Indexed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E0014-EF90-4335-B9AF-C898111A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Can be found and crawled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42418-82BD-4F0F-9E97-53A2313A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77F3F-7456-46F7-A21C-C93EC6B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64284-EDE3-49C3-ABFE-C63DD5C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71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3A961-CC24-45B1-B587-61F0FAFA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90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Structured product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1D7A2-B18F-4FD1-BC97-56B87BE8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861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Clarifies price, availability, 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936C9-C2B7-4E5C-90DB-82FB434B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19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51C61-5583-464A-9370-0EE77B3A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8130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FC748-FCA4-4BBB-B9AB-AABC8D07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58980-982D-4062-AB39-41DDC579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Third-party mentions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93EA7-E5C4-402B-AEBB-28835CC5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Gives external proof and co-citation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B5C7FF-3A0E-4BD9-A39E-BA7041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19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4748B"/>
                </a:solidFill>
              </a:defRPr>
            </a:pPr>
            <a:r>
              <a:rPr sz="19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CCDBD-905B-496A-8C62-8072EE6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8130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41337-3A86-4BDD-B0A8-3ADCD971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718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7A7FB7-DFFD-4C71-A7AE-4402C1E2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908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AI benchmark retest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24916-B13D-47AB-9D88-A3E4E3F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86150"/>
            <a:ext cx="1733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Measures mention, rank, citation, sales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B365A-5165-44A4-B7AF-C8E396E9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9525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1E2C8-A9F2-49FA-A65E-AD937D2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72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Practical meaning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E9EF11-5A8D-47C3-9889-74EEEBFF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05375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We should still publish and improve pages, but the big AEO/GEO test is whether trusted third-party surfaces start citing iBOLT for the same category language our pages use.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88794A-0D8A-45E0-88F4-A748A1AD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Sources: Google Search Central AI features guidance, Product structured data docs, Ahrefs AIO citation study.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2771C2-54D3-41EA-8913-99FA6B54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172715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9814E4-DC7C-4D81-BC6A-0B0662D2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D1EDA-8DE3-4139-90CF-CD807EDC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Where competitors currently get trusted/cited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AAB4E-A5B6-4F55-820B-61D9D71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13BA2-43C1-43CC-8C19-470B3DF4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572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A1839-F037-415B-B7EB-243378FE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Brand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6B2F6-4093-44F3-934C-1EE32BA9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47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Citation/source surfaces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BDD54-8F0F-4899-9095-B687F42C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47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Why AI can trust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6BA31-E8AA-49BB-AF96-EDE6B5CD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B9939-6C02-4128-96D4-7B6AA56F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D3F2B-A783-4314-B346-A233232D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288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Industry hubs, ELD, fishfinder, catalogs, case studies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7FD09E-6C75-4688-AFDA-212DA06E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288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Official taxonomy + compatibility depth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F23CC8-ADEB-4C71-88EC-CC70BD9A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8D3C4-E417-4F27-9FC4-B41F6628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Arkon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E487A-3A10-4137-9C06-FF4FB20E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AMPS explainer, POS, forklift, creator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00B89-1F80-4985-9897-A7E2ECDB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575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Owns educational AMPS language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ED984-144C-4315-BC19-25A5FC0F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1EDE0-EDCE-4D4B-91D6-8F02F9CE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ProClip/Havis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69761-062C-4142-82A3-1E67DC47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Fitment, fleet, rugged tablet/docking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E4DC8-3FDD-41C1-AA87-7632DD26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861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Commercial specificity and device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A9E5B-D68E-4FFA-829E-5ECBF665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14B0A-9453-4882-9A0B-73F80DE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iOttie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0D0285-BF1D-4AB0-8496-D8896700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148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Publisher reviews and best-phone-mount roundups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F0F7E5-AB8A-49B4-AFCF-19E8D845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1480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Third-party consumer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D7BF7-CBB1-4799-BBC7-44DE28E6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0DE54-8F93-4DF0-9BF1-C1D3FF34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YakAttack/Scotty/Garmin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136B9-5498-4804-B6C1-3857AF14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434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Marine compatibility, forums, YouTube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89716-BBF1-4245-BED5-E4107F09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743450"/>
            <a:ext cx="328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Fish finder and kayak/pontoon vocabulary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A06731-B00F-4F4E-BF00-101DAAA9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iBOLT play: match the official source coverage, then get external pages to repeat the same entity/category language.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F1F4A-633B-4699-A25C-3D96395A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Research packet: content-output/competitor-citation-research-2026-06-24/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92EC6E-2091-4275-AB6C-150817A9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12274957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17A1B8-58A6-4530-95E9-E316967A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9041C-F965-454A-81E3-3E41FA0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What competitors have that iBOLT should build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2FDD98-86C7-49D3-8953-74C153FF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D7180-81CF-49E1-B614-C5C64AE4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74831-50CB-4671-90AC-BB7D2813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Vertical solution hubs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CE503-80BD-4E93-AB13-C15555E8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Restaurant tablets, forklift tablets, ELD/fleet, marine fish finder, live streaming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5470A-1F80-4C9E-ADD5-EBD95D14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4839F-2785-4449-9912-CDDF9846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Compatibility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89F46-6A43-4D92-B1F9-0C62E819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Garmin, Lowrance, Humminbird, Zebra, Samsung Tab Active, iPad, delivery vans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C0E69-9795-411A-A1AD-F8FD7F11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69433-2BF6-4F48-B8A0-F99B7ED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29250"/>
            <a:ext cx="769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Shared KPI: more mentions and citations, fewer competitor-only answers, more assisted checkouts.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CDC4E-49E2-4F22-BFE6-DA50271A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Product, Offer, FAQ, Article, HowTo, Organization, Breadcrumb where appropriate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20660-0101-4EFA-99EE-E596D106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0BA1F-5434-4E91-A029-9845778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C2626"/>
                </a:solidFill>
              </a:defRPr>
            </a:pPr>
            <a:r>
              <a:rPr sz="1425" b="1">
                <a:solidFill>
                  <a:srgbClr val="DC2626"/>
                </a:solidFill>
              </a:rPr>
              <a:t>External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2B249-540E-43AB-98E6-4BDEFA34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Review roundups, trade publications, partner listings, reseller pages, marketplace 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5E101-A0B7-4D07-AC13-AEDAEE3C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A45C4B-2F31-4567-B2E1-1EFD7D86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862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Video transcripts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64383-C685-4B73-935D-25EE8F1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434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Install demos, comparison demos, real use-case walkthroughs with searchable 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505AA-B5EB-4DEE-A574-AD13A86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3143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4717E-DA15-4BD9-BBDA-677E8CCD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75569"/>
                </a:solidFill>
              </a:defRPr>
            </a:pPr>
            <a:r>
              <a:rPr sz="1425" b="1">
                <a:solidFill>
                  <a:srgbClr val="475569"/>
                </a:solidFill>
              </a:rPr>
              <a:t>Benchmark feedback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CA4612-09CB-4948-88B9-560C7438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4340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Every miss becomes a page refresh, new guide, or citation outreach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EF5B8-D27D-4EE2-95FC-0146D626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Source pattern inferred from competitor official pages, marketplaces, review sites, forums, and video surfaces.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330A3-113E-4296-B11F-AEC2D174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18413696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E04C32-1B70-419E-BB29-E39EC2F5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15E66-F10F-4856-A7CF-0BC268F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Current content baseline is now captured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62099-2208-4731-A259-75BAE868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FB294-AB1D-472E-A708-0F9B83B7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4E1C5-9234-4E68-8516-80786D59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0256A-62EC-45A5-A0B5-CA077245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304EA-7258-419C-B8B9-334C3FBA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Shopify articles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95231-6A78-43FE-B181-FB8183FB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Inventory snapshot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B5ED1-A115-4942-ABF6-0BE26C97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D11E3-C7D8-4CCF-902D-3A825E2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954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C3692-D950-41F8-8587-A92472B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431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59669"/>
                </a:solidFill>
              </a:defRPr>
            </a:pPr>
            <a:r>
              <a:rPr sz="2550" b="1">
                <a:solidFill>
                  <a:srgbClr val="059669"/>
                </a:solidFill>
              </a:rPr>
              <a:t>142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3198D-0C77-41E6-ACB2-89863CB8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03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Action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B1403-5C10-4015-AC0B-C5447A6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289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Pages in control sheet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3E112-03F5-415C-8FF9-5DA73BC1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54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16B3C-074D-43BB-9347-D85863AE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54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D724B-DF69-40D7-A492-3F928549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7706"/>
                </a:solidFill>
              </a:defRPr>
            </a:pPr>
            <a:r>
              <a:rPr sz="2550" b="1">
                <a:solidFill>
                  <a:srgbClr val="D97706"/>
                </a:solidFill>
              </a:rPr>
              <a:t>517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E01FD-AAF7-4869-865B-EEBE2A6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Weak questions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CDFD51-B809-4357-B8AB-4FE7E70A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289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Scanner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69175-C4E6-42CF-B82A-3FD1F17B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2190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6D285-9F41-4B8C-A9A9-1FA760D7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954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BC10F-8A92-499C-A7BA-201B44AF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891B2"/>
                </a:solidFill>
              </a:defRPr>
            </a:pPr>
            <a:r>
              <a:rPr sz="2550" b="1">
                <a:solidFill>
                  <a:srgbClr val="0891B2"/>
                </a:solidFill>
              </a:rPr>
              <a:t>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95103-22D5-430A-8065-1CD3804C7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003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Vertical groups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081CB-7FAF-4921-821A-2494A773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1771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4748B"/>
                </a:solidFill>
              </a:defRPr>
            </a:pPr>
            <a:r>
              <a:rPr sz="750" b="0">
                <a:solidFill>
                  <a:srgbClr val="64748B"/>
                </a:solidFill>
              </a:rPr>
              <a:t>Subject coverage rows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C3942-5ED7-4D45-990C-D153A15E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4876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B9F475-D319-4131-95C8-29E58BEA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Baseline file saved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DE8166-8912-4DEB-AA30-C5D995D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Article IDs and URLs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Product-link and add-to-cart counts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Image counts and body size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111827"/>
                </a:solidFill>
              </a:defRPr>
            </a:pPr>
            <a:r>
              <a:rPr sz="1125" b="0">
                <a:solidFill>
                  <a:srgbClr val="111827"/>
                </a:solidFill>
              </a:rPr>
              <a:t>- Known benchmark gaps and refresh priority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3E835D-3D19-4461-B6EA-999A6021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4876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24B268-9D13-40B3-A67B-76F89D9C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Shopify analytics 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3F1C4B-15C4-4DDD-B656-8B3067D0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11827"/>
                </a:solidFill>
              </a:defRPr>
            </a:pPr>
            <a:r>
              <a:rPr sz="1050" b="0">
                <a:solidFill>
                  <a:srgbClr val="111827"/>
                </a:solidFill>
              </a:rPr>
              <a:t>The in-app browser reached Shopify login, and the current API token does not expose read_reports. We can fill sessions, add-to-cart, checkout, and revenue once logged in or with a Shopify/GA4/GSC export.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28B1C5-2DE3-49B4-B4B4-32FB5914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Baseline: content-output/unanswered-question-scanner-2026-06-24/baseline-performance-snapshot.csv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53D87D-9864-438A-925E-5711EA78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3174155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66D7C3-CBF2-4A35-BF90-FF720FBC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68FA1-4436-4FFF-B7B7-51181A2E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Top 10 pages to refresh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B5A3E-85F0-4E10-AB70-B5C8392F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81C35-A1FF-40E8-8774-145D1F7F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1816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0AB9A-58DB-47FB-8F18-EDDEBE8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19250"/>
            <a:ext cx="51816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F658-153D-4E5A-8C4D-B9C25E75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Highest current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23EF9-0CD0-4895-B5BB-947B90CA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419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- 1. Restaurant Tablet Mount 2026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- 2. Construction Vehicles and Work Trucks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- 3. Garmin Fish Finder Mount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- 4. Tablet Mount for Restaurant POS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- 5. Locking Tablet Stand for Food Trucks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70E65-971D-4C6D-8DA3-9408C132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Next 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0F280-0108-446C-A76A-371386CD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4196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- 6. Amazon Flex and Delivery Vans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- 7. Commercial-Grade Delivery Mounts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- 8. Locking Phone Mount for Shared Vehicles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- 9. Instacart and Grocery Delivery Drivers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- 10. Fish Finder Mount for Pontoon Rails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70424-83D4-4D2C-B875-F69A9BC3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F6F14-1F06-4EB8-B96A-D490451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14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59669"/>
                </a:solidFill>
              </a:defRPr>
            </a:pPr>
            <a:r>
              <a:rPr sz="1275" b="1">
                <a:solidFill>
                  <a:srgbClr val="059669"/>
                </a:solidFill>
              </a:rPr>
              <a:t>Refresh recipe: quick-answer block near the top, comparison table, product fit table, FAQ schema, cleaner CTA density, internal links, and one citation/outreach target per page.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ECDE5-10AE-487C-9A6C-E6C56CF5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Top 10 from unanswered-question scanner and blog action control sheet.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5856D-7816-449D-A5EF-4EEB098A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2024543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929BC-CD41-4528-A04B-93A0089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6A5CB-BE20-444D-97F1-BF5A5FC6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Unanswered-question scanner is now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578EA-0827-4DC1-9F20-3EC7A146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F5581-86F0-48F8-B911-4558B38D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905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BF64E-FD3F-4566-BCA0-6892D2C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Benchmark misses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8158-CFA3-4C1C-BE89-20F02C36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Prompts where iBOLT is absent, weak, or uncited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02352-ADCB-4C71-95DA-D564CC07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05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19A6B-DD14-4238-8F51-8AA8ADDC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905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AA81B-105E-42E2-894D-7A7070E8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</a:rPr>
              <a:t>Buyer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62E00-78AC-488E-8468-8AB80561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New enriched questions and product wording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30AB3-6F97-40C7-88B7-1586F88F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05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6CC73-9235-4B1C-9331-7720ACEE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1905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1EE52-97EA-41C6-AFAF-944D1DAC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Inventory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3AC76-4DE8-4A9D-A534-EA8E8B69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14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Published article IDs, URLs, link counts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DB8D0-6F3C-4F7C-907D-C07576E0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8725A-F4E4-4974-9C0B-AC655A31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1905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41324-DA0E-4B40-8C8E-653103CD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Scored backlog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BCE1F-973B-4714-8609-BF0A37F5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Refresh, create, compare, or outreach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CE0A4-5F6E-4173-BA36-FC81FF06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24E60-A4E5-422E-9DF1-0FA46D31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1905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FCCBE-4763-4D2E-BF14-ABC5435A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Baseline 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95857-CD17-4594-AAB5-33C18F1D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56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A/B comparison before and after edits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FD961E-E7E6-4357-B1AC-ECC137AC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4381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78E0A-FDDB-475C-91B4-4A185516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Repeatable command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415EA-5868-4875-AC2F-DC242E94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npm run scan:unanswered-questions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B7962E-E0E5-42B2-AE35-E99A764D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00500"/>
            <a:ext cx="4381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35D465-0A49-49F3-B394-485923C4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7706"/>
                </a:solidFill>
              </a:defRPr>
            </a:pPr>
            <a:r>
              <a:rPr sz="1350" b="1">
                <a:solidFill>
                  <a:srgbClr val="D97706"/>
                </a:solidFill>
              </a:rPr>
              <a:t>Output folder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24FA83-1BEF-4D77-B55A-B7BC6C2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content-output/unanswered-question-scanner-2026-06-24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A3C096-37D6-40D3-ADAA-E689478F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Script added: scripts/build-unanswered-question-scanner.mjs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C2F6EB-7183-4924-B983-61F4081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871855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D8367-0705-461D-9225-1D2A79A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33EE0-F3A6-4920-9E64-BCA56DD6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How we coordinate with the SEO contractor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66DBD-5F2E-4ACF-BBB2-6A3E0B8A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54430-E483-4CCF-82F7-FF3147FA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067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A75A7-7712-4D49-BC3B-CE1C8454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iBOLT Mark / internal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28542-BB59-49CD-8F7B-8742E05F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Run benchmarks and scanner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Refresh pages and build new solution hubs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Add schema and product/entity links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Record baseline and retest results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Generate briefs for outreach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E53FF7-F6F2-472B-9B30-F2BABE5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76400"/>
            <a:ext cx="50673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2B3B1-65E6-4F17-A14E-42BD103D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SEO contractor / external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247BD-5099-4B42-B0D4-8EA54D2F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Pitch review and roundup placements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Secure trade/industry mentions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Build partner and reseller citations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Support backlinks to refreshed hubs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Report links earned and anchor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C1568-B791-4468-8EEA-4D48F568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57800"/>
            <a:ext cx="82677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BA1DF-3777-4CF9-866D-3250880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29250"/>
            <a:ext cx="773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Shared KPI: mentions + citations up, competitor-only answers down, assisted checkouts 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7296B-97F3-4262-ADAA-0C729A1B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Operating model based on benchmark misses, citation research, and contractor handoff needs.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03FF28-6A54-4C58-BC21-08004A44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161366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49E0A2-9BB8-420C-9D27-A631EAA5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IBOLT AI VISIBILITY PROGRAM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86A8B-4061-4435-B4C6-7E53A38F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Recommended 30/60/90 day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37A87-B52B-4D4B-8776-00ABA00F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DABA4-A703-4B63-9E3C-9ADCF2CE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8F00A-CB43-4126-924B-E02EE0AB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17C1D-94E9-42EC-ABCF-93D3A8C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Next 30 days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308FA-77E7-437C-8C6A-AFA69A00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Refresh top 10 pages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Launch scanner cadence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Fix analytics access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Build citation outreach 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7BBD0-5570-49EC-B1DF-FC1820C2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14500"/>
            <a:ext cx="33337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EC9FD-14B7-473B-B92D-B7A5390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145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5F753-1DBA-467D-ADAD-220B3BDC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Next 60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D4677-20A0-4632-8618-6B1ED03A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Publish missing solution hubs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Run paid/editorial citation test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Add compatibility pages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Retest benchmark every 2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13157-855B-46E3-A1FC-0EFF0FCA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337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93343-206A-46D8-9A30-932A02D1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1F8D2-0208-4E21-8650-D98D7C23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Next 90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353EB-505A-4EFB-80A4-6EF9B6C9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724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Scale winning verticals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Compare traffic/add-to-cart lift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Expand videos/transcripts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- Decide ongoing weekly publishing 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4805F-2EC9-4EEC-B221-8D837A1A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91150"/>
            <a:ext cx="9829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730BA-F7FA-4E2E-9F83-A52157D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553075"/>
            <a:ext cx="929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Decision asks: approve analytics access, approve the 10-page refresh sprint, and approve one controlled citation placement test by vertical.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62AF6B-76BD-4BA6-9937-C1921691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Plan ties content production, analytics, benchmark retesting, and external citation acquisition into one loop.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110AA-737C-4680-B984-877C76F6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34150"/>
            <a:ext cx="1600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64748B"/>
                </a:solidFill>
              </a:defRPr>
            </a:pPr>
            <a:r>
              <a:rPr sz="675" b="0">
                <a:solidFill>
                  <a:srgbClr val="64748B"/>
                </a:solidFill>
              </a:rPr>
              <a:t>Updated June 24, 2026</a:t>
            </a:r>
          </a:p>
        </p:txBody>
      </p:sp>
    </p:spTree>
    <p:extLst>
      <p:ext uri="{BB962C8B-B14F-4D97-AF65-F5344CB8AC3E}">
        <p14:creationId xmlns:p14="http://schemas.microsoft.com/office/powerpoint/2010/main" val="196882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2026-06-24T22:13:26.5270000Z</dcterms:created>
  <dcterms:modified xsi:type="dcterms:W3CDTF">2026-06-24T22:13:26.5270000Z</dcterms:modified>
</coreProperties>
</file>